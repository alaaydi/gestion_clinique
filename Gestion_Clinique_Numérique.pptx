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2" r:id="rId3"/>
    <p:sldId id="271"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7" d="100"/>
          <a:sy n="57" d="100"/>
        </p:scale>
        <p:origin x="70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6"/>
            <a:ext cx="14853920" cy="2048255"/>
          </a:xfrm>
          <a:prstGeom prst="rect">
            <a:avLst/>
          </a:prstGeom>
        </p:spPr>
        <p:txBody>
          <a:bodyPr wrap="square" lIns="0" tIns="0" rIns="0" bIns="0">
            <a:spAutoFit/>
          </a:bodyPr>
          <a:lstStyle>
            <a:lvl1pPr>
              <a:defRPr sz="5450" b="0" i="0">
                <a:solidFill>
                  <a:srgbClr val="1F6080"/>
                </a:solidFill>
                <a:latin typeface="Arial MT"/>
                <a:cs typeface="Arial MT"/>
              </a:defRPr>
            </a:lvl1pPr>
          </a:lstStyle>
          <a:p>
            <a:endParaRPr/>
          </a:p>
        </p:txBody>
      </p:sp>
      <p:sp>
        <p:nvSpPr>
          <p:cNvPr id="3" name="Holder 3"/>
          <p:cNvSpPr>
            <a:spLocks noGrp="1"/>
          </p:cNvSpPr>
          <p:nvPr>
            <p:ph type="subTitle" idx="4"/>
          </p:nvPr>
        </p:nvSpPr>
        <p:spPr>
          <a:xfrm>
            <a:off x="2621280" y="5462016"/>
            <a:ext cx="12232640" cy="2438400"/>
          </a:xfrm>
          <a:prstGeom prst="rect">
            <a:avLst/>
          </a:prstGeom>
        </p:spPr>
        <p:txBody>
          <a:bodyPr wrap="square" lIns="0" tIns="0" rIns="0" bIns="0">
            <a:spAutoFit/>
          </a:bodyPr>
          <a:lstStyle>
            <a:lvl1pPr>
              <a:defRPr sz="43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rgbClr val="1F6080"/>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43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739900" y="6400800"/>
            <a:ext cx="1028700" cy="1054100"/>
          </a:xfrm>
          <a:prstGeom prst="rect">
            <a:avLst/>
          </a:prstGeom>
        </p:spPr>
      </p:pic>
      <p:pic>
        <p:nvPicPr>
          <p:cNvPr id="17" name="bg object 17"/>
          <p:cNvPicPr/>
          <p:nvPr/>
        </p:nvPicPr>
        <p:blipFill>
          <a:blip r:embed="rId3" cstate="print"/>
          <a:stretch>
            <a:fillRect/>
          </a:stretch>
        </p:blipFill>
        <p:spPr>
          <a:xfrm>
            <a:off x="9423400" y="6400800"/>
            <a:ext cx="1028700" cy="1054100"/>
          </a:xfrm>
          <a:prstGeom prst="rect">
            <a:avLst/>
          </a:prstGeom>
        </p:spPr>
      </p:pic>
      <p:pic>
        <p:nvPicPr>
          <p:cNvPr id="18" name="bg object 18"/>
          <p:cNvPicPr/>
          <p:nvPr/>
        </p:nvPicPr>
        <p:blipFill>
          <a:blip r:embed="rId4" cstate="print"/>
          <a:stretch>
            <a:fillRect/>
          </a:stretch>
        </p:blipFill>
        <p:spPr>
          <a:xfrm>
            <a:off x="9410700" y="3060700"/>
            <a:ext cx="1041400" cy="1054100"/>
          </a:xfrm>
          <a:prstGeom prst="rect">
            <a:avLst/>
          </a:prstGeom>
        </p:spPr>
      </p:pic>
      <p:pic>
        <p:nvPicPr>
          <p:cNvPr id="19" name="bg object 19"/>
          <p:cNvPicPr/>
          <p:nvPr/>
        </p:nvPicPr>
        <p:blipFill>
          <a:blip r:embed="rId5" cstate="print"/>
          <a:stretch>
            <a:fillRect/>
          </a:stretch>
        </p:blipFill>
        <p:spPr>
          <a:xfrm>
            <a:off x="1727200" y="3111500"/>
            <a:ext cx="1041400" cy="977900"/>
          </a:xfrm>
          <a:prstGeom prst="rect">
            <a:avLst/>
          </a:prstGeom>
        </p:spPr>
      </p:pic>
      <p:sp>
        <p:nvSpPr>
          <p:cNvPr id="2" name="Holder 2"/>
          <p:cNvSpPr>
            <a:spLocks noGrp="1"/>
          </p:cNvSpPr>
          <p:nvPr>
            <p:ph type="title"/>
          </p:nvPr>
        </p:nvSpPr>
        <p:spPr/>
        <p:txBody>
          <a:bodyPr lIns="0" tIns="0" rIns="0" bIns="0"/>
          <a:lstStyle>
            <a:lvl1pPr>
              <a:defRPr sz="5450" b="0" i="0">
                <a:solidFill>
                  <a:srgbClr val="1F6080"/>
                </a:solidFill>
                <a:latin typeface="Arial MT"/>
                <a:cs typeface="Arial MT"/>
              </a:defRPr>
            </a:lvl1pPr>
          </a:lstStyle>
          <a:p>
            <a:endParaRPr/>
          </a:p>
        </p:txBody>
      </p:sp>
      <p:sp>
        <p:nvSpPr>
          <p:cNvPr id="3" name="Holder 3"/>
          <p:cNvSpPr>
            <a:spLocks noGrp="1"/>
          </p:cNvSpPr>
          <p:nvPr>
            <p:ph sz="half" idx="2"/>
          </p:nvPr>
        </p:nvSpPr>
        <p:spPr>
          <a:xfrm>
            <a:off x="873760" y="2243328"/>
            <a:ext cx="7601712"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99728" y="2243328"/>
            <a:ext cx="7601712"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rgbClr val="1F6080"/>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8905" y="493888"/>
            <a:ext cx="15508745" cy="1666663"/>
          </a:xfrm>
          <a:prstGeom prst="rect">
            <a:avLst/>
          </a:prstGeom>
        </p:spPr>
        <p:txBody>
          <a:bodyPr wrap="square" lIns="0" tIns="0" rIns="0" bIns="0">
            <a:spAutoFit/>
          </a:bodyPr>
          <a:lstStyle>
            <a:lvl1pPr>
              <a:defRPr sz="5450" b="0" i="0">
                <a:solidFill>
                  <a:srgbClr val="1F6080"/>
                </a:solidFill>
                <a:latin typeface="Arial MT"/>
                <a:cs typeface="Arial MT"/>
              </a:defRPr>
            </a:lvl1pPr>
          </a:lstStyle>
          <a:p>
            <a:endParaRPr/>
          </a:p>
        </p:txBody>
      </p:sp>
      <p:sp>
        <p:nvSpPr>
          <p:cNvPr id="3" name="Holder 3"/>
          <p:cNvSpPr>
            <a:spLocks noGrp="1"/>
          </p:cNvSpPr>
          <p:nvPr>
            <p:ph type="body" idx="1"/>
          </p:nvPr>
        </p:nvSpPr>
        <p:spPr>
          <a:xfrm>
            <a:off x="960293" y="2570554"/>
            <a:ext cx="8405495" cy="2101850"/>
          </a:xfrm>
          <a:prstGeom prst="rect">
            <a:avLst/>
          </a:prstGeom>
        </p:spPr>
        <p:txBody>
          <a:bodyPr wrap="square" lIns="0" tIns="0" rIns="0" bIns="0">
            <a:spAutoFit/>
          </a:bodyPr>
          <a:lstStyle>
            <a:lvl1pPr>
              <a:defRPr sz="43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5941568" y="9070848"/>
            <a:ext cx="5592064"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image" Target="../media/image19.jp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jp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 Id="rId6" Type="http://schemas.openxmlformats.org/officeDocument/2006/relationships/image" Target="../media/image45.jpg"/><Relationship Id="rId5" Type="http://schemas.openxmlformats.org/officeDocument/2006/relationships/image" Target="../media/image44.jpg"/><Relationship Id="rId4" Type="http://schemas.openxmlformats.org/officeDocument/2006/relationships/image" Target="../media/image4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7061200" y="571500"/>
            <a:ext cx="914400" cy="711200"/>
          </a:xfrm>
          <a:prstGeom prst="rect">
            <a:avLst/>
          </a:prstGeom>
        </p:spPr>
      </p:pic>
      <p:sp>
        <p:nvSpPr>
          <p:cNvPr id="6" name="object 6"/>
          <p:cNvSpPr txBox="1"/>
          <p:nvPr/>
        </p:nvSpPr>
        <p:spPr>
          <a:xfrm>
            <a:off x="8029765" y="286808"/>
            <a:ext cx="2397760" cy="1136650"/>
          </a:xfrm>
          <a:prstGeom prst="rect">
            <a:avLst/>
          </a:prstGeom>
        </p:spPr>
        <p:txBody>
          <a:bodyPr vert="horz" wrap="square" lIns="0" tIns="11430" rIns="0" bIns="0" rtlCol="0">
            <a:spAutoFit/>
          </a:bodyPr>
          <a:lstStyle/>
          <a:p>
            <a:pPr marL="12700">
              <a:lnSpc>
                <a:spcPct val="100000"/>
              </a:lnSpc>
              <a:spcBef>
                <a:spcPts val="90"/>
              </a:spcBef>
            </a:pPr>
            <a:r>
              <a:rPr sz="7300" spc="-10" dirty="0" err="1">
                <a:solidFill>
                  <a:srgbClr val="1F384F"/>
                </a:solidFill>
                <a:latin typeface="Calibri"/>
                <a:cs typeface="Calibri"/>
              </a:rPr>
              <a:t>iTe</a:t>
            </a:r>
            <a:r>
              <a:rPr lang="fr-FR" sz="7300" spc="-10" dirty="0">
                <a:solidFill>
                  <a:srgbClr val="1F384F"/>
                </a:solidFill>
                <a:latin typeface="Calibri"/>
                <a:cs typeface="Calibri"/>
              </a:rPr>
              <a:t>a</a:t>
            </a:r>
            <a:r>
              <a:rPr sz="7300" spc="-10" dirty="0">
                <a:solidFill>
                  <a:srgbClr val="1F384F"/>
                </a:solidFill>
                <a:latin typeface="Calibri"/>
                <a:cs typeface="Calibri"/>
              </a:rPr>
              <a:t>m</a:t>
            </a:r>
            <a:endParaRPr sz="7300" dirty="0">
              <a:latin typeface="Calibri"/>
              <a:cs typeface="Calibri"/>
            </a:endParaRPr>
          </a:p>
        </p:txBody>
      </p:sp>
      <p:sp>
        <p:nvSpPr>
          <p:cNvPr id="7" name="object 7"/>
          <p:cNvSpPr txBox="1"/>
          <p:nvPr/>
        </p:nvSpPr>
        <p:spPr>
          <a:xfrm>
            <a:off x="7062297" y="1116541"/>
            <a:ext cx="3317875" cy="628650"/>
          </a:xfrm>
          <a:prstGeom prst="rect">
            <a:avLst/>
          </a:prstGeom>
        </p:spPr>
        <p:txBody>
          <a:bodyPr vert="horz" wrap="square" lIns="0" tIns="13335" rIns="0" bIns="0" rtlCol="0">
            <a:spAutoFit/>
          </a:bodyPr>
          <a:lstStyle/>
          <a:p>
            <a:pPr marL="12700">
              <a:lnSpc>
                <a:spcPct val="100000"/>
              </a:lnSpc>
              <a:spcBef>
                <a:spcPts val="105"/>
              </a:spcBef>
              <a:tabLst>
                <a:tab pos="998219" algn="l"/>
              </a:tabLst>
            </a:pPr>
            <a:r>
              <a:rPr sz="3950" dirty="0">
                <a:solidFill>
                  <a:srgbClr val="801C2D"/>
                </a:solidFill>
                <a:latin typeface="Calibri"/>
                <a:cs typeface="Calibri"/>
              </a:rPr>
              <a:t>	</a:t>
            </a:r>
            <a:r>
              <a:rPr sz="3950" spc="175" dirty="0">
                <a:solidFill>
                  <a:srgbClr val="4B131C"/>
                </a:solidFill>
                <a:latin typeface="Calibri"/>
                <a:cs typeface="Calibri"/>
              </a:rPr>
              <a:t>University</a:t>
            </a:r>
            <a:endParaRPr sz="3950" dirty="0">
              <a:latin typeface="Calibri"/>
              <a:cs typeface="Calibri"/>
            </a:endParaRPr>
          </a:p>
        </p:txBody>
      </p:sp>
      <p:sp>
        <p:nvSpPr>
          <p:cNvPr id="8" name="object 8"/>
          <p:cNvSpPr txBox="1"/>
          <p:nvPr/>
        </p:nvSpPr>
        <p:spPr>
          <a:xfrm>
            <a:off x="1482371" y="2385130"/>
            <a:ext cx="14392910" cy="3822700"/>
          </a:xfrm>
          <a:prstGeom prst="rect">
            <a:avLst/>
          </a:prstGeom>
        </p:spPr>
        <p:txBody>
          <a:bodyPr vert="horz" wrap="square" lIns="0" tIns="15240" rIns="0" bIns="0" rtlCol="0">
            <a:spAutoFit/>
          </a:bodyPr>
          <a:lstStyle/>
          <a:p>
            <a:pPr marL="31115" algn="ctr">
              <a:lnSpc>
                <a:spcPts val="8055"/>
              </a:lnSpc>
              <a:spcBef>
                <a:spcPts val="120"/>
              </a:spcBef>
            </a:pPr>
            <a:r>
              <a:rPr sz="7550" spc="-95" dirty="0">
                <a:latin typeface="Arial MT"/>
                <a:cs typeface="Arial MT"/>
              </a:rPr>
              <a:t>Gestion</a:t>
            </a:r>
            <a:r>
              <a:rPr sz="7550" spc="-430" dirty="0">
                <a:latin typeface="Arial MT"/>
                <a:cs typeface="Arial MT"/>
              </a:rPr>
              <a:t> </a:t>
            </a:r>
            <a:r>
              <a:rPr sz="7550" spc="-135" dirty="0">
                <a:latin typeface="Arial MT"/>
                <a:cs typeface="Arial MT"/>
              </a:rPr>
              <a:t>de</a:t>
            </a:r>
            <a:r>
              <a:rPr sz="7550" spc="-484" dirty="0">
                <a:latin typeface="Arial MT"/>
                <a:cs typeface="Arial MT"/>
              </a:rPr>
              <a:t> </a:t>
            </a:r>
            <a:r>
              <a:rPr sz="7550" spc="-85" dirty="0">
                <a:latin typeface="Arial MT"/>
                <a:cs typeface="Arial MT"/>
              </a:rPr>
              <a:t>Clinique</a:t>
            </a:r>
            <a:r>
              <a:rPr sz="7550" spc="-440" dirty="0">
                <a:latin typeface="Arial MT"/>
                <a:cs typeface="Arial MT"/>
              </a:rPr>
              <a:t> </a:t>
            </a:r>
            <a:r>
              <a:rPr sz="7550" spc="-40" dirty="0">
                <a:latin typeface="Arial MT"/>
                <a:cs typeface="Arial MT"/>
              </a:rPr>
              <a:t>Médicale</a:t>
            </a:r>
            <a:r>
              <a:rPr sz="7550" spc="-370" dirty="0">
                <a:latin typeface="Arial MT"/>
                <a:cs typeface="Arial MT"/>
              </a:rPr>
              <a:t> </a:t>
            </a:r>
            <a:r>
              <a:rPr sz="7550" i="1" spc="-600" dirty="0">
                <a:latin typeface="Arial"/>
                <a:cs typeface="Arial"/>
              </a:rPr>
              <a:t>:</a:t>
            </a:r>
            <a:endParaRPr sz="7550">
              <a:latin typeface="Arial"/>
              <a:cs typeface="Arial"/>
            </a:endParaRPr>
          </a:p>
          <a:p>
            <a:pPr algn="ctr">
              <a:lnSpc>
                <a:spcPts val="8535"/>
              </a:lnSpc>
            </a:pPr>
            <a:r>
              <a:rPr sz="7950" spc="-540" dirty="0">
                <a:latin typeface="Arial MT"/>
                <a:cs typeface="Arial MT"/>
              </a:rPr>
              <a:t>Une</a:t>
            </a:r>
            <a:r>
              <a:rPr sz="7950" spc="-305" dirty="0">
                <a:latin typeface="Arial MT"/>
                <a:cs typeface="Arial MT"/>
              </a:rPr>
              <a:t> </a:t>
            </a:r>
            <a:r>
              <a:rPr sz="7950" spc="-345" dirty="0">
                <a:latin typeface="Arial MT"/>
                <a:cs typeface="Arial MT"/>
              </a:rPr>
              <a:t>Approche</a:t>
            </a:r>
            <a:r>
              <a:rPr sz="7950" spc="-265" dirty="0">
                <a:latin typeface="Arial MT"/>
                <a:cs typeface="Arial MT"/>
              </a:rPr>
              <a:t> </a:t>
            </a:r>
            <a:r>
              <a:rPr sz="7950" spc="-395" dirty="0">
                <a:latin typeface="Arial MT"/>
                <a:cs typeface="Arial MT"/>
              </a:rPr>
              <a:t>Numérique</a:t>
            </a:r>
            <a:r>
              <a:rPr sz="7950" spc="-180" dirty="0">
                <a:latin typeface="Arial MT"/>
                <a:cs typeface="Arial MT"/>
              </a:rPr>
              <a:t> </a:t>
            </a:r>
            <a:r>
              <a:rPr sz="7950" spc="-275" dirty="0">
                <a:latin typeface="Arial MT"/>
                <a:cs typeface="Arial MT"/>
              </a:rPr>
              <a:t>Intégrée</a:t>
            </a:r>
            <a:endParaRPr sz="7950">
              <a:latin typeface="Arial MT"/>
              <a:cs typeface="Arial MT"/>
            </a:endParaRPr>
          </a:p>
          <a:p>
            <a:pPr marL="3039745" marR="2930525" algn="ctr">
              <a:lnSpc>
                <a:spcPts val="5200"/>
              </a:lnSpc>
              <a:spcBef>
                <a:spcPts val="2900"/>
              </a:spcBef>
            </a:pPr>
            <a:r>
              <a:rPr sz="5100" spc="-80" dirty="0">
                <a:solidFill>
                  <a:srgbClr val="186975"/>
                </a:solidFill>
                <a:latin typeface="Calibri"/>
                <a:cs typeface="Calibri"/>
              </a:rPr>
              <a:t>Automatisation</a:t>
            </a:r>
            <a:r>
              <a:rPr sz="5100" spc="-270" dirty="0">
                <a:solidFill>
                  <a:srgbClr val="186975"/>
                </a:solidFill>
                <a:latin typeface="Calibri"/>
                <a:cs typeface="Calibri"/>
              </a:rPr>
              <a:t> </a:t>
            </a:r>
            <a:r>
              <a:rPr sz="5100" spc="-75" dirty="0">
                <a:solidFill>
                  <a:srgbClr val="216B74"/>
                </a:solidFill>
                <a:latin typeface="Calibri"/>
                <a:cs typeface="Calibri"/>
              </a:rPr>
              <a:t>administrative</a:t>
            </a:r>
            <a:r>
              <a:rPr sz="5100" spc="-210" dirty="0">
                <a:solidFill>
                  <a:srgbClr val="216B74"/>
                </a:solidFill>
                <a:latin typeface="Calibri"/>
                <a:cs typeface="Calibri"/>
              </a:rPr>
              <a:t> </a:t>
            </a:r>
            <a:r>
              <a:rPr sz="5100" spc="-25" dirty="0">
                <a:solidFill>
                  <a:srgbClr val="217580"/>
                </a:solidFill>
                <a:latin typeface="Calibri"/>
                <a:cs typeface="Calibri"/>
              </a:rPr>
              <a:t>et </a:t>
            </a:r>
            <a:r>
              <a:rPr sz="5100" spc="-114" dirty="0">
                <a:solidFill>
                  <a:srgbClr val="1A7079"/>
                </a:solidFill>
                <a:latin typeface="Calibri"/>
                <a:cs typeface="Calibri"/>
              </a:rPr>
              <a:t>optimisation</a:t>
            </a:r>
            <a:r>
              <a:rPr sz="5100" spc="-55" dirty="0">
                <a:solidFill>
                  <a:srgbClr val="1A7079"/>
                </a:solidFill>
                <a:latin typeface="Calibri"/>
                <a:cs typeface="Calibri"/>
              </a:rPr>
              <a:t> </a:t>
            </a:r>
            <a:r>
              <a:rPr sz="5100" spc="-135" dirty="0">
                <a:solidFill>
                  <a:srgbClr val="1C6670"/>
                </a:solidFill>
                <a:latin typeface="Calibri"/>
                <a:cs typeface="Calibri"/>
              </a:rPr>
              <a:t>du</a:t>
            </a:r>
            <a:r>
              <a:rPr sz="5100" spc="-155" dirty="0">
                <a:solidFill>
                  <a:srgbClr val="1C6670"/>
                </a:solidFill>
                <a:latin typeface="Calibri"/>
                <a:cs typeface="Calibri"/>
              </a:rPr>
              <a:t> </a:t>
            </a:r>
            <a:r>
              <a:rPr sz="5100" spc="-45" dirty="0">
                <a:solidFill>
                  <a:srgbClr val="186B75"/>
                </a:solidFill>
                <a:latin typeface="Calibri"/>
                <a:cs typeface="Calibri"/>
              </a:rPr>
              <a:t>suivi</a:t>
            </a:r>
            <a:r>
              <a:rPr sz="5100" spc="-240" dirty="0">
                <a:solidFill>
                  <a:srgbClr val="186B75"/>
                </a:solidFill>
                <a:latin typeface="Calibri"/>
                <a:cs typeface="Calibri"/>
              </a:rPr>
              <a:t> </a:t>
            </a:r>
            <a:r>
              <a:rPr sz="5100" spc="-10" dirty="0">
                <a:solidFill>
                  <a:srgbClr val="1C696E"/>
                </a:solidFill>
                <a:latin typeface="Calibri"/>
                <a:cs typeface="Calibri"/>
              </a:rPr>
              <a:t>patient</a:t>
            </a:r>
            <a:endParaRPr sz="5100">
              <a:latin typeface="Calibri"/>
              <a:cs typeface="Calibri"/>
            </a:endParaRPr>
          </a:p>
        </p:txBody>
      </p:sp>
      <p:sp>
        <p:nvSpPr>
          <p:cNvPr id="9" name="object 9"/>
          <p:cNvSpPr txBox="1"/>
          <p:nvPr/>
        </p:nvSpPr>
        <p:spPr>
          <a:xfrm>
            <a:off x="1517336" y="7605535"/>
            <a:ext cx="4225290" cy="1399101"/>
          </a:xfrm>
          <a:prstGeom prst="rect">
            <a:avLst/>
          </a:prstGeom>
        </p:spPr>
        <p:txBody>
          <a:bodyPr vert="horz" wrap="square" lIns="0" tIns="13970" rIns="0" bIns="0" rtlCol="0">
            <a:spAutoFit/>
          </a:bodyPr>
          <a:lstStyle/>
          <a:p>
            <a:pPr marL="1190625">
              <a:lnSpc>
                <a:spcPts val="3750"/>
              </a:lnSpc>
              <a:spcBef>
                <a:spcPts val="110"/>
              </a:spcBef>
            </a:pPr>
            <a:r>
              <a:rPr sz="3250" spc="-90" dirty="0">
                <a:solidFill>
                  <a:srgbClr val="565656"/>
                </a:solidFill>
                <a:latin typeface="Calibri"/>
                <a:cs typeface="Calibri"/>
              </a:rPr>
              <a:t>Réalise</a:t>
            </a:r>
            <a:r>
              <a:rPr sz="3250" spc="-55" dirty="0">
                <a:solidFill>
                  <a:srgbClr val="565656"/>
                </a:solidFill>
                <a:latin typeface="Calibri"/>
                <a:cs typeface="Calibri"/>
              </a:rPr>
              <a:t> </a:t>
            </a:r>
            <a:r>
              <a:rPr sz="3250" spc="-25" dirty="0">
                <a:solidFill>
                  <a:srgbClr val="626262"/>
                </a:solidFill>
                <a:latin typeface="Calibri"/>
                <a:cs typeface="Calibri"/>
              </a:rPr>
              <a:t>par</a:t>
            </a:r>
            <a:endParaRPr sz="3250" dirty="0">
              <a:latin typeface="Calibri"/>
              <a:cs typeface="Calibri"/>
            </a:endParaRPr>
          </a:p>
          <a:p>
            <a:pPr marL="12700">
              <a:lnSpc>
                <a:spcPts val="3510"/>
              </a:lnSpc>
            </a:pPr>
            <a:r>
              <a:rPr sz="3050" dirty="0">
                <a:latin typeface="Calibri"/>
                <a:cs typeface="Calibri"/>
              </a:rPr>
              <a:t>Aydi</a:t>
            </a:r>
            <a:r>
              <a:rPr sz="3050" spc="-30" dirty="0">
                <a:latin typeface="Calibri"/>
                <a:cs typeface="Calibri"/>
              </a:rPr>
              <a:t> </a:t>
            </a:r>
            <a:r>
              <a:rPr sz="3050" dirty="0">
                <a:latin typeface="Calibri"/>
                <a:cs typeface="Calibri"/>
              </a:rPr>
              <a:t>Ala</a:t>
            </a:r>
            <a:r>
              <a:rPr sz="3050" spc="15" dirty="0">
                <a:latin typeface="Calibri"/>
                <a:cs typeface="Calibri"/>
              </a:rPr>
              <a:t> </a:t>
            </a:r>
            <a:r>
              <a:rPr lang="fr-FR" sz="3050" spc="15" dirty="0">
                <a:latin typeface="Calibri"/>
                <a:cs typeface="Calibri"/>
              </a:rPr>
              <a:t> </a:t>
            </a:r>
          </a:p>
          <a:p>
            <a:pPr marL="12700">
              <a:lnSpc>
                <a:spcPts val="3510"/>
              </a:lnSpc>
            </a:pPr>
            <a:r>
              <a:rPr sz="3050" dirty="0">
                <a:latin typeface="Calibri"/>
                <a:cs typeface="Calibri"/>
              </a:rPr>
              <a:t>Ben</a:t>
            </a:r>
            <a:r>
              <a:rPr sz="3050" spc="-55" dirty="0">
                <a:latin typeface="Calibri"/>
                <a:cs typeface="Calibri"/>
              </a:rPr>
              <a:t> </a:t>
            </a:r>
            <a:r>
              <a:rPr sz="3050" spc="-10" dirty="0">
                <a:latin typeface="Calibri"/>
                <a:cs typeface="Calibri"/>
              </a:rPr>
              <a:t>Salem</a:t>
            </a:r>
            <a:r>
              <a:rPr sz="3050" spc="10" dirty="0">
                <a:latin typeface="Calibri"/>
                <a:cs typeface="Calibri"/>
              </a:rPr>
              <a:t> </a:t>
            </a:r>
            <a:r>
              <a:rPr sz="3050" spc="-25" dirty="0">
                <a:latin typeface="Calibri"/>
                <a:cs typeface="Calibri"/>
              </a:rPr>
              <a:t>Ahmed</a:t>
            </a:r>
            <a:endParaRPr sz="3050" dirty="0">
              <a:latin typeface="Calibri"/>
              <a:cs typeface="Calibri"/>
            </a:endParaRPr>
          </a:p>
        </p:txBody>
      </p:sp>
      <p:sp>
        <p:nvSpPr>
          <p:cNvPr id="10" name="object 10"/>
          <p:cNvSpPr txBox="1"/>
          <p:nvPr/>
        </p:nvSpPr>
        <p:spPr>
          <a:xfrm>
            <a:off x="7536608" y="7623175"/>
            <a:ext cx="2398395" cy="932180"/>
          </a:xfrm>
          <a:prstGeom prst="rect">
            <a:avLst/>
          </a:prstGeom>
        </p:spPr>
        <p:txBody>
          <a:bodyPr vert="horz" wrap="square" lIns="0" tIns="15875" rIns="0" bIns="0" rtlCol="0">
            <a:spAutoFit/>
          </a:bodyPr>
          <a:lstStyle/>
          <a:p>
            <a:pPr marL="163830">
              <a:lnSpc>
                <a:spcPts val="3585"/>
              </a:lnSpc>
              <a:spcBef>
                <a:spcPts val="125"/>
              </a:spcBef>
            </a:pPr>
            <a:r>
              <a:rPr sz="3100" dirty="0">
                <a:solidFill>
                  <a:srgbClr val="545454"/>
                </a:solidFill>
                <a:latin typeface="Calibri"/>
                <a:cs typeface="Calibri"/>
              </a:rPr>
              <a:t>Encadré</a:t>
            </a:r>
            <a:r>
              <a:rPr sz="3100" spc="-65" dirty="0">
                <a:solidFill>
                  <a:srgbClr val="545454"/>
                </a:solidFill>
                <a:latin typeface="Calibri"/>
                <a:cs typeface="Calibri"/>
              </a:rPr>
              <a:t> </a:t>
            </a:r>
            <a:r>
              <a:rPr sz="3100" spc="-25" dirty="0">
                <a:solidFill>
                  <a:srgbClr val="565656"/>
                </a:solidFill>
                <a:latin typeface="Calibri"/>
                <a:cs typeface="Calibri"/>
              </a:rPr>
              <a:t>par</a:t>
            </a:r>
            <a:endParaRPr sz="3100" dirty="0">
              <a:latin typeface="Calibri"/>
              <a:cs typeface="Calibri"/>
            </a:endParaRPr>
          </a:p>
          <a:p>
            <a:pPr marL="12700">
              <a:lnSpc>
                <a:spcPts val="3525"/>
              </a:lnSpc>
            </a:pPr>
            <a:r>
              <a:rPr sz="3050" dirty="0">
                <a:latin typeface="Calibri"/>
                <a:cs typeface="Calibri"/>
              </a:rPr>
              <a:t>Dr.</a:t>
            </a:r>
            <a:r>
              <a:rPr sz="3050" spc="-135" dirty="0">
                <a:latin typeface="Calibri"/>
                <a:cs typeface="Calibri"/>
              </a:rPr>
              <a:t> </a:t>
            </a:r>
            <a:r>
              <a:rPr sz="3050" dirty="0" err="1">
                <a:latin typeface="Calibri"/>
                <a:cs typeface="Calibri"/>
              </a:rPr>
              <a:t>Afef</a:t>
            </a:r>
            <a:r>
              <a:rPr sz="3050" spc="-20" dirty="0">
                <a:latin typeface="Calibri"/>
                <a:cs typeface="Calibri"/>
              </a:rPr>
              <a:t> </a:t>
            </a:r>
            <a:r>
              <a:rPr sz="3050" spc="-10" dirty="0" err="1">
                <a:latin typeface="Calibri"/>
                <a:cs typeface="Calibri"/>
              </a:rPr>
              <a:t>Ghabr</a:t>
            </a:r>
            <a:r>
              <a:rPr lang="fr-FR" sz="3050" spc="-10" dirty="0">
                <a:latin typeface="Calibri"/>
                <a:cs typeface="Calibri"/>
              </a:rPr>
              <a:t>i</a:t>
            </a:r>
            <a:endParaRPr sz="3050" dirty="0">
              <a:latin typeface="Calibri"/>
              <a:cs typeface="Calibri"/>
            </a:endParaRPr>
          </a:p>
        </p:txBody>
      </p:sp>
      <p:sp>
        <p:nvSpPr>
          <p:cNvPr id="11" name="object 11"/>
          <p:cNvSpPr txBox="1"/>
          <p:nvPr/>
        </p:nvSpPr>
        <p:spPr>
          <a:xfrm>
            <a:off x="11847244" y="7634464"/>
            <a:ext cx="4434156" cy="914994"/>
          </a:xfrm>
          <a:prstGeom prst="rect">
            <a:avLst/>
          </a:prstGeom>
        </p:spPr>
        <p:txBody>
          <a:bodyPr vert="horz" wrap="square" lIns="0" tIns="17145" rIns="0" bIns="0" rtlCol="0">
            <a:spAutoFit/>
          </a:bodyPr>
          <a:lstStyle/>
          <a:p>
            <a:pPr marL="12700">
              <a:lnSpc>
                <a:spcPts val="3345"/>
              </a:lnSpc>
              <a:spcBef>
                <a:spcPts val="135"/>
              </a:spcBef>
            </a:pPr>
            <a:r>
              <a:rPr sz="2950" spc="-10" dirty="0">
                <a:solidFill>
                  <a:srgbClr val="4B4B4B"/>
                </a:solidFill>
                <a:latin typeface="Consolas"/>
                <a:cs typeface="Consolas"/>
              </a:rPr>
              <a:t>Ann</a:t>
            </a:r>
            <a:r>
              <a:rPr lang="fr-FR" sz="2950" spc="-10" dirty="0">
                <a:solidFill>
                  <a:srgbClr val="4B4B4B"/>
                </a:solidFill>
                <a:latin typeface="Consolas"/>
                <a:cs typeface="Consolas"/>
              </a:rPr>
              <a:t>é</a:t>
            </a:r>
            <a:r>
              <a:rPr sz="2950" spc="-10" dirty="0">
                <a:solidFill>
                  <a:srgbClr val="4B4B4B"/>
                </a:solidFill>
                <a:latin typeface="Consolas"/>
                <a:cs typeface="Consolas"/>
              </a:rPr>
              <a:t>e</a:t>
            </a:r>
            <a:r>
              <a:rPr lang="fr-FR" sz="2950" spc="-10" dirty="0">
                <a:solidFill>
                  <a:srgbClr val="4B4B4B"/>
                </a:solidFill>
                <a:latin typeface="Consolas"/>
                <a:cs typeface="Consolas"/>
              </a:rPr>
              <a:t> Universitaire</a:t>
            </a:r>
            <a:endParaRPr sz="2950" dirty="0">
              <a:latin typeface="Consolas"/>
              <a:cs typeface="Consolas"/>
            </a:endParaRPr>
          </a:p>
          <a:p>
            <a:pPr marL="657860">
              <a:lnSpc>
                <a:spcPts val="3704"/>
              </a:lnSpc>
            </a:pPr>
            <a:r>
              <a:rPr sz="3250" spc="-70" dirty="0">
                <a:latin typeface="Consolas"/>
                <a:cs typeface="Consolas"/>
              </a:rPr>
              <a:t>202</a:t>
            </a:r>
            <a:r>
              <a:rPr lang="fr-FR" sz="3250" spc="-70" dirty="0">
                <a:latin typeface="Consolas"/>
                <a:cs typeface="Consolas"/>
              </a:rPr>
              <a:t>5</a:t>
            </a:r>
            <a:r>
              <a:rPr sz="3250" spc="-70" dirty="0">
                <a:latin typeface="Consolas"/>
                <a:cs typeface="Consolas"/>
              </a:rPr>
              <a:t>/202</a:t>
            </a:r>
            <a:r>
              <a:rPr lang="fr-FR" sz="3250" spc="-70" dirty="0">
                <a:latin typeface="Consolas"/>
                <a:cs typeface="Consolas"/>
              </a:rPr>
              <a:t>6</a:t>
            </a:r>
            <a:endParaRPr sz="3250" dirty="0">
              <a:latin typeface="Consolas"/>
              <a:cs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 name="Text 0">
            <a:extLst>
              <a:ext uri="{FF2B5EF4-FFF2-40B4-BE49-F238E27FC236}">
                <a16:creationId xmlns:a16="http://schemas.microsoft.com/office/drawing/2014/main" id="{E2AE1240-E366-48A5-BD17-FA31F55ECDE8}"/>
              </a:ext>
            </a:extLst>
          </p:cNvPr>
          <p:cNvSpPr/>
          <p:nvPr/>
        </p:nvSpPr>
        <p:spPr>
          <a:xfrm>
            <a:off x="793790" y="1227177"/>
            <a:ext cx="778347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PLAN DE LA PRÉSENTATION</a:t>
            </a:r>
            <a:endParaRPr lang="en-US" sz="4450" dirty="0"/>
          </a:p>
        </p:txBody>
      </p:sp>
      <p:sp>
        <p:nvSpPr>
          <p:cNvPr id="36" name="Text 1">
            <a:extLst>
              <a:ext uri="{FF2B5EF4-FFF2-40B4-BE49-F238E27FC236}">
                <a16:creationId xmlns:a16="http://schemas.microsoft.com/office/drawing/2014/main" id="{1DFA3B40-15F2-40E6-B7B6-4A35D5BA4F43}"/>
              </a:ext>
            </a:extLst>
          </p:cNvPr>
          <p:cNvSpPr/>
          <p:nvPr/>
        </p:nvSpPr>
        <p:spPr>
          <a:xfrm>
            <a:off x="793790" y="2389584"/>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01</a:t>
            </a:r>
            <a:endParaRPr lang="en-US" sz="1750" dirty="0"/>
          </a:p>
        </p:txBody>
      </p:sp>
      <p:sp>
        <p:nvSpPr>
          <p:cNvPr id="37" name="Shape 2">
            <a:extLst>
              <a:ext uri="{FF2B5EF4-FFF2-40B4-BE49-F238E27FC236}">
                <a16:creationId xmlns:a16="http://schemas.microsoft.com/office/drawing/2014/main" id="{F3688D1A-D646-4BAD-B531-F962F7EF4A51}"/>
              </a:ext>
            </a:extLst>
          </p:cNvPr>
          <p:cNvSpPr/>
          <p:nvPr/>
        </p:nvSpPr>
        <p:spPr>
          <a:xfrm>
            <a:off x="793790" y="2744629"/>
            <a:ext cx="6407944" cy="30480"/>
          </a:xfrm>
          <a:prstGeom prst="rect">
            <a:avLst/>
          </a:prstGeom>
          <a:solidFill>
            <a:srgbClr val="4950BC"/>
          </a:solidFill>
          <a:ln/>
        </p:spPr>
      </p:sp>
      <p:sp>
        <p:nvSpPr>
          <p:cNvPr id="38" name="Text 3">
            <a:extLst>
              <a:ext uri="{FF2B5EF4-FFF2-40B4-BE49-F238E27FC236}">
                <a16:creationId xmlns:a16="http://schemas.microsoft.com/office/drawing/2014/main" id="{911CA968-407C-4681-AFDF-7A7F3AEC77E7}"/>
              </a:ext>
            </a:extLst>
          </p:cNvPr>
          <p:cNvSpPr/>
          <p:nvPr/>
        </p:nvSpPr>
        <p:spPr>
          <a:xfrm>
            <a:off x="793790" y="291893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Introduction</a:t>
            </a:r>
            <a:endParaRPr lang="en-US" sz="2200" dirty="0"/>
          </a:p>
        </p:txBody>
      </p:sp>
      <p:sp>
        <p:nvSpPr>
          <p:cNvPr id="39" name="Text 4">
            <a:extLst>
              <a:ext uri="{FF2B5EF4-FFF2-40B4-BE49-F238E27FC236}">
                <a16:creationId xmlns:a16="http://schemas.microsoft.com/office/drawing/2014/main" id="{57B5DBE3-D71E-4D60-9FAC-C652D9B4553F}"/>
              </a:ext>
            </a:extLst>
          </p:cNvPr>
          <p:cNvSpPr/>
          <p:nvPr/>
        </p:nvSpPr>
        <p:spPr>
          <a:xfrm>
            <a:off x="793790" y="3409355"/>
            <a:ext cx="6407944" cy="362903"/>
          </a:xfrm>
          <a:prstGeom prst="rect">
            <a:avLst/>
          </a:prstGeom>
          <a:noFill/>
          <a:ln/>
        </p:spPr>
        <p:txBody>
          <a:bodyPr wrap="none" lIns="0" tIns="0" rIns="0" bIns="0" rtlCol="0" anchor="t"/>
          <a:lstStyle/>
          <a:p>
            <a:pPr marL="0" indent="0" algn="l">
              <a:lnSpc>
                <a:spcPts val="2850"/>
              </a:lnSpc>
              <a:buNone/>
            </a:pPr>
            <a:r>
              <a:rPr lang="en-US" sz="1750" dirty="0" err="1">
                <a:solidFill>
                  <a:srgbClr val="272525"/>
                </a:solidFill>
                <a:latin typeface="Inter" pitchFamily="34" charset="0"/>
                <a:ea typeface="Inter" pitchFamily="34" charset="-122"/>
                <a:cs typeface="Inter" pitchFamily="34" charset="-120"/>
              </a:rPr>
              <a:t>Contexte</a:t>
            </a:r>
            <a:r>
              <a:rPr lang="en-US" sz="1750" dirty="0">
                <a:solidFill>
                  <a:srgbClr val="272525"/>
                </a:solidFill>
                <a:latin typeface="Inter" pitchFamily="34" charset="0"/>
                <a:ea typeface="Inter" pitchFamily="34" charset="-122"/>
                <a:cs typeface="Inter" pitchFamily="34" charset="-120"/>
              </a:rPr>
              <a:t>, </a:t>
            </a:r>
            <a:r>
              <a:rPr lang="en-US" sz="1750" dirty="0" err="1">
                <a:solidFill>
                  <a:srgbClr val="272525"/>
                </a:solidFill>
                <a:latin typeface="Inter" pitchFamily="34" charset="0"/>
                <a:ea typeface="Inter" pitchFamily="34" charset="-122"/>
                <a:cs typeface="Inter" pitchFamily="34" charset="-120"/>
              </a:rPr>
              <a:t>Problématique</a:t>
            </a:r>
            <a:r>
              <a:rPr lang="en-US" sz="1750" dirty="0">
                <a:solidFill>
                  <a:srgbClr val="272525"/>
                </a:solidFill>
                <a:latin typeface="Inter" pitchFamily="34" charset="0"/>
                <a:ea typeface="Inter" pitchFamily="34" charset="-122"/>
                <a:cs typeface="Inter" pitchFamily="34" charset="-120"/>
              </a:rPr>
              <a:t>, Solution </a:t>
            </a:r>
            <a:r>
              <a:rPr lang="en-US" sz="1750" dirty="0" err="1">
                <a:solidFill>
                  <a:srgbClr val="272525"/>
                </a:solidFill>
                <a:latin typeface="Inter" pitchFamily="34" charset="0"/>
                <a:ea typeface="Inter" pitchFamily="34" charset="-122"/>
                <a:cs typeface="Inter" pitchFamily="34" charset="-120"/>
              </a:rPr>
              <a:t>proposée</a:t>
            </a:r>
            <a:endParaRPr lang="en-US" sz="1750" dirty="0"/>
          </a:p>
        </p:txBody>
      </p:sp>
      <p:sp>
        <p:nvSpPr>
          <p:cNvPr id="40" name="Text 5">
            <a:extLst>
              <a:ext uri="{FF2B5EF4-FFF2-40B4-BE49-F238E27FC236}">
                <a16:creationId xmlns:a16="http://schemas.microsoft.com/office/drawing/2014/main" id="{C21ED0CA-F2DC-4A88-8383-D917447F11E6}"/>
              </a:ext>
            </a:extLst>
          </p:cNvPr>
          <p:cNvSpPr/>
          <p:nvPr/>
        </p:nvSpPr>
        <p:spPr>
          <a:xfrm>
            <a:off x="7428548" y="2389584"/>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02</a:t>
            </a:r>
            <a:endParaRPr lang="en-US" sz="1750" dirty="0"/>
          </a:p>
        </p:txBody>
      </p:sp>
      <p:sp>
        <p:nvSpPr>
          <p:cNvPr id="41" name="Shape 6">
            <a:extLst>
              <a:ext uri="{FF2B5EF4-FFF2-40B4-BE49-F238E27FC236}">
                <a16:creationId xmlns:a16="http://schemas.microsoft.com/office/drawing/2014/main" id="{6BF1998B-AEC1-4D3D-97D4-F572FE4468E7}"/>
              </a:ext>
            </a:extLst>
          </p:cNvPr>
          <p:cNvSpPr/>
          <p:nvPr/>
        </p:nvSpPr>
        <p:spPr>
          <a:xfrm>
            <a:off x="7428548" y="2744629"/>
            <a:ext cx="6408063" cy="30480"/>
          </a:xfrm>
          <a:prstGeom prst="rect">
            <a:avLst/>
          </a:prstGeom>
          <a:solidFill>
            <a:srgbClr val="4950BC"/>
          </a:solidFill>
          <a:ln/>
        </p:spPr>
      </p:sp>
      <p:sp>
        <p:nvSpPr>
          <p:cNvPr id="42" name="Text 7">
            <a:extLst>
              <a:ext uri="{FF2B5EF4-FFF2-40B4-BE49-F238E27FC236}">
                <a16:creationId xmlns:a16="http://schemas.microsoft.com/office/drawing/2014/main" id="{3F26FC55-CAC0-47FE-8F1A-CE29D5992B04}"/>
              </a:ext>
            </a:extLst>
          </p:cNvPr>
          <p:cNvSpPr/>
          <p:nvPr/>
        </p:nvSpPr>
        <p:spPr>
          <a:xfrm>
            <a:off x="7428548" y="2918936"/>
            <a:ext cx="2835235" cy="354330"/>
          </a:xfrm>
          <a:prstGeom prst="rect">
            <a:avLst/>
          </a:prstGeom>
          <a:noFill/>
          <a:ln/>
        </p:spPr>
        <p:txBody>
          <a:bodyPr wrap="none" lIns="0" tIns="0" rIns="0" bIns="0" rtlCol="0" anchor="t"/>
          <a:lstStyle/>
          <a:p>
            <a:pPr marL="0" indent="0" algn="l">
              <a:lnSpc>
                <a:spcPts val="2750"/>
              </a:lnSpc>
              <a:buNone/>
            </a:pPr>
            <a:r>
              <a:rPr lang="fr-FR" sz="2400" spc="-175" dirty="0">
                <a:solidFill>
                  <a:schemeClr val="tx1"/>
                </a:solidFill>
              </a:rPr>
              <a:t>Le</a:t>
            </a:r>
            <a:r>
              <a:rPr lang="fr-FR" sz="2400" spc="-150" dirty="0">
                <a:solidFill>
                  <a:schemeClr val="tx1"/>
                </a:solidFill>
              </a:rPr>
              <a:t> </a:t>
            </a:r>
            <a:r>
              <a:rPr lang="fr-FR" sz="2400" spc="-20" dirty="0">
                <a:solidFill>
                  <a:schemeClr val="tx1"/>
                </a:solidFill>
              </a:rPr>
              <a:t>Défi</a:t>
            </a:r>
            <a:r>
              <a:rPr lang="fr-FR" sz="2400" spc="-300" dirty="0">
                <a:solidFill>
                  <a:schemeClr val="tx1"/>
                </a:solidFill>
              </a:rPr>
              <a:t> </a:t>
            </a:r>
            <a:r>
              <a:rPr lang="fr-FR" sz="2400" dirty="0">
                <a:solidFill>
                  <a:schemeClr val="tx1"/>
                </a:solidFill>
              </a:rPr>
              <a:t>de</a:t>
            </a:r>
            <a:r>
              <a:rPr lang="fr-FR" sz="2400" spc="-325" dirty="0">
                <a:solidFill>
                  <a:schemeClr val="tx1"/>
                </a:solidFill>
              </a:rPr>
              <a:t> </a:t>
            </a:r>
            <a:r>
              <a:rPr lang="fr-FR" sz="2200" b="1" dirty="0">
                <a:solidFill>
                  <a:schemeClr val="tx1"/>
                </a:solidFill>
                <a:latin typeface="Inter Bold" pitchFamily="34" charset="0"/>
                <a:ea typeface="Inter Bold" pitchFamily="34" charset="-122"/>
              </a:rPr>
              <a:t>la</a:t>
            </a:r>
            <a:r>
              <a:rPr lang="fr-FR" sz="2400" spc="-270" dirty="0">
                <a:solidFill>
                  <a:schemeClr val="tx1"/>
                </a:solidFill>
              </a:rPr>
              <a:t> </a:t>
            </a:r>
            <a:r>
              <a:rPr lang="fr-FR" sz="2400" spc="-100" dirty="0">
                <a:solidFill>
                  <a:schemeClr val="tx1"/>
                </a:solidFill>
              </a:rPr>
              <a:t>Santé</a:t>
            </a:r>
            <a:r>
              <a:rPr lang="fr-FR" sz="2400" spc="-220" dirty="0">
                <a:solidFill>
                  <a:schemeClr val="tx1"/>
                </a:solidFill>
              </a:rPr>
              <a:t> </a:t>
            </a:r>
            <a:r>
              <a:rPr lang="fr-FR" sz="2400" spc="-25" dirty="0">
                <a:solidFill>
                  <a:schemeClr val="tx1"/>
                </a:solidFill>
              </a:rPr>
              <a:t>Moderne</a:t>
            </a:r>
            <a:r>
              <a:rPr lang="fr-FR" sz="2400" spc="-235" dirty="0">
                <a:solidFill>
                  <a:schemeClr val="tx1"/>
                </a:solidFill>
              </a:rPr>
              <a:t> </a:t>
            </a:r>
            <a:r>
              <a:rPr lang="fr-FR" sz="2400" spc="-50" dirty="0">
                <a:solidFill>
                  <a:schemeClr val="tx1"/>
                </a:solidFill>
              </a:rPr>
              <a:t>:</a:t>
            </a:r>
            <a:endParaRPr lang="en-US" sz="2200" dirty="0">
              <a:solidFill>
                <a:schemeClr val="tx1"/>
              </a:solidFill>
            </a:endParaRPr>
          </a:p>
        </p:txBody>
      </p:sp>
      <p:sp>
        <p:nvSpPr>
          <p:cNvPr id="43" name="Text 8">
            <a:extLst>
              <a:ext uri="{FF2B5EF4-FFF2-40B4-BE49-F238E27FC236}">
                <a16:creationId xmlns:a16="http://schemas.microsoft.com/office/drawing/2014/main" id="{8C28C6F1-6FEB-4D7D-AFC2-04D851074C50}"/>
              </a:ext>
            </a:extLst>
          </p:cNvPr>
          <p:cNvSpPr/>
          <p:nvPr/>
        </p:nvSpPr>
        <p:spPr>
          <a:xfrm>
            <a:off x="7428548" y="3409355"/>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Simplifier, Centraliser, Améliorer, Sécuriser</a:t>
            </a:r>
            <a:endParaRPr lang="en-US" sz="1750" dirty="0"/>
          </a:p>
        </p:txBody>
      </p:sp>
      <p:sp>
        <p:nvSpPr>
          <p:cNvPr id="44" name="Text 9">
            <a:extLst>
              <a:ext uri="{FF2B5EF4-FFF2-40B4-BE49-F238E27FC236}">
                <a16:creationId xmlns:a16="http://schemas.microsoft.com/office/drawing/2014/main" id="{21E2853A-CBF7-480C-B289-D2F96BCDB8DD}"/>
              </a:ext>
            </a:extLst>
          </p:cNvPr>
          <p:cNvSpPr/>
          <p:nvPr/>
        </p:nvSpPr>
        <p:spPr>
          <a:xfrm>
            <a:off x="793790" y="416909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03</a:t>
            </a:r>
            <a:endParaRPr lang="en-US" sz="1750" dirty="0"/>
          </a:p>
        </p:txBody>
      </p:sp>
      <p:sp>
        <p:nvSpPr>
          <p:cNvPr id="45" name="Shape 10">
            <a:extLst>
              <a:ext uri="{FF2B5EF4-FFF2-40B4-BE49-F238E27FC236}">
                <a16:creationId xmlns:a16="http://schemas.microsoft.com/office/drawing/2014/main" id="{10FC560F-49D7-4D5F-8C20-168457B629B8}"/>
              </a:ext>
            </a:extLst>
          </p:cNvPr>
          <p:cNvSpPr/>
          <p:nvPr/>
        </p:nvSpPr>
        <p:spPr>
          <a:xfrm>
            <a:off x="793790" y="4524137"/>
            <a:ext cx="6407944" cy="30480"/>
          </a:xfrm>
          <a:prstGeom prst="rect">
            <a:avLst/>
          </a:prstGeom>
          <a:solidFill>
            <a:srgbClr val="4950BC"/>
          </a:solidFill>
          <a:ln/>
        </p:spPr>
      </p:sp>
      <p:sp>
        <p:nvSpPr>
          <p:cNvPr id="46" name="Text 11">
            <a:extLst>
              <a:ext uri="{FF2B5EF4-FFF2-40B4-BE49-F238E27FC236}">
                <a16:creationId xmlns:a16="http://schemas.microsoft.com/office/drawing/2014/main" id="{DDA7B0D6-465F-49B1-A102-F7EFB7F84BA5}"/>
              </a:ext>
            </a:extLst>
          </p:cNvPr>
          <p:cNvSpPr/>
          <p:nvPr/>
        </p:nvSpPr>
        <p:spPr>
          <a:xfrm>
            <a:off x="793790" y="4698444"/>
            <a:ext cx="374320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Fonctionnalités Principales</a:t>
            </a:r>
            <a:endParaRPr lang="en-US" sz="2200" dirty="0"/>
          </a:p>
        </p:txBody>
      </p:sp>
      <p:sp>
        <p:nvSpPr>
          <p:cNvPr id="47" name="Text 12">
            <a:extLst>
              <a:ext uri="{FF2B5EF4-FFF2-40B4-BE49-F238E27FC236}">
                <a16:creationId xmlns:a16="http://schemas.microsoft.com/office/drawing/2014/main" id="{66FAA514-A9CD-4C73-A5E3-089DC8B8A6C3}"/>
              </a:ext>
            </a:extLst>
          </p:cNvPr>
          <p:cNvSpPr/>
          <p:nvPr/>
        </p:nvSpPr>
        <p:spPr>
          <a:xfrm>
            <a:off x="793790" y="5188863"/>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Rendez-vous, Dossiers Médicaux, Utilisateurs</a:t>
            </a:r>
            <a:endParaRPr lang="en-US" sz="1750" dirty="0"/>
          </a:p>
        </p:txBody>
      </p:sp>
      <p:sp>
        <p:nvSpPr>
          <p:cNvPr id="48" name="Text 13">
            <a:extLst>
              <a:ext uri="{FF2B5EF4-FFF2-40B4-BE49-F238E27FC236}">
                <a16:creationId xmlns:a16="http://schemas.microsoft.com/office/drawing/2014/main" id="{7D8858DF-8AEC-4445-98B0-57C9AFF753DB}"/>
              </a:ext>
            </a:extLst>
          </p:cNvPr>
          <p:cNvSpPr/>
          <p:nvPr/>
        </p:nvSpPr>
        <p:spPr>
          <a:xfrm>
            <a:off x="7428548" y="416909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04</a:t>
            </a:r>
            <a:endParaRPr lang="en-US" sz="1750" dirty="0"/>
          </a:p>
        </p:txBody>
      </p:sp>
      <p:sp>
        <p:nvSpPr>
          <p:cNvPr id="49" name="Shape 14">
            <a:extLst>
              <a:ext uri="{FF2B5EF4-FFF2-40B4-BE49-F238E27FC236}">
                <a16:creationId xmlns:a16="http://schemas.microsoft.com/office/drawing/2014/main" id="{7091E4A5-836C-4171-9112-5693DC10D6F2}"/>
              </a:ext>
            </a:extLst>
          </p:cNvPr>
          <p:cNvSpPr/>
          <p:nvPr/>
        </p:nvSpPr>
        <p:spPr>
          <a:xfrm>
            <a:off x="7428548" y="4524137"/>
            <a:ext cx="6408063" cy="30480"/>
          </a:xfrm>
          <a:prstGeom prst="rect">
            <a:avLst/>
          </a:prstGeom>
          <a:solidFill>
            <a:srgbClr val="4950BC"/>
          </a:solidFill>
          <a:ln/>
        </p:spPr>
      </p:sp>
      <p:sp>
        <p:nvSpPr>
          <p:cNvPr id="50" name="Text 15">
            <a:extLst>
              <a:ext uri="{FF2B5EF4-FFF2-40B4-BE49-F238E27FC236}">
                <a16:creationId xmlns:a16="http://schemas.microsoft.com/office/drawing/2014/main" id="{2E72292E-53DD-4046-8559-8F64C1C81ADD}"/>
              </a:ext>
            </a:extLst>
          </p:cNvPr>
          <p:cNvSpPr/>
          <p:nvPr/>
        </p:nvSpPr>
        <p:spPr>
          <a:xfrm>
            <a:off x="7428548" y="4698444"/>
            <a:ext cx="312681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Technologies Utilisées</a:t>
            </a:r>
            <a:endParaRPr lang="en-US" sz="2200" dirty="0"/>
          </a:p>
        </p:txBody>
      </p:sp>
      <p:sp>
        <p:nvSpPr>
          <p:cNvPr id="51" name="Text 16">
            <a:extLst>
              <a:ext uri="{FF2B5EF4-FFF2-40B4-BE49-F238E27FC236}">
                <a16:creationId xmlns:a16="http://schemas.microsoft.com/office/drawing/2014/main" id="{44577F7A-61F1-4496-A24F-D66B272D9A87}"/>
              </a:ext>
            </a:extLst>
          </p:cNvPr>
          <p:cNvSpPr/>
          <p:nvPr/>
        </p:nvSpPr>
        <p:spPr>
          <a:xfrm>
            <a:off x="7428548" y="5188863"/>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Frontend, Backend, Base de données, Sécurité</a:t>
            </a:r>
            <a:endParaRPr lang="en-US" sz="1750" dirty="0"/>
          </a:p>
        </p:txBody>
      </p:sp>
      <p:sp>
        <p:nvSpPr>
          <p:cNvPr id="52" name="Text 17">
            <a:extLst>
              <a:ext uri="{FF2B5EF4-FFF2-40B4-BE49-F238E27FC236}">
                <a16:creationId xmlns:a16="http://schemas.microsoft.com/office/drawing/2014/main" id="{1215ECD5-0979-4362-8C7F-153BF6D66AAA}"/>
              </a:ext>
            </a:extLst>
          </p:cNvPr>
          <p:cNvSpPr/>
          <p:nvPr/>
        </p:nvSpPr>
        <p:spPr>
          <a:xfrm>
            <a:off x="5225256" y="594860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05</a:t>
            </a:r>
            <a:endParaRPr lang="en-US" sz="1750" dirty="0"/>
          </a:p>
        </p:txBody>
      </p:sp>
      <p:sp>
        <p:nvSpPr>
          <p:cNvPr id="53" name="Shape 18">
            <a:extLst>
              <a:ext uri="{FF2B5EF4-FFF2-40B4-BE49-F238E27FC236}">
                <a16:creationId xmlns:a16="http://schemas.microsoft.com/office/drawing/2014/main" id="{D53055D0-C70E-4815-AE90-78B070704766}"/>
              </a:ext>
            </a:extLst>
          </p:cNvPr>
          <p:cNvSpPr/>
          <p:nvPr/>
        </p:nvSpPr>
        <p:spPr>
          <a:xfrm>
            <a:off x="5225256" y="6303645"/>
            <a:ext cx="6407944" cy="30480"/>
          </a:xfrm>
          <a:prstGeom prst="rect">
            <a:avLst/>
          </a:prstGeom>
          <a:solidFill>
            <a:srgbClr val="4950BC"/>
          </a:solidFill>
          <a:ln/>
        </p:spPr>
      </p:sp>
      <p:sp>
        <p:nvSpPr>
          <p:cNvPr id="54" name="Text 19">
            <a:extLst>
              <a:ext uri="{FF2B5EF4-FFF2-40B4-BE49-F238E27FC236}">
                <a16:creationId xmlns:a16="http://schemas.microsoft.com/office/drawing/2014/main" id="{AF370371-D20B-400D-BB3C-86DEF3A491AE}"/>
              </a:ext>
            </a:extLst>
          </p:cNvPr>
          <p:cNvSpPr/>
          <p:nvPr/>
        </p:nvSpPr>
        <p:spPr>
          <a:xfrm>
            <a:off x="5225256" y="6477952"/>
            <a:ext cx="3178016"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Conclusion et Perspectives</a:t>
            </a:r>
            <a:endParaRPr lang="en-US" sz="2200" dirty="0"/>
          </a:p>
        </p:txBody>
      </p:sp>
      <p:sp>
        <p:nvSpPr>
          <p:cNvPr id="57" name="Text 22">
            <a:extLst>
              <a:ext uri="{FF2B5EF4-FFF2-40B4-BE49-F238E27FC236}">
                <a16:creationId xmlns:a16="http://schemas.microsoft.com/office/drawing/2014/main" id="{66BF28CB-9794-4095-A282-7B8B5D4F801F}"/>
              </a:ext>
            </a:extLst>
          </p:cNvPr>
          <p:cNvSpPr/>
          <p:nvPr/>
        </p:nvSpPr>
        <p:spPr>
          <a:xfrm>
            <a:off x="7428548" y="6477952"/>
            <a:ext cx="3783449" cy="354330"/>
          </a:xfrm>
          <a:prstGeom prst="rect">
            <a:avLst/>
          </a:prstGeom>
          <a:noFill/>
          <a:ln/>
        </p:spPr>
        <p:txBody>
          <a:bodyPr wrap="none" lIns="0" tIns="0" rIns="0" bIns="0" rtlCol="0" anchor="t"/>
          <a:lstStyle/>
          <a:p>
            <a:pPr marL="0" indent="0" algn="l">
              <a:lnSpc>
                <a:spcPts val="2750"/>
              </a:lnSpc>
              <a:buNone/>
            </a:pPr>
            <a:endParaRPr lang="en-US" sz="2200" dirty="0"/>
          </a:p>
        </p:txBody>
      </p:sp>
    </p:spTree>
    <p:extLst>
      <p:ext uri="{BB962C8B-B14F-4D97-AF65-F5344CB8AC3E}">
        <p14:creationId xmlns:p14="http://schemas.microsoft.com/office/powerpoint/2010/main" val="68191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Rectangle 1">
            <a:extLst>
              <a:ext uri="{FF2B5EF4-FFF2-40B4-BE49-F238E27FC236}">
                <a16:creationId xmlns:a16="http://schemas.microsoft.com/office/drawing/2014/main" id="{7A1923CD-646F-48CA-AA2E-D11727BAFF73}"/>
              </a:ext>
            </a:extLst>
          </p:cNvPr>
          <p:cNvSpPr>
            <a:spLocks noChangeArrowheads="1"/>
          </p:cNvSpPr>
          <p:nvPr/>
        </p:nvSpPr>
        <p:spPr bwMode="auto">
          <a:xfrm>
            <a:off x="0" y="0"/>
            <a:ext cx="17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3" name="Rectangle 2">
            <a:extLst>
              <a:ext uri="{FF2B5EF4-FFF2-40B4-BE49-F238E27FC236}">
                <a16:creationId xmlns:a16="http://schemas.microsoft.com/office/drawing/2014/main" id="{59CA6782-FCAE-4FAE-A3C3-59FDFF09A8DF}"/>
              </a:ext>
            </a:extLst>
          </p:cNvPr>
          <p:cNvSpPr>
            <a:spLocks noChangeArrowheads="1"/>
          </p:cNvSpPr>
          <p:nvPr/>
        </p:nvSpPr>
        <p:spPr bwMode="auto">
          <a:xfrm>
            <a:off x="152400" y="152400"/>
            <a:ext cx="17475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6" name="TextBox 6">
            <a:extLst>
              <a:ext uri="{FF2B5EF4-FFF2-40B4-BE49-F238E27FC236}">
                <a16:creationId xmlns:a16="http://schemas.microsoft.com/office/drawing/2014/main" id="{AB736307-77BF-4F87-AD08-406DC6F98BE4}"/>
              </a:ext>
            </a:extLst>
          </p:cNvPr>
          <p:cNvSpPr txBox="1"/>
          <p:nvPr/>
        </p:nvSpPr>
        <p:spPr>
          <a:xfrm>
            <a:off x="509445" y="950130"/>
            <a:ext cx="10654375" cy="1271017"/>
          </a:xfrm>
          <a:prstGeom prst="rect">
            <a:avLst/>
          </a:prstGeom>
        </p:spPr>
        <p:txBody>
          <a:bodyPr lIns="0" tIns="0" rIns="0" bIns="0" rtlCol="0" anchor="t">
            <a:spAutoFit/>
          </a:bodyPr>
          <a:lstStyle/>
          <a:p>
            <a:pPr algn="ctr">
              <a:lnSpc>
                <a:spcPts val="8832"/>
              </a:lnSpc>
            </a:pPr>
            <a:r>
              <a:rPr lang="en-US" sz="9200" b="1" dirty="0">
                <a:solidFill>
                  <a:srgbClr val="265A76"/>
                </a:solidFill>
                <a:latin typeface="Poppins Ultra-Bold"/>
                <a:ea typeface="Poppins Ultra-Bold"/>
                <a:cs typeface="Poppins Ultra-Bold"/>
                <a:sym typeface="Poppins Ultra-Bold"/>
              </a:rPr>
              <a:t>INTRODUCTION</a:t>
            </a:r>
          </a:p>
        </p:txBody>
      </p:sp>
      <p:sp>
        <p:nvSpPr>
          <p:cNvPr id="17" name="Freeform 5">
            <a:extLst>
              <a:ext uri="{FF2B5EF4-FFF2-40B4-BE49-F238E27FC236}">
                <a16:creationId xmlns:a16="http://schemas.microsoft.com/office/drawing/2014/main" id="{33A01211-2239-41DE-92DF-673270274FA7}"/>
              </a:ext>
            </a:extLst>
          </p:cNvPr>
          <p:cNvSpPr/>
          <p:nvPr/>
        </p:nvSpPr>
        <p:spPr>
          <a:xfrm>
            <a:off x="509445" y="3364147"/>
            <a:ext cx="5332534" cy="6474379"/>
          </a:xfrm>
          <a:custGeom>
            <a:avLst/>
            <a:gdLst/>
            <a:ahLst/>
            <a:cxnLst/>
            <a:rect l="l" t="t" r="r" b="b"/>
            <a:pathLst>
              <a:path w="5332534" h="6474379">
                <a:moveTo>
                  <a:pt x="0" y="0"/>
                </a:moveTo>
                <a:lnTo>
                  <a:pt x="5332535" y="0"/>
                </a:lnTo>
                <a:lnTo>
                  <a:pt x="5332535" y="6474380"/>
                </a:lnTo>
                <a:lnTo>
                  <a:pt x="0" y="64743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8">
            <a:extLst>
              <a:ext uri="{FF2B5EF4-FFF2-40B4-BE49-F238E27FC236}">
                <a16:creationId xmlns:a16="http://schemas.microsoft.com/office/drawing/2014/main" id="{D6ED30F6-0455-4A77-B354-D84A4E5031C9}"/>
              </a:ext>
            </a:extLst>
          </p:cNvPr>
          <p:cNvSpPr txBox="1"/>
          <p:nvPr/>
        </p:nvSpPr>
        <p:spPr>
          <a:xfrm>
            <a:off x="6146800" y="2796965"/>
            <a:ext cx="10287000" cy="6364435"/>
          </a:xfrm>
          <a:prstGeom prst="rect">
            <a:avLst/>
          </a:prstGeom>
          <a:noFill/>
        </p:spPr>
        <p:txBody>
          <a:bodyPr wrap="square">
            <a:spAutoFit/>
          </a:bodyPr>
          <a:lstStyle/>
          <a:p>
            <a:pPr marL="0" lvl="0" indent="0" algn="just">
              <a:lnSpc>
                <a:spcPts val="3532"/>
              </a:lnSpc>
            </a:pPr>
            <a:endParaRPr lang="fr-FR" sz="2800" dirty="0"/>
          </a:p>
          <a:p>
            <a:pPr marL="0" lvl="0" indent="0" algn="just">
              <a:lnSpc>
                <a:spcPts val="3532"/>
              </a:lnSpc>
            </a:pPr>
            <a:r>
              <a:rPr lang="fr-FR" sz="2800" u="none" strike="noStrike" dirty="0">
                <a:solidFill>
                  <a:srgbClr val="265A76"/>
                </a:solidFill>
                <a:latin typeface="Poppins Light"/>
                <a:ea typeface="Poppins Light"/>
                <a:cs typeface="Poppins Light"/>
                <a:sym typeface="Poppins Light"/>
              </a:rPr>
              <a:t>Dans le secteur de la santé moderne, la digitalisation des services médicaux est devenue une nécessité incontournable. Les cliniques et établissements de santé font face à des défis majeurs dans la gestion quotidienne de leurs opérations : prise de rendez-vous, suivi des patients, conservation et accès aux dossiers médicaux, coordination entre les différents intervenants médicaux.</a:t>
            </a:r>
          </a:p>
          <a:p>
            <a:pPr marL="0" lvl="0" indent="0" algn="just">
              <a:lnSpc>
                <a:spcPts val="3532"/>
              </a:lnSpc>
            </a:pPr>
            <a:r>
              <a:rPr lang="fr-FR" sz="2800" u="none" strike="noStrike" dirty="0">
                <a:solidFill>
                  <a:srgbClr val="265A76"/>
                </a:solidFill>
                <a:latin typeface="Poppins Light"/>
                <a:ea typeface="Poppins Light"/>
                <a:cs typeface="Poppins Light"/>
                <a:sym typeface="Poppins Light"/>
              </a:rPr>
              <a:t>La transformation numérique du secteur de la santé n'est plus une option, mais une exigence pour répondre aux attentes croissantes des patients et améliorer la qualité des soins prodigués.</a:t>
            </a:r>
          </a:p>
          <a:p>
            <a:pPr marL="0" lvl="0" indent="0" algn="just">
              <a:lnSpc>
                <a:spcPts val="3532"/>
              </a:lnSpc>
            </a:pPr>
            <a:endParaRPr lang="fr-FR" sz="2800" u="none" strike="noStrike" dirty="0">
              <a:solidFill>
                <a:srgbClr val="265A76"/>
              </a:solidFill>
              <a:latin typeface="Poppins Light"/>
              <a:ea typeface="Poppins Light"/>
              <a:cs typeface="Poppins Light"/>
              <a:sym typeface="Poppins Light"/>
            </a:endParaRPr>
          </a:p>
        </p:txBody>
      </p:sp>
      <p:grpSp>
        <p:nvGrpSpPr>
          <p:cNvPr id="20" name="Group 2">
            <a:extLst>
              <a:ext uri="{FF2B5EF4-FFF2-40B4-BE49-F238E27FC236}">
                <a16:creationId xmlns:a16="http://schemas.microsoft.com/office/drawing/2014/main" id="{5EC91934-E971-48FF-B9B4-9842E9947AA7}"/>
              </a:ext>
            </a:extLst>
          </p:cNvPr>
          <p:cNvGrpSpPr/>
          <p:nvPr/>
        </p:nvGrpSpPr>
        <p:grpSpPr>
          <a:xfrm>
            <a:off x="0" y="9051073"/>
            <a:ext cx="17475200" cy="686135"/>
            <a:chOff x="0" y="0"/>
            <a:chExt cx="4816593" cy="348089"/>
          </a:xfrm>
        </p:grpSpPr>
        <p:sp>
          <p:nvSpPr>
            <p:cNvPr id="21" name="Freeform 3">
              <a:extLst>
                <a:ext uri="{FF2B5EF4-FFF2-40B4-BE49-F238E27FC236}">
                  <a16:creationId xmlns:a16="http://schemas.microsoft.com/office/drawing/2014/main" id="{432A600D-69D7-4CBB-83C2-108C4874DF9B}"/>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22" name="TextBox 4">
              <a:extLst>
                <a:ext uri="{FF2B5EF4-FFF2-40B4-BE49-F238E27FC236}">
                  <a16:creationId xmlns:a16="http://schemas.microsoft.com/office/drawing/2014/main" id="{D5B8A7DD-DB47-4F6E-A7F3-C3BDA84ED775}"/>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37140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7900" y="6311900"/>
            <a:ext cx="977900" cy="990600"/>
          </a:xfrm>
          <a:prstGeom prst="rect">
            <a:avLst/>
          </a:prstGeom>
        </p:spPr>
      </p:pic>
      <p:pic>
        <p:nvPicPr>
          <p:cNvPr id="3" name="object 3"/>
          <p:cNvPicPr/>
          <p:nvPr/>
        </p:nvPicPr>
        <p:blipFill>
          <a:blip r:embed="rId3" cstate="print"/>
          <a:stretch>
            <a:fillRect/>
          </a:stretch>
        </p:blipFill>
        <p:spPr>
          <a:xfrm>
            <a:off x="977900" y="4876800"/>
            <a:ext cx="977900" cy="876300"/>
          </a:xfrm>
          <a:prstGeom prst="rect">
            <a:avLst/>
          </a:prstGeom>
        </p:spPr>
      </p:pic>
      <p:pic>
        <p:nvPicPr>
          <p:cNvPr id="4" name="object 4"/>
          <p:cNvPicPr/>
          <p:nvPr/>
        </p:nvPicPr>
        <p:blipFill>
          <a:blip r:embed="rId4" cstate="print"/>
          <a:stretch>
            <a:fillRect/>
          </a:stretch>
        </p:blipFill>
        <p:spPr>
          <a:xfrm>
            <a:off x="9817100" y="1651000"/>
            <a:ext cx="6299200" cy="6146800"/>
          </a:xfrm>
          <a:prstGeom prst="rect">
            <a:avLst/>
          </a:prstGeom>
        </p:spPr>
      </p:pic>
      <p:grpSp>
        <p:nvGrpSpPr>
          <p:cNvPr id="5" name="object 5"/>
          <p:cNvGrpSpPr/>
          <p:nvPr/>
        </p:nvGrpSpPr>
        <p:grpSpPr>
          <a:xfrm>
            <a:off x="1028700" y="7797800"/>
            <a:ext cx="876300" cy="1016000"/>
            <a:chOff x="1028700" y="7797800"/>
            <a:chExt cx="876300" cy="1016000"/>
          </a:xfrm>
        </p:grpSpPr>
        <p:pic>
          <p:nvPicPr>
            <p:cNvPr id="6" name="object 6"/>
            <p:cNvPicPr/>
            <p:nvPr/>
          </p:nvPicPr>
          <p:blipFill>
            <a:blip r:embed="rId5" cstate="print"/>
            <a:stretch>
              <a:fillRect/>
            </a:stretch>
          </p:blipFill>
          <p:spPr>
            <a:xfrm>
              <a:off x="1028700" y="7797800"/>
              <a:ext cx="876300" cy="1016000"/>
            </a:xfrm>
            <a:prstGeom prst="rect">
              <a:avLst/>
            </a:prstGeom>
          </p:spPr>
        </p:pic>
        <p:pic>
          <p:nvPicPr>
            <p:cNvPr id="7" name="object 7"/>
            <p:cNvPicPr/>
            <p:nvPr/>
          </p:nvPicPr>
          <p:blipFill>
            <a:blip r:embed="rId6" cstate="print"/>
            <a:stretch>
              <a:fillRect/>
            </a:stretch>
          </p:blipFill>
          <p:spPr>
            <a:xfrm>
              <a:off x="1028700" y="7797800"/>
              <a:ext cx="876300" cy="1016000"/>
            </a:xfrm>
            <a:prstGeom prst="rect">
              <a:avLst/>
            </a:prstGeom>
          </p:spPr>
        </p:pic>
      </p:grpSp>
      <p:sp>
        <p:nvSpPr>
          <p:cNvPr id="8" name="object 8"/>
          <p:cNvSpPr txBox="1">
            <a:spLocks noGrp="1"/>
          </p:cNvSpPr>
          <p:nvPr>
            <p:ph type="title"/>
          </p:nvPr>
        </p:nvSpPr>
        <p:spPr>
          <a:xfrm>
            <a:off x="960016" y="774347"/>
            <a:ext cx="7957820" cy="1386205"/>
          </a:xfrm>
          <a:prstGeom prst="rect">
            <a:avLst/>
          </a:prstGeom>
        </p:spPr>
        <p:txBody>
          <a:bodyPr vert="horz" wrap="square" lIns="0" tIns="12700" rIns="0" bIns="0" rtlCol="0">
            <a:spAutoFit/>
          </a:bodyPr>
          <a:lstStyle/>
          <a:p>
            <a:pPr marL="12700">
              <a:lnSpc>
                <a:spcPts val="5265"/>
              </a:lnSpc>
              <a:spcBef>
                <a:spcPts val="100"/>
              </a:spcBef>
            </a:pPr>
            <a:r>
              <a:rPr sz="4650" spc="-175" dirty="0">
                <a:solidFill>
                  <a:srgbClr val="2879AF"/>
                </a:solidFill>
              </a:rPr>
              <a:t>Le</a:t>
            </a:r>
            <a:r>
              <a:rPr sz="4650" spc="-150" dirty="0">
                <a:solidFill>
                  <a:srgbClr val="2879AF"/>
                </a:solidFill>
              </a:rPr>
              <a:t> </a:t>
            </a:r>
            <a:r>
              <a:rPr sz="4650" spc="-20" dirty="0">
                <a:solidFill>
                  <a:srgbClr val="2B77AC"/>
                </a:solidFill>
              </a:rPr>
              <a:t>Défi</a:t>
            </a:r>
            <a:r>
              <a:rPr sz="4650" spc="-300" dirty="0">
                <a:solidFill>
                  <a:srgbClr val="2B77AC"/>
                </a:solidFill>
              </a:rPr>
              <a:t> </a:t>
            </a:r>
            <a:r>
              <a:rPr sz="4650" dirty="0">
                <a:solidFill>
                  <a:srgbClr val="2677AF"/>
                </a:solidFill>
              </a:rPr>
              <a:t>de</a:t>
            </a:r>
            <a:r>
              <a:rPr sz="4650" spc="-325" dirty="0">
                <a:solidFill>
                  <a:srgbClr val="2677AF"/>
                </a:solidFill>
              </a:rPr>
              <a:t> </a:t>
            </a:r>
            <a:r>
              <a:rPr sz="4650" spc="-50" dirty="0">
                <a:solidFill>
                  <a:srgbClr val="3680B1"/>
                </a:solidFill>
              </a:rPr>
              <a:t>la</a:t>
            </a:r>
            <a:r>
              <a:rPr sz="4650" spc="-270" dirty="0">
                <a:solidFill>
                  <a:srgbClr val="3680B1"/>
                </a:solidFill>
              </a:rPr>
              <a:t> </a:t>
            </a:r>
            <a:r>
              <a:rPr sz="4650" spc="-100" dirty="0">
                <a:solidFill>
                  <a:srgbClr val="2D77A8"/>
                </a:solidFill>
              </a:rPr>
              <a:t>Santé</a:t>
            </a:r>
            <a:r>
              <a:rPr sz="4650" spc="-220" dirty="0">
                <a:solidFill>
                  <a:srgbClr val="2D77A8"/>
                </a:solidFill>
              </a:rPr>
              <a:t> </a:t>
            </a:r>
            <a:r>
              <a:rPr sz="4650" spc="-25" dirty="0">
                <a:solidFill>
                  <a:srgbClr val="2A80BC"/>
                </a:solidFill>
              </a:rPr>
              <a:t>Moderne</a:t>
            </a:r>
            <a:r>
              <a:rPr sz="4650" spc="-235" dirty="0">
                <a:solidFill>
                  <a:srgbClr val="2A80BC"/>
                </a:solidFill>
              </a:rPr>
              <a:t> </a:t>
            </a:r>
            <a:r>
              <a:rPr sz="4650" spc="-50" dirty="0">
                <a:solidFill>
                  <a:srgbClr val="2F82B3"/>
                </a:solidFill>
              </a:rPr>
              <a:t>:</a:t>
            </a:r>
            <a:endParaRPr sz="4650" dirty="0"/>
          </a:p>
          <a:p>
            <a:pPr marL="15875">
              <a:lnSpc>
                <a:spcPts val="5445"/>
              </a:lnSpc>
            </a:pPr>
            <a:r>
              <a:rPr sz="4800" spc="-114" dirty="0">
                <a:solidFill>
                  <a:srgbClr val="1D1D1D"/>
                </a:solidFill>
              </a:rPr>
              <a:t>Surmonter</a:t>
            </a:r>
            <a:r>
              <a:rPr sz="4800" spc="-170" dirty="0">
                <a:solidFill>
                  <a:srgbClr val="1D1D1D"/>
                </a:solidFill>
              </a:rPr>
              <a:t> </a:t>
            </a:r>
            <a:r>
              <a:rPr sz="4800" spc="-125" dirty="0">
                <a:solidFill>
                  <a:srgbClr val="1A1A1A"/>
                </a:solidFill>
              </a:rPr>
              <a:t>la</a:t>
            </a:r>
            <a:r>
              <a:rPr sz="4800" spc="-210" dirty="0">
                <a:solidFill>
                  <a:srgbClr val="1A1A1A"/>
                </a:solidFill>
              </a:rPr>
              <a:t> </a:t>
            </a:r>
            <a:r>
              <a:rPr sz="4800" spc="-155" dirty="0">
                <a:solidFill>
                  <a:srgbClr val="1C1C1C"/>
                </a:solidFill>
              </a:rPr>
              <a:t>Gestion</a:t>
            </a:r>
            <a:r>
              <a:rPr sz="4800" spc="-180" dirty="0">
                <a:solidFill>
                  <a:srgbClr val="1C1C1C"/>
                </a:solidFill>
              </a:rPr>
              <a:t> </a:t>
            </a:r>
            <a:r>
              <a:rPr sz="4800" spc="-110" dirty="0">
                <a:solidFill>
                  <a:srgbClr val="1C1C1C"/>
                </a:solidFill>
              </a:rPr>
              <a:t>Manuelle</a:t>
            </a:r>
            <a:endParaRPr sz="4800" dirty="0"/>
          </a:p>
        </p:txBody>
      </p:sp>
      <p:sp>
        <p:nvSpPr>
          <p:cNvPr id="9" name="object 9"/>
          <p:cNvSpPr txBox="1"/>
          <p:nvPr/>
        </p:nvSpPr>
        <p:spPr>
          <a:xfrm>
            <a:off x="967316" y="2664882"/>
            <a:ext cx="7747000" cy="1676400"/>
          </a:xfrm>
          <a:prstGeom prst="rect">
            <a:avLst/>
          </a:prstGeom>
          <a:ln w="12700">
            <a:solidFill>
              <a:srgbClr val="44708C"/>
            </a:solidFill>
          </a:ln>
        </p:spPr>
        <p:txBody>
          <a:bodyPr vert="horz" wrap="square" lIns="0" tIns="218440" rIns="0" bIns="0" rtlCol="0">
            <a:spAutoFit/>
          </a:bodyPr>
          <a:lstStyle/>
          <a:p>
            <a:pPr marL="273685" marR="645160" indent="-2540">
              <a:lnSpc>
                <a:spcPct val="89800"/>
              </a:lnSpc>
              <a:spcBef>
                <a:spcPts val="1720"/>
              </a:spcBef>
            </a:pPr>
            <a:r>
              <a:rPr sz="2900" spc="-65" dirty="0">
                <a:solidFill>
                  <a:srgbClr val="0A1A28"/>
                </a:solidFill>
                <a:latin typeface="Calibri"/>
                <a:cs typeface="Calibri"/>
              </a:rPr>
              <a:t>L'augmentation</a:t>
            </a:r>
            <a:r>
              <a:rPr sz="2900" spc="-170" dirty="0">
                <a:solidFill>
                  <a:srgbClr val="0A1A28"/>
                </a:solidFill>
                <a:latin typeface="Calibri"/>
                <a:cs typeface="Calibri"/>
              </a:rPr>
              <a:t> </a:t>
            </a:r>
            <a:r>
              <a:rPr sz="2900" dirty="0">
                <a:solidFill>
                  <a:srgbClr val="031624"/>
                </a:solidFill>
                <a:latin typeface="Calibri"/>
                <a:cs typeface="Calibri"/>
              </a:rPr>
              <a:t>du</a:t>
            </a:r>
            <a:r>
              <a:rPr sz="2900" spc="-165" dirty="0">
                <a:solidFill>
                  <a:srgbClr val="031624"/>
                </a:solidFill>
                <a:latin typeface="Calibri"/>
                <a:cs typeface="Calibri"/>
              </a:rPr>
              <a:t> </a:t>
            </a:r>
            <a:r>
              <a:rPr sz="2900" spc="-55" dirty="0">
                <a:solidFill>
                  <a:srgbClr val="081F2D"/>
                </a:solidFill>
                <a:latin typeface="Calibri"/>
                <a:cs typeface="Calibri"/>
              </a:rPr>
              <a:t>volume</a:t>
            </a:r>
            <a:r>
              <a:rPr sz="2900" spc="-60" dirty="0">
                <a:solidFill>
                  <a:srgbClr val="081F2D"/>
                </a:solidFill>
                <a:latin typeface="Calibri"/>
                <a:cs typeface="Calibri"/>
              </a:rPr>
              <a:t> </a:t>
            </a:r>
            <a:r>
              <a:rPr sz="2900" dirty="0">
                <a:solidFill>
                  <a:srgbClr val="011626"/>
                </a:solidFill>
                <a:latin typeface="Calibri"/>
                <a:cs typeface="Calibri"/>
              </a:rPr>
              <a:t>de</a:t>
            </a:r>
            <a:r>
              <a:rPr sz="2900" spc="-160" dirty="0">
                <a:solidFill>
                  <a:srgbClr val="011626"/>
                </a:solidFill>
                <a:latin typeface="Calibri"/>
                <a:cs typeface="Calibri"/>
              </a:rPr>
              <a:t> </a:t>
            </a:r>
            <a:r>
              <a:rPr sz="2900" spc="-20" dirty="0">
                <a:solidFill>
                  <a:srgbClr val="000F1D"/>
                </a:solidFill>
                <a:latin typeface="Calibri"/>
                <a:cs typeface="Calibri"/>
              </a:rPr>
              <a:t>patients</a:t>
            </a:r>
            <a:r>
              <a:rPr sz="2900" spc="30" dirty="0">
                <a:solidFill>
                  <a:srgbClr val="000F1D"/>
                </a:solidFill>
                <a:latin typeface="Calibri"/>
                <a:cs typeface="Calibri"/>
              </a:rPr>
              <a:t> </a:t>
            </a:r>
            <a:r>
              <a:rPr sz="2900" spc="-20" dirty="0">
                <a:solidFill>
                  <a:srgbClr val="03182A"/>
                </a:solidFill>
                <a:latin typeface="Calibri"/>
                <a:cs typeface="Calibri"/>
              </a:rPr>
              <a:t>et</a:t>
            </a:r>
            <a:r>
              <a:rPr sz="2900" spc="-130" dirty="0">
                <a:solidFill>
                  <a:srgbClr val="03182A"/>
                </a:solidFill>
                <a:latin typeface="Calibri"/>
                <a:cs typeface="Calibri"/>
              </a:rPr>
              <a:t> </a:t>
            </a:r>
            <a:r>
              <a:rPr sz="2900" spc="-25" dirty="0">
                <a:solidFill>
                  <a:srgbClr val="00111F"/>
                </a:solidFill>
                <a:latin typeface="Calibri"/>
                <a:cs typeface="Calibri"/>
              </a:rPr>
              <a:t>la </a:t>
            </a:r>
            <a:r>
              <a:rPr sz="2900" spc="-35" dirty="0">
                <a:solidFill>
                  <a:srgbClr val="031623"/>
                </a:solidFill>
                <a:latin typeface="Calibri"/>
                <a:cs typeface="Calibri"/>
              </a:rPr>
              <a:t>complexité </a:t>
            </a:r>
            <a:r>
              <a:rPr sz="2900" dirty="0">
                <a:solidFill>
                  <a:srgbClr val="031A28"/>
                </a:solidFill>
                <a:latin typeface="Calibri"/>
                <a:cs typeface="Calibri"/>
              </a:rPr>
              <a:t>des</a:t>
            </a:r>
            <a:r>
              <a:rPr sz="2900" spc="-155" dirty="0">
                <a:solidFill>
                  <a:srgbClr val="031A28"/>
                </a:solidFill>
                <a:latin typeface="Calibri"/>
                <a:cs typeface="Calibri"/>
              </a:rPr>
              <a:t> </a:t>
            </a:r>
            <a:r>
              <a:rPr sz="2900" spc="-50" dirty="0">
                <a:solidFill>
                  <a:srgbClr val="071D2B"/>
                </a:solidFill>
                <a:latin typeface="Calibri"/>
                <a:cs typeface="Calibri"/>
              </a:rPr>
              <a:t>données</a:t>
            </a:r>
            <a:r>
              <a:rPr sz="2900" spc="-114" dirty="0">
                <a:solidFill>
                  <a:srgbClr val="071D2B"/>
                </a:solidFill>
                <a:latin typeface="Calibri"/>
                <a:cs typeface="Calibri"/>
              </a:rPr>
              <a:t> </a:t>
            </a:r>
            <a:r>
              <a:rPr sz="2900" spc="-40" dirty="0">
                <a:solidFill>
                  <a:srgbClr val="051826"/>
                </a:solidFill>
                <a:latin typeface="Calibri"/>
                <a:cs typeface="Calibri"/>
              </a:rPr>
              <a:t>médicales</a:t>
            </a:r>
            <a:r>
              <a:rPr sz="2900" spc="-90" dirty="0">
                <a:solidFill>
                  <a:srgbClr val="051826"/>
                </a:solidFill>
                <a:latin typeface="Calibri"/>
                <a:cs typeface="Calibri"/>
              </a:rPr>
              <a:t> </a:t>
            </a:r>
            <a:r>
              <a:rPr sz="2900" spc="-35" dirty="0">
                <a:solidFill>
                  <a:srgbClr val="011624"/>
                </a:solidFill>
                <a:latin typeface="Calibri"/>
                <a:cs typeface="Calibri"/>
              </a:rPr>
              <a:t>rendent</a:t>
            </a:r>
            <a:r>
              <a:rPr sz="2900" spc="-85" dirty="0">
                <a:solidFill>
                  <a:srgbClr val="011624"/>
                </a:solidFill>
                <a:latin typeface="Calibri"/>
                <a:cs typeface="Calibri"/>
              </a:rPr>
              <a:t> </a:t>
            </a:r>
            <a:r>
              <a:rPr sz="2900" spc="-25" dirty="0">
                <a:solidFill>
                  <a:srgbClr val="001628"/>
                </a:solidFill>
                <a:latin typeface="Calibri"/>
                <a:cs typeface="Calibri"/>
              </a:rPr>
              <a:t>les </a:t>
            </a:r>
            <a:r>
              <a:rPr sz="2900" spc="-30" dirty="0">
                <a:solidFill>
                  <a:srgbClr val="1C1C1C"/>
                </a:solidFill>
                <a:latin typeface="Calibri"/>
                <a:cs typeface="Calibri"/>
              </a:rPr>
              <a:t>systèmes</a:t>
            </a:r>
            <a:r>
              <a:rPr sz="2900" spc="-85" dirty="0">
                <a:solidFill>
                  <a:srgbClr val="1C1C1C"/>
                </a:solidFill>
                <a:latin typeface="Calibri"/>
                <a:cs typeface="Calibri"/>
              </a:rPr>
              <a:t> </a:t>
            </a:r>
            <a:r>
              <a:rPr sz="2900" spc="-50" dirty="0">
                <a:solidFill>
                  <a:srgbClr val="011623"/>
                </a:solidFill>
                <a:latin typeface="Calibri"/>
                <a:cs typeface="Calibri"/>
              </a:rPr>
              <a:t>manuels</a:t>
            </a:r>
            <a:r>
              <a:rPr sz="2900" spc="-95" dirty="0">
                <a:solidFill>
                  <a:srgbClr val="011623"/>
                </a:solidFill>
                <a:latin typeface="Calibri"/>
                <a:cs typeface="Calibri"/>
              </a:rPr>
              <a:t> </a:t>
            </a:r>
            <a:r>
              <a:rPr sz="2900" spc="-25" dirty="0">
                <a:solidFill>
                  <a:srgbClr val="0A1F2D"/>
                </a:solidFill>
                <a:latin typeface="Calibri"/>
                <a:cs typeface="Calibri"/>
              </a:rPr>
              <a:t>obsolètes</a:t>
            </a:r>
            <a:r>
              <a:rPr sz="2900" spc="-40" dirty="0">
                <a:solidFill>
                  <a:srgbClr val="0A1F2D"/>
                </a:solidFill>
                <a:latin typeface="Calibri"/>
                <a:cs typeface="Calibri"/>
              </a:rPr>
              <a:t> </a:t>
            </a:r>
            <a:r>
              <a:rPr sz="2900" dirty="0">
                <a:solidFill>
                  <a:srgbClr val="1F1F1F"/>
                </a:solidFill>
                <a:latin typeface="Calibri"/>
                <a:cs typeface="Calibri"/>
              </a:rPr>
              <a:t>et</a:t>
            </a:r>
            <a:r>
              <a:rPr sz="2900" spc="-160" dirty="0">
                <a:solidFill>
                  <a:srgbClr val="1F1F1F"/>
                </a:solidFill>
                <a:latin typeface="Calibri"/>
                <a:cs typeface="Calibri"/>
              </a:rPr>
              <a:t> </a:t>
            </a:r>
            <a:r>
              <a:rPr sz="2900" spc="-10" dirty="0">
                <a:solidFill>
                  <a:srgbClr val="3F505E"/>
                </a:solidFill>
                <a:latin typeface="Calibri"/>
                <a:cs typeface="Calibri"/>
              </a:rPr>
              <a:t>risqués.</a:t>
            </a:r>
            <a:endParaRPr sz="2900">
              <a:latin typeface="Calibri"/>
              <a:cs typeface="Calibri"/>
            </a:endParaRPr>
          </a:p>
        </p:txBody>
      </p:sp>
      <p:sp>
        <p:nvSpPr>
          <p:cNvPr id="10" name="object 10"/>
          <p:cNvSpPr txBox="1"/>
          <p:nvPr/>
        </p:nvSpPr>
        <p:spPr>
          <a:xfrm>
            <a:off x="2317555" y="4903611"/>
            <a:ext cx="6053455" cy="3838871"/>
          </a:xfrm>
          <a:prstGeom prst="rect">
            <a:avLst/>
          </a:prstGeom>
        </p:spPr>
        <p:txBody>
          <a:bodyPr vert="horz" wrap="square" lIns="0" tIns="17145" rIns="0" bIns="0" rtlCol="0">
            <a:spAutoFit/>
          </a:bodyPr>
          <a:lstStyle/>
          <a:p>
            <a:pPr marL="285115" indent="-271145">
              <a:lnSpc>
                <a:spcPts val="3035"/>
              </a:lnSpc>
              <a:spcBef>
                <a:spcPts val="135"/>
              </a:spcBef>
              <a:buChar char="•"/>
              <a:tabLst>
                <a:tab pos="285115" algn="l"/>
              </a:tabLst>
            </a:pPr>
            <a:r>
              <a:rPr sz="2600" spc="-25" dirty="0" err="1">
                <a:latin typeface="Arial MT"/>
                <a:cs typeface="Arial MT"/>
              </a:rPr>
              <a:t>Perte</a:t>
            </a:r>
            <a:r>
              <a:rPr sz="2600" spc="-75" dirty="0">
                <a:latin typeface="Arial MT"/>
                <a:cs typeface="Arial MT"/>
              </a:rPr>
              <a:t> </a:t>
            </a:r>
            <a:r>
              <a:rPr sz="2600" dirty="0">
                <a:latin typeface="Arial MT"/>
                <a:cs typeface="Arial MT"/>
              </a:rPr>
              <a:t>d</a:t>
            </a:r>
            <a:r>
              <a:rPr lang="fr-FR" sz="2600" dirty="0">
                <a:latin typeface="Arial MT"/>
                <a:cs typeface="Arial MT"/>
              </a:rPr>
              <a:t>'</a:t>
            </a:r>
            <a:r>
              <a:rPr sz="2600" dirty="0" err="1">
                <a:latin typeface="Arial MT"/>
                <a:cs typeface="Arial MT"/>
              </a:rPr>
              <a:t>nformations</a:t>
            </a:r>
            <a:r>
              <a:rPr sz="2600" spc="250" dirty="0">
                <a:latin typeface="Arial MT"/>
                <a:cs typeface="Arial MT"/>
              </a:rPr>
              <a:t> </a:t>
            </a:r>
            <a:r>
              <a:rPr sz="2600" dirty="0">
                <a:latin typeface="Arial MT"/>
                <a:cs typeface="Arial MT"/>
              </a:rPr>
              <a:t>:</a:t>
            </a:r>
            <a:r>
              <a:rPr sz="2600" spc="-85" dirty="0">
                <a:latin typeface="Arial MT"/>
                <a:cs typeface="Arial MT"/>
              </a:rPr>
              <a:t> </a:t>
            </a:r>
            <a:r>
              <a:rPr sz="2600" spc="-120" dirty="0">
                <a:latin typeface="Arial MT"/>
                <a:cs typeface="Arial MT"/>
              </a:rPr>
              <a:t>Risque</a:t>
            </a:r>
            <a:r>
              <a:rPr sz="2600" spc="245" dirty="0">
                <a:latin typeface="Arial MT"/>
                <a:cs typeface="Arial MT"/>
              </a:rPr>
              <a:t> </a:t>
            </a:r>
            <a:r>
              <a:rPr sz="2600" spc="-10" dirty="0">
                <a:latin typeface="Arial MT"/>
                <a:cs typeface="Arial MT"/>
              </a:rPr>
              <a:t>élevé</a:t>
            </a:r>
            <a:endParaRPr sz="2600" dirty="0">
              <a:latin typeface="Arial MT"/>
              <a:cs typeface="Arial MT"/>
            </a:endParaRPr>
          </a:p>
          <a:p>
            <a:pPr marL="299720">
              <a:lnSpc>
                <a:spcPts val="2975"/>
              </a:lnSpc>
            </a:pPr>
            <a:r>
              <a:rPr sz="2550" spc="-30" dirty="0">
                <a:latin typeface="Arial MT"/>
                <a:cs typeface="Arial MT"/>
              </a:rPr>
              <a:t>d'erreurs </a:t>
            </a:r>
            <a:r>
              <a:rPr sz="2550" dirty="0">
                <a:latin typeface="Arial MT"/>
                <a:cs typeface="Arial MT"/>
              </a:rPr>
              <a:t>de</a:t>
            </a:r>
            <a:r>
              <a:rPr sz="2550" spc="-95" dirty="0">
                <a:latin typeface="Arial MT"/>
                <a:cs typeface="Arial MT"/>
              </a:rPr>
              <a:t> </a:t>
            </a:r>
            <a:r>
              <a:rPr sz="2550" spc="-50" dirty="0">
                <a:latin typeface="Arial MT"/>
                <a:cs typeface="Arial MT"/>
              </a:rPr>
              <a:t>saisie</a:t>
            </a:r>
            <a:r>
              <a:rPr sz="2550" spc="-30" dirty="0">
                <a:latin typeface="Arial MT"/>
                <a:cs typeface="Arial MT"/>
              </a:rPr>
              <a:t> </a:t>
            </a:r>
            <a:r>
              <a:rPr sz="2550" dirty="0">
                <a:latin typeface="Arial MT"/>
                <a:cs typeface="Arial MT"/>
              </a:rPr>
              <a:t>et</a:t>
            </a:r>
            <a:r>
              <a:rPr sz="2550" spc="-120" dirty="0">
                <a:latin typeface="Arial MT"/>
                <a:cs typeface="Arial MT"/>
              </a:rPr>
              <a:t> </a:t>
            </a:r>
            <a:r>
              <a:rPr sz="2550" dirty="0">
                <a:latin typeface="Arial MT"/>
                <a:cs typeface="Arial MT"/>
              </a:rPr>
              <a:t>de</a:t>
            </a:r>
            <a:r>
              <a:rPr sz="2550" spc="-100" dirty="0">
                <a:latin typeface="Arial MT"/>
                <a:cs typeface="Arial MT"/>
              </a:rPr>
              <a:t> </a:t>
            </a:r>
            <a:r>
              <a:rPr sz="2550" spc="-35" dirty="0">
                <a:latin typeface="Arial MT"/>
                <a:cs typeface="Arial MT"/>
              </a:rPr>
              <a:t>dossiers</a:t>
            </a:r>
            <a:r>
              <a:rPr sz="2550" spc="-65" dirty="0">
                <a:latin typeface="Arial MT"/>
                <a:cs typeface="Arial MT"/>
              </a:rPr>
              <a:t> </a:t>
            </a:r>
            <a:r>
              <a:rPr sz="2550" spc="-10" dirty="0">
                <a:latin typeface="Arial MT"/>
                <a:cs typeface="Arial MT"/>
              </a:rPr>
              <a:t>égarés.</a:t>
            </a:r>
            <a:endParaRPr sz="2550" dirty="0">
              <a:latin typeface="Arial MT"/>
              <a:cs typeface="Arial MT"/>
            </a:endParaRPr>
          </a:p>
          <a:p>
            <a:pPr>
              <a:lnSpc>
                <a:spcPct val="100000"/>
              </a:lnSpc>
              <a:spcBef>
                <a:spcPts val="1960"/>
              </a:spcBef>
            </a:pPr>
            <a:endParaRPr sz="2550" dirty="0">
              <a:latin typeface="Arial MT"/>
              <a:cs typeface="Arial MT"/>
            </a:endParaRPr>
          </a:p>
          <a:p>
            <a:pPr marL="294005" marR="1295400" indent="-280670">
              <a:lnSpc>
                <a:spcPts val="3000"/>
              </a:lnSpc>
              <a:buChar char="•"/>
              <a:tabLst>
                <a:tab pos="297815" algn="l"/>
              </a:tabLst>
            </a:pPr>
            <a:r>
              <a:rPr sz="2700" spc="-25" dirty="0">
                <a:latin typeface="Arial MT"/>
                <a:cs typeface="Arial MT"/>
              </a:rPr>
              <a:t>Conflits</a:t>
            </a:r>
            <a:r>
              <a:rPr sz="2700" spc="-165" dirty="0">
                <a:latin typeface="Arial MT"/>
                <a:cs typeface="Arial MT"/>
              </a:rPr>
              <a:t> </a:t>
            </a:r>
            <a:r>
              <a:rPr sz="2700" spc="-50" dirty="0">
                <a:latin typeface="Arial MT"/>
                <a:cs typeface="Arial MT"/>
              </a:rPr>
              <a:t>d'horaires</a:t>
            </a:r>
            <a:r>
              <a:rPr sz="2700" spc="-135" dirty="0">
                <a:latin typeface="Arial MT"/>
                <a:cs typeface="Arial MT"/>
              </a:rPr>
              <a:t> </a:t>
            </a:r>
            <a:r>
              <a:rPr sz="2700" spc="65" dirty="0">
                <a:latin typeface="Arial MT"/>
                <a:cs typeface="Arial MT"/>
              </a:rPr>
              <a:t>:</a:t>
            </a:r>
            <a:r>
              <a:rPr sz="2700" spc="-229" dirty="0">
                <a:latin typeface="Arial MT"/>
                <a:cs typeface="Arial MT"/>
              </a:rPr>
              <a:t> </a:t>
            </a:r>
            <a:r>
              <a:rPr sz="2700" spc="-155" dirty="0">
                <a:latin typeface="Arial MT"/>
                <a:cs typeface="Arial MT"/>
              </a:rPr>
              <a:t>Manque</a:t>
            </a:r>
            <a:r>
              <a:rPr sz="2700" spc="30" dirty="0">
                <a:latin typeface="Arial MT"/>
                <a:cs typeface="Arial MT"/>
              </a:rPr>
              <a:t> </a:t>
            </a:r>
            <a:r>
              <a:rPr sz="2700" spc="-80" dirty="0">
                <a:latin typeface="Arial MT"/>
                <a:cs typeface="Arial MT"/>
              </a:rPr>
              <a:t>de 	</a:t>
            </a:r>
            <a:r>
              <a:rPr sz="2700" spc="-95" dirty="0">
                <a:latin typeface="Arial MT"/>
                <a:cs typeface="Arial MT"/>
              </a:rPr>
              <a:t>coordination</a:t>
            </a:r>
            <a:r>
              <a:rPr sz="2700" spc="-10" dirty="0">
                <a:latin typeface="Arial MT"/>
                <a:cs typeface="Arial MT"/>
              </a:rPr>
              <a:t> </a:t>
            </a:r>
            <a:r>
              <a:rPr sz="2700" spc="-85" dirty="0">
                <a:latin typeface="Arial MT"/>
                <a:cs typeface="Arial MT"/>
              </a:rPr>
              <a:t>entre</a:t>
            </a:r>
            <a:r>
              <a:rPr sz="2700" spc="-105" dirty="0">
                <a:latin typeface="Arial MT"/>
                <a:cs typeface="Arial MT"/>
              </a:rPr>
              <a:t> </a:t>
            </a:r>
            <a:r>
              <a:rPr sz="2700" spc="-70" dirty="0">
                <a:latin typeface="Arial MT"/>
                <a:cs typeface="Arial MT"/>
              </a:rPr>
              <a:t>les</a:t>
            </a:r>
            <a:r>
              <a:rPr sz="2700" spc="-100" dirty="0">
                <a:latin typeface="Arial MT"/>
                <a:cs typeface="Arial MT"/>
              </a:rPr>
              <a:t> </a:t>
            </a:r>
            <a:r>
              <a:rPr sz="2700" spc="-10" dirty="0">
                <a:latin typeface="Arial MT"/>
                <a:cs typeface="Arial MT"/>
              </a:rPr>
              <a:t>services 	</a:t>
            </a:r>
            <a:r>
              <a:rPr sz="2750" spc="-90" dirty="0">
                <a:latin typeface="Arial MT"/>
                <a:cs typeface="Arial MT"/>
              </a:rPr>
              <a:t>administratifs</a:t>
            </a:r>
            <a:r>
              <a:rPr sz="2750" spc="-170" dirty="0">
                <a:latin typeface="Arial MT"/>
                <a:cs typeface="Arial MT"/>
              </a:rPr>
              <a:t> </a:t>
            </a:r>
            <a:r>
              <a:rPr sz="2750" spc="-55" dirty="0">
                <a:latin typeface="Arial MT"/>
                <a:cs typeface="Arial MT"/>
              </a:rPr>
              <a:t>et</a:t>
            </a:r>
            <a:r>
              <a:rPr sz="2750" spc="-60" dirty="0">
                <a:latin typeface="Arial MT"/>
                <a:cs typeface="Arial MT"/>
              </a:rPr>
              <a:t> médicaux.</a:t>
            </a:r>
            <a:endParaRPr sz="2750" dirty="0">
              <a:latin typeface="Arial MT"/>
              <a:cs typeface="Arial MT"/>
            </a:endParaRPr>
          </a:p>
          <a:p>
            <a:pPr>
              <a:lnSpc>
                <a:spcPct val="100000"/>
              </a:lnSpc>
              <a:spcBef>
                <a:spcPts val="145"/>
              </a:spcBef>
              <a:buFont typeface="Arial MT"/>
              <a:buChar char="•"/>
            </a:pPr>
            <a:endParaRPr sz="2700" dirty="0">
              <a:latin typeface="Arial MT"/>
              <a:cs typeface="Arial MT"/>
            </a:endParaRPr>
          </a:p>
          <a:p>
            <a:pPr marL="277495" indent="-264795">
              <a:lnSpc>
                <a:spcPts val="3185"/>
              </a:lnSpc>
              <a:buChar char="•"/>
              <a:tabLst>
                <a:tab pos="277495" algn="l"/>
              </a:tabLst>
            </a:pPr>
            <a:r>
              <a:rPr sz="2850" spc="-90" dirty="0">
                <a:latin typeface="Arial MT"/>
                <a:cs typeface="Arial MT"/>
              </a:rPr>
              <a:t>Inefficacité</a:t>
            </a:r>
            <a:r>
              <a:rPr sz="2850" spc="-70" dirty="0">
                <a:latin typeface="Arial MT"/>
                <a:cs typeface="Arial MT"/>
              </a:rPr>
              <a:t> </a:t>
            </a:r>
            <a:r>
              <a:rPr sz="2850" dirty="0">
                <a:latin typeface="Arial MT"/>
                <a:cs typeface="Arial MT"/>
              </a:rPr>
              <a:t>:</a:t>
            </a:r>
            <a:r>
              <a:rPr sz="2850" spc="-254" dirty="0">
                <a:latin typeface="Arial MT"/>
                <a:cs typeface="Arial MT"/>
              </a:rPr>
              <a:t> </a:t>
            </a:r>
            <a:r>
              <a:rPr sz="2850" spc="-215" dirty="0">
                <a:latin typeface="Arial MT"/>
                <a:cs typeface="Arial MT"/>
              </a:rPr>
              <a:t>Perte</a:t>
            </a:r>
            <a:r>
              <a:rPr sz="2850" spc="-5" dirty="0">
                <a:latin typeface="Arial MT"/>
                <a:cs typeface="Arial MT"/>
              </a:rPr>
              <a:t> </a:t>
            </a:r>
            <a:r>
              <a:rPr sz="2850" spc="-195" dirty="0">
                <a:latin typeface="Arial MT"/>
                <a:cs typeface="Arial MT"/>
              </a:rPr>
              <a:t>de</a:t>
            </a:r>
            <a:r>
              <a:rPr sz="2850" spc="-45" dirty="0">
                <a:latin typeface="Arial MT"/>
                <a:cs typeface="Arial MT"/>
              </a:rPr>
              <a:t> </a:t>
            </a:r>
            <a:r>
              <a:rPr sz="2850" spc="-225" dirty="0">
                <a:latin typeface="Arial MT"/>
                <a:cs typeface="Arial MT"/>
              </a:rPr>
              <a:t>temps</a:t>
            </a:r>
            <a:r>
              <a:rPr sz="2850" spc="125" dirty="0">
                <a:latin typeface="Arial MT"/>
                <a:cs typeface="Arial MT"/>
              </a:rPr>
              <a:t> </a:t>
            </a:r>
            <a:r>
              <a:rPr sz="2850" spc="-125" dirty="0">
                <a:latin typeface="Arial MT"/>
                <a:cs typeface="Arial MT"/>
              </a:rPr>
              <a:t>significative</a:t>
            </a:r>
            <a:endParaRPr sz="2850" dirty="0">
              <a:latin typeface="Arial MT"/>
              <a:cs typeface="Arial MT"/>
            </a:endParaRPr>
          </a:p>
          <a:p>
            <a:pPr marL="298450">
              <a:lnSpc>
                <a:spcPts val="3245"/>
              </a:lnSpc>
            </a:pPr>
            <a:r>
              <a:rPr sz="2900" spc="-300" dirty="0">
                <a:latin typeface="Arial MT"/>
                <a:cs typeface="Arial MT"/>
              </a:rPr>
              <a:t>dans</a:t>
            </a:r>
            <a:r>
              <a:rPr sz="2900" dirty="0">
                <a:latin typeface="Arial MT"/>
                <a:cs typeface="Arial MT"/>
              </a:rPr>
              <a:t> </a:t>
            </a:r>
            <a:r>
              <a:rPr sz="2900" spc="-235" dirty="0">
                <a:latin typeface="Arial MT"/>
                <a:cs typeface="Arial MT"/>
              </a:rPr>
              <a:t>la</a:t>
            </a:r>
            <a:r>
              <a:rPr sz="2900" spc="-75" dirty="0">
                <a:latin typeface="Arial MT"/>
                <a:cs typeface="Arial MT"/>
              </a:rPr>
              <a:t> </a:t>
            </a:r>
            <a:r>
              <a:rPr sz="2900" spc="-155" dirty="0">
                <a:latin typeface="Arial MT"/>
                <a:cs typeface="Arial MT"/>
              </a:rPr>
              <a:t>traçabilité</a:t>
            </a:r>
            <a:r>
              <a:rPr sz="2900" spc="5" dirty="0">
                <a:latin typeface="Arial MT"/>
                <a:cs typeface="Arial MT"/>
              </a:rPr>
              <a:t> </a:t>
            </a:r>
            <a:r>
              <a:rPr sz="2900" spc="-240" dirty="0">
                <a:latin typeface="Arial MT"/>
                <a:cs typeface="Arial MT"/>
              </a:rPr>
              <a:t>des</a:t>
            </a:r>
            <a:r>
              <a:rPr sz="2900" spc="-85" dirty="0">
                <a:latin typeface="Arial MT"/>
                <a:cs typeface="Arial MT"/>
              </a:rPr>
              <a:t> </a:t>
            </a:r>
            <a:r>
              <a:rPr sz="2900" spc="-95" dirty="0">
                <a:latin typeface="Arial MT"/>
                <a:cs typeface="Arial MT"/>
              </a:rPr>
              <a:t>dossiers.</a:t>
            </a:r>
            <a:endParaRPr sz="2900" dirty="0">
              <a:latin typeface="Arial MT"/>
              <a:cs typeface="Arial MT"/>
            </a:endParaRPr>
          </a:p>
        </p:txBody>
      </p:sp>
      <p:grpSp>
        <p:nvGrpSpPr>
          <p:cNvPr id="14" name="Group 2">
            <a:extLst>
              <a:ext uri="{FF2B5EF4-FFF2-40B4-BE49-F238E27FC236}">
                <a16:creationId xmlns:a16="http://schemas.microsoft.com/office/drawing/2014/main" id="{8DD9681F-8EF1-4A82-A230-E7E4B96CF765}"/>
              </a:ext>
            </a:extLst>
          </p:cNvPr>
          <p:cNvGrpSpPr/>
          <p:nvPr/>
        </p:nvGrpSpPr>
        <p:grpSpPr>
          <a:xfrm>
            <a:off x="0" y="9051073"/>
            <a:ext cx="17475200" cy="686135"/>
            <a:chOff x="0" y="0"/>
            <a:chExt cx="4816593" cy="348089"/>
          </a:xfrm>
        </p:grpSpPr>
        <p:sp>
          <p:nvSpPr>
            <p:cNvPr id="15" name="Freeform 3">
              <a:extLst>
                <a:ext uri="{FF2B5EF4-FFF2-40B4-BE49-F238E27FC236}">
                  <a16:creationId xmlns:a16="http://schemas.microsoft.com/office/drawing/2014/main" id="{BD49E59B-5E33-4012-A88B-381A22D913DE}"/>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6" name="TextBox 4">
              <a:extLst>
                <a:ext uri="{FF2B5EF4-FFF2-40B4-BE49-F238E27FC236}">
                  <a16:creationId xmlns:a16="http://schemas.microsoft.com/office/drawing/2014/main" id="{4FE722FF-8EF1-48FA-8927-5B35C21E8AAF}"/>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41500" y="2197100"/>
            <a:ext cx="5981700" cy="5359400"/>
          </a:xfrm>
          <a:prstGeom prst="rect">
            <a:avLst/>
          </a:prstGeom>
        </p:spPr>
      </p:pic>
      <p:sp>
        <p:nvSpPr>
          <p:cNvPr id="6" name="object 6"/>
          <p:cNvSpPr txBox="1">
            <a:spLocks noGrp="1"/>
          </p:cNvSpPr>
          <p:nvPr>
            <p:ph type="title"/>
          </p:nvPr>
        </p:nvSpPr>
        <p:spPr>
          <a:xfrm>
            <a:off x="958905" y="493888"/>
            <a:ext cx="15508745" cy="906729"/>
          </a:xfrm>
          <a:prstGeom prst="rect">
            <a:avLst/>
          </a:prstGeom>
        </p:spPr>
        <p:txBody>
          <a:bodyPr vert="horz" wrap="square" lIns="0" tIns="242640" rIns="0" bIns="0" rtlCol="0">
            <a:spAutoFit/>
          </a:bodyPr>
          <a:lstStyle/>
          <a:p>
            <a:pPr marL="13970">
              <a:lnSpc>
                <a:spcPct val="100000"/>
              </a:lnSpc>
              <a:spcBef>
                <a:spcPts val="105"/>
              </a:spcBef>
            </a:pPr>
            <a:r>
              <a:rPr sz="4300" spc="100" dirty="0">
                <a:solidFill>
                  <a:srgbClr val="2F75A1"/>
                </a:solidFill>
              </a:rPr>
              <a:t>Une</a:t>
            </a:r>
            <a:r>
              <a:rPr sz="4300" spc="-100" dirty="0">
                <a:solidFill>
                  <a:srgbClr val="2F75A1"/>
                </a:solidFill>
              </a:rPr>
              <a:t> </a:t>
            </a:r>
            <a:r>
              <a:rPr sz="4300" spc="160" dirty="0">
                <a:solidFill>
                  <a:srgbClr val="347CA5"/>
                </a:solidFill>
              </a:rPr>
              <a:t>Plateforme</a:t>
            </a:r>
            <a:r>
              <a:rPr sz="4300" spc="254" dirty="0">
                <a:solidFill>
                  <a:srgbClr val="347CA5"/>
                </a:solidFill>
              </a:rPr>
              <a:t> </a:t>
            </a:r>
            <a:r>
              <a:rPr sz="4300" spc="150" dirty="0">
                <a:solidFill>
                  <a:srgbClr val="2D74A1"/>
                </a:solidFill>
              </a:rPr>
              <a:t>Centralisée</a:t>
            </a:r>
            <a:r>
              <a:rPr sz="4300" spc="235" dirty="0">
                <a:solidFill>
                  <a:srgbClr val="2D74A1"/>
                </a:solidFill>
              </a:rPr>
              <a:t> </a:t>
            </a:r>
            <a:r>
              <a:rPr sz="4300" spc="215" dirty="0">
                <a:solidFill>
                  <a:srgbClr val="2F749E"/>
                </a:solidFill>
              </a:rPr>
              <a:t>pour</a:t>
            </a:r>
            <a:r>
              <a:rPr sz="4300" spc="140" dirty="0">
                <a:solidFill>
                  <a:srgbClr val="2F749E"/>
                </a:solidFill>
              </a:rPr>
              <a:t> </a:t>
            </a:r>
            <a:r>
              <a:rPr sz="4300" spc="185" dirty="0">
                <a:solidFill>
                  <a:srgbClr val="2D749E"/>
                </a:solidFill>
              </a:rPr>
              <a:t>une</a:t>
            </a:r>
            <a:r>
              <a:rPr sz="4300" spc="-185" dirty="0">
                <a:solidFill>
                  <a:srgbClr val="2D749E"/>
                </a:solidFill>
              </a:rPr>
              <a:t> </a:t>
            </a:r>
            <a:r>
              <a:rPr sz="4300" spc="170" dirty="0">
                <a:solidFill>
                  <a:srgbClr val="317EAA"/>
                </a:solidFill>
              </a:rPr>
              <a:t>Clinique</a:t>
            </a:r>
            <a:r>
              <a:rPr sz="4300" spc="185" dirty="0">
                <a:solidFill>
                  <a:srgbClr val="317EAA"/>
                </a:solidFill>
              </a:rPr>
              <a:t> </a:t>
            </a:r>
            <a:endParaRPr sz="4300" dirty="0"/>
          </a:p>
        </p:txBody>
      </p:sp>
      <p:sp>
        <p:nvSpPr>
          <p:cNvPr id="7" name="object 7"/>
          <p:cNvSpPr txBox="1"/>
          <p:nvPr/>
        </p:nvSpPr>
        <p:spPr>
          <a:xfrm>
            <a:off x="1372105" y="7644341"/>
            <a:ext cx="2226310" cy="438150"/>
          </a:xfrm>
          <a:prstGeom prst="rect">
            <a:avLst/>
          </a:prstGeom>
        </p:spPr>
        <p:txBody>
          <a:bodyPr vert="horz" wrap="square" lIns="0" tIns="13335" rIns="0" bIns="0" rtlCol="0">
            <a:spAutoFit/>
          </a:bodyPr>
          <a:lstStyle/>
          <a:p>
            <a:pPr marL="12700">
              <a:lnSpc>
                <a:spcPct val="100000"/>
              </a:lnSpc>
              <a:spcBef>
                <a:spcPts val="105"/>
              </a:spcBef>
            </a:pPr>
            <a:r>
              <a:rPr sz="2700" spc="-10" dirty="0">
                <a:solidFill>
                  <a:srgbClr val="080808"/>
                </a:solidFill>
                <a:latin typeface="Arial MT"/>
                <a:cs typeface="Arial MT"/>
              </a:rPr>
              <a:t>Administration</a:t>
            </a:r>
            <a:endParaRPr sz="2700">
              <a:latin typeface="Arial MT"/>
              <a:cs typeface="Arial MT"/>
            </a:endParaRPr>
          </a:p>
        </p:txBody>
      </p:sp>
      <p:sp>
        <p:nvSpPr>
          <p:cNvPr id="8" name="object 8"/>
          <p:cNvSpPr txBox="1"/>
          <p:nvPr/>
        </p:nvSpPr>
        <p:spPr>
          <a:xfrm>
            <a:off x="4951860" y="3472391"/>
            <a:ext cx="1231265" cy="438150"/>
          </a:xfrm>
          <a:prstGeom prst="rect">
            <a:avLst/>
          </a:prstGeom>
        </p:spPr>
        <p:txBody>
          <a:bodyPr vert="horz" wrap="square" lIns="0" tIns="13335" rIns="0" bIns="0" rtlCol="0">
            <a:spAutoFit/>
          </a:bodyPr>
          <a:lstStyle/>
          <a:p>
            <a:pPr marL="12700">
              <a:lnSpc>
                <a:spcPct val="100000"/>
              </a:lnSpc>
              <a:spcBef>
                <a:spcPts val="105"/>
              </a:spcBef>
            </a:pPr>
            <a:r>
              <a:rPr sz="2700" spc="-35" dirty="0">
                <a:solidFill>
                  <a:srgbClr val="0E0E0E"/>
                </a:solidFill>
                <a:latin typeface="Arial MT"/>
                <a:cs typeface="Arial MT"/>
              </a:rPr>
              <a:t>Patients</a:t>
            </a:r>
            <a:endParaRPr sz="2700">
              <a:latin typeface="Arial MT"/>
              <a:cs typeface="Arial MT"/>
            </a:endParaRPr>
          </a:p>
        </p:txBody>
      </p:sp>
      <p:sp>
        <p:nvSpPr>
          <p:cNvPr id="9" name="object 9"/>
          <p:cNvSpPr txBox="1"/>
          <p:nvPr/>
        </p:nvSpPr>
        <p:spPr>
          <a:xfrm>
            <a:off x="6438117" y="7635522"/>
            <a:ext cx="1475105" cy="448945"/>
          </a:xfrm>
          <a:prstGeom prst="rect">
            <a:avLst/>
          </a:prstGeom>
        </p:spPr>
        <p:txBody>
          <a:bodyPr vert="horz" wrap="square" lIns="0" tIns="15875" rIns="0" bIns="0" rtlCol="0">
            <a:spAutoFit/>
          </a:bodyPr>
          <a:lstStyle/>
          <a:p>
            <a:pPr marL="12700">
              <a:lnSpc>
                <a:spcPct val="100000"/>
              </a:lnSpc>
              <a:spcBef>
                <a:spcPts val="125"/>
              </a:spcBef>
            </a:pPr>
            <a:r>
              <a:rPr sz="2750" spc="-45" dirty="0">
                <a:solidFill>
                  <a:srgbClr val="0C0C0C"/>
                </a:solidFill>
                <a:latin typeface="Arial MT"/>
                <a:cs typeface="Arial MT"/>
              </a:rPr>
              <a:t>Médecins</a:t>
            </a:r>
            <a:endParaRPr sz="2750">
              <a:latin typeface="Arial MT"/>
              <a:cs typeface="Arial MT"/>
            </a:endParaRPr>
          </a:p>
        </p:txBody>
      </p:sp>
      <p:sp>
        <p:nvSpPr>
          <p:cNvPr id="10" name="object 10"/>
          <p:cNvSpPr txBox="1"/>
          <p:nvPr/>
        </p:nvSpPr>
        <p:spPr>
          <a:xfrm>
            <a:off x="9831620" y="2391330"/>
            <a:ext cx="5965190" cy="1678939"/>
          </a:xfrm>
          <a:prstGeom prst="rect">
            <a:avLst/>
          </a:prstGeom>
        </p:spPr>
        <p:txBody>
          <a:bodyPr vert="horz" wrap="square" lIns="0" tIns="167640" rIns="0" bIns="0" rtlCol="0">
            <a:spAutoFit/>
          </a:bodyPr>
          <a:lstStyle/>
          <a:p>
            <a:pPr marL="12700">
              <a:lnSpc>
                <a:spcPct val="100000"/>
              </a:lnSpc>
              <a:spcBef>
                <a:spcPts val="1320"/>
              </a:spcBef>
            </a:pPr>
            <a:r>
              <a:rPr sz="3550" spc="-100" dirty="0">
                <a:solidFill>
                  <a:srgbClr val="347CAA"/>
                </a:solidFill>
                <a:latin typeface="Arial MT"/>
                <a:cs typeface="Arial MT"/>
              </a:rPr>
              <a:t>1.</a:t>
            </a:r>
            <a:r>
              <a:rPr sz="3550" spc="-270" dirty="0">
                <a:solidFill>
                  <a:srgbClr val="347CAA"/>
                </a:solidFill>
                <a:latin typeface="Arial MT"/>
                <a:cs typeface="Arial MT"/>
              </a:rPr>
              <a:t> </a:t>
            </a:r>
            <a:r>
              <a:rPr sz="3550" spc="120" dirty="0">
                <a:solidFill>
                  <a:srgbClr val="2F759E"/>
                </a:solidFill>
                <a:latin typeface="Arial MT"/>
                <a:cs typeface="Arial MT"/>
              </a:rPr>
              <a:t>Centralisation</a:t>
            </a:r>
            <a:endParaRPr sz="3550">
              <a:latin typeface="Arial MT"/>
              <a:cs typeface="Arial MT"/>
            </a:endParaRPr>
          </a:p>
          <a:p>
            <a:pPr marL="35560">
              <a:lnSpc>
                <a:spcPts val="3150"/>
              </a:lnSpc>
              <a:spcBef>
                <a:spcPts val="990"/>
              </a:spcBef>
            </a:pPr>
            <a:r>
              <a:rPr sz="2750" spc="-85" dirty="0">
                <a:solidFill>
                  <a:srgbClr val="131313"/>
                </a:solidFill>
                <a:latin typeface="Arial MT"/>
                <a:cs typeface="Arial MT"/>
              </a:rPr>
              <a:t>Base</a:t>
            </a:r>
            <a:r>
              <a:rPr sz="2750" spc="-105" dirty="0">
                <a:solidFill>
                  <a:srgbClr val="131313"/>
                </a:solidFill>
                <a:latin typeface="Arial MT"/>
                <a:cs typeface="Arial MT"/>
              </a:rPr>
              <a:t> </a:t>
            </a:r>
            <a:r>
              <a:rPr sz="2750" dirty="0">
                <a:solidFill>
                  <a:srgbClr val="1C1C1C"/>
                </a:solidFill>
                <a:latin typeface="Arial MT"/>
                <a:cs typeface="Arial MT"/>
              </a:rPr>
              <a:t>de</a:t>
            </a:r>
            <a:r>
              <a:rPr sz="2750" spc="-90" dirty="0">
                <a:solidFill>
                  <a:srgbClr val="1C1C1C"/>
                </a:solidFill>
                <a:latin typeface="Arial MT"/>
                <a:cs typeface="Arial MT"/>
              </a:rPr>
              <a:t> </a:t>
            </a:r>
            <a:r>
              <a:rPr sz="2750" spc="-25" dirty="0">
                <a:solidFill>
                  <a:srgbClr val="0A0A0A"/>
                </a:solidFill>
                <a:latin typeface="Arial MT"/>
                <a:cs typeface="Arial MT"/>
              </a:rPr>
              <a:t>données</a:t>
            </a:r>
            <a:r>
              <a:rPr sz="2750" spc="-70" dirty="0">
                <a:solidFill>
                  <a:srgbClr val="0A0A0A"/>
                </a:solidFill>
                <a:latin typeface="Arial MT"/>
                <a:cs typeface="Arial MT"/>
              </a:rPr>
              <a:t> </a:t>
            </a:r>
            <a:r>
              <a:rPr sz="2750" spc="-20" dirty="0">
                <a:solidFill>
                  <a:srgbClr val="161616"/>
                </a:solidFill>
                <a:latin typeface="Arial MT"/>
                <a:cs typeface="Arial MT"/>
              </a:rPr>
              <a:t>unique</a:t>
            </a:r>
            <a:r>
              <a:rPr sz="2750" spc="-85" dirty="0">
                <a:solidFill>
                  <a:srgbClr val="161616"/>
                </a:solidFill>
                <a:latin typeface="Arial MT"/>
                <a:cs typeface="Arial MT"/>
              </a:rPr>
              <a:t> </a:t>
            </a:r>
            <a:r>
              <a:rPr sz="2750" dirty="0">
                <a:solidFill>
                  <a:srgbClr val="161616"/>
                </a:solidFill>
                <a:latin typeface="Arial MT"/>
                <a:cs typeface="Arial MT"/>
              </a:rPr>
              <a:t>pour</a:t>
            </a:r>
            <a:r>
              <a:rPr sz="2750" spc="-95" dirty="0">
                <a:solidFill>
                  <a:srgbClr val="161616"/>
                </a:solidFill>
                <a:latin typeface="Arial MT"/>
                <a:cs typeface="Arial MT"/>
              </a:rPr>
              <a:t> </a:t>
            </a:r>
            <a:r>
              <a:rPr sz="2750" spc="-10" dirty="0">
                <a:solidFill>
                  <a:srgbClr val="151515"/>
                </a:solidFill>
                <a:latin typeface="Arial MT"/>
                <a:cs typeface="Arial MT"/>
              </a:rPr>
              <a:t>patients,</a:t>
            </a:r>
            <a:endParaRPr sz="2750">
              <a:latin typeface="Arial MT"/>
              <a:cs typeface="Arial MT"/>
            </a:endParaRPr>
          </a:p>
          <a:p>
            <a:pPr marL="36195">
              <a:lnSpc>
                <a:spcPts val="3390"/>
              </a:lnSpc>
            </a:pPr>
            <a:r>
              <a:rPr sz="2950" spc="-145" dirty="0">
                <a:solidFill>
                  <a:srgbClr val="0E0E0E"/>
                </a:solidFill>
                <a:latin typeface="Arial MT"/>
                <a:cs typeface="Arial MT"/>
              </a:rPr>
              <a:t>médecins</a:t>
            </a:r>
            <a:r>
              <a:rPr sz="2950" spc="-60" dirty="0">
                <a:solidFill>
                  <a:srgbClr val="0E0E0E"/>
                </a:solidFill>
                <a:latin typeface="Arial MT"/>
                <a:cs typeface="Arial MT"/>
              </a:rPr>
              <a:t> </a:t>
            </a:r>
            <a:r>
              <a:rPr sz="2950" spc="-10" dirty="0">
                <a:solidFill>
                  <a:srgbClr val="111111"/>
                </a:solidFill>
                <a:latin typeface="Arial MT"/>
                <a:cs typeface="Arial MT"/>
              </a:rPr>
              <a:t>et</a:t>
            </a:r>
            <a:r>
              <a:rPr sz="2950" spc="-145" dirty="0">
                <a:solidFill>
                  <a:srgbClr val="111111"/>
                </a:solidFill>
                <a:latin typeface="Arial MT"/>
                <a:cs typeface="Arial MT"/>
              </a:rPr>
              <a:t> </a:t>
            </a:r>
            <a:r>
              <a:rPr sz="2950" spc="-430" dirty="0">
                <a:solidFill>
                  <a:srgbClr val="111111"/>
                </a:solidFill>
                <a:latin typeface="Arial MT"/>
                <a:cs typeface="Arial MT"/>
              </a:rPr>
              <a:t>RDV.</a:t>
            </a:r>
            <a:endParaRPr sz="2950">
              <a:latin typeface="Arial MT"/>
              <a:cs typeface="Arial MT"/>
            </a:endParaRPr>
          </a:p>
        </p:txBody>
      </p:sp>
      <p:sp>
        <p:nvSpPr>
          <p:cNvPr id="11" name="object 11"/>
          <p:cNvSpPr txBox="1"/>
          <p:nvPr/>
        </p:nvSpPr>
        <p:spPr>
          <a:xfrm>
            <a:off x="9856232" y="4366453"/>
            <a:ext cx="6594475" cy="1653539"/>
          </a:xfrm>
          <a:prstGeom prst="rect">
            <a:avLst/>
          </a:prstGeom>
        </p:spPr>
        <p:txBody>
          <a:bodyPr vert="horz" wrap="square" lIns="0" tIns="135255" rIns="0" bIns="0" rtlCol="0">
            <a:spAutoFit/>
          </a:bodyPr>
          <a:lstStyle/>
          <a:p>
            <a:pPr marL="22860">
              <a:lnSpc>
                <a:spcPct val="100000"/>
              </a:lnSpc>
              <a:spcBef>
                <a:spcPts val="1065"/>
              </a:spcBef>
            </a:pPr>
            <a:r>
              <a:rPr sz="3600" dirty="0">
                <a:solidFill>
                  <a:srgbClr val="2A75A1"/>
                </a:solidFill>
                <a:latin typeface="Arial MT"/>
                <a:cs typeface="Arial MT"/>
              </a:rPr>
              <a:t>2.</a:t>
            </a:r>
            <a:r>
              <a:rPr sz="3600" spc="-305" dirty="0">
                <a:solidFill>
                  <a:srgbClr val="2A75A1"/>
                </a:solidFill>
                <a:latin typeface="Arial MT"/>
                <a:cs typeface="Arial MT"/>
              </a:rPr>
              <a:t> </a:t>
            </a:r>
            <a:r>
              <a:rPr sz="3600" spc="65" dirty="0">
                <a:solidFill>
                  <a:srgbClr val="3679A3"/>
                </a:solidFill>
                <a:latin typeface="Arial MT"/>
                <a:cs typeface="Arial MT"/>
              </a:rPr>
              <a:t>Fiabilité</a:t>
            </a:r>
            <a:endParaRPr sz="3600">
              <a:latin typeface="Arial MT"/>
              <a:cs typeface="Arial MT"/>
            </a:endParaRPr>
          </a:p>
          <a:p>
            <a:pPr marL="12700" marR="5080" indent="2540">
              <a:lnSpc>
                <a:spcPts val="3150"/>
              </a:lnSpc>
              <a:spcBef>
                <a:spcPts val="1260"/>
              </a:spcBef>
            </a:pPr>
            <a:r>
              <a:rPr sz="2950" spc="-114" dirty="0">
                <a:solidFill>
                  <a:srgbClr val="0F0F0F"/>
                </a:solidFill>
                <a:latin typeface="Arial MT"/>
                <a:cs typeface="Arial MT"/>
              </a:rPr>
              <a:t>Traçabilité</a:t>
            </a:r>
            <a:r>
              <a:rPr sz="2950" spc="-95" dirty="0">
                <a:solidFill>
                  <a:srgbClr val="0F0F0F"/>
                </a:solidFill>
                <a:latin typeface="Arial MT"/>
                <a:cs typeface="Arial MT"/>
              </a:rPr>
              <a:t> </a:t>
            </a:r>
            <a:r>
              <a:rPr sz="2950" spc="-85" dirty="0">
                <a:solidFill>
                  <a:srgbClr val="111111"/>
                </a:solidFill>
                <a:latin typeface="Arial MT"/>
                <a:cs typeface="Arial MT"/>
              </a:rPr>
              <a:t>totale</a:t>
            </a:r>
            <a:r>
              <a:rPr sz="2950" spc="-120" dirty="0">
                <a:solidFill>
                  <a:srgbClr val="111111"/>
                </a:solidFill>
                <a:latin typeface="Arial MT"/>
                <a:cs typeface="Arial MT"/>
              </a:rPr>
              <a:t> </a:t>
            </a:r>
            <a:r>
              <a:rPr sz="2950" spc="-95" dirty="0">
                <a:solidFill>
                  <a:srgbClr val="1A1A1A"/>
                </a:solidFill>
                <a:latin typeface="Arial MT"/>
                <a:cs typeface="Arial MT"/>
              </a:rPr>
              <a:t>de</a:t>
            </a:r>
            <a:r>
              <a:rPr sz="2950" spc="-110" dirty="0">
                <a:solidFill>
                  <a:srgbClr val="1A1A1A"/>
                </a:solidFill>
                <a:latin typeface="Arial MT"/>
                <a:cs typeface="Arial MT"/>
              </a:rPr>
              <a:t> </a:t>
            </a:r>
            <a:r>
              <a:rPr sz="2950" spc="-85" dirty="0">
                <a:solidFill>
                  <a:srgbClr val="111111"/>
                </a:solidFill>
                <a:latin typeface="Arial MT"/>
                <a:cs typeface="Arial MT"/>
              </a:rPr>
              <a:t>l'entrée</a:t>
            </a:r>
            <a:r>
              <a:rPr sz="2950" spc="-60" dirty="0">
                <a:solidFill>
                  <a:srgbClr val="111111"/>
                </a:solidFill>
                <a:latin typeface="Arial MT"/>
                <a:cs typeface="Arial MT"/>
              </a:rPr>
              <a:t> </a:t>
            </a:r>
            <a:r>
              <a:rPr sz="2950" spc="-190" dirty="0">
                <a:solidFill>
                  <a:srgbClr val="1D1D1D"/>
                </a:solidFill>
                <a:latin typeface="Arial MT"/>
                <a:cs typeface="Arial MT"/>
              </a:rPr>
              <a:t>du</a:t>
            </a:r>
            <a:r>
              <a:rPr sz="2950" spc="-40" dirty="0">
                <a:solidFill>
                  <a:srgbClr val="1D1D1D"/>
                </a:solidFill>
                <a:latin typeface="Arial MT"/>
                <a:cs typeface="Arial MT"/>
              </a:rPr>
              <a:t> </a:t>
            </a:r>
            <a:r>
              <a:rPr sz="2950" spc="-75" dirty="0">
                <a:solidFill>
                  <a:srgbClr val="0A0A0A"/>
                </a:solidFill>
                <a:latin typeface="Arial MT"/>
                <a:cs typeface="Arial MT"/>
              </a:rPr>
              <a:t>patient</a:t>
            </a:r>
            <a:r>
              <a:rPr sz="2950" spc="10" dirty="0">
                <a:solidFill>
                  <a:srgbClr val="0A0A0A"/>
                </a:solidFill>
                <a:latin typeface="Arial MT"/>
                <a:cs typeface="Arial MT"/>
              </a:rPr>
              <a:t> </a:t>
            </a:r>
            <a:r>
              <a:rPr sz="2950" spc="-280" dirty="0">
                <a:solidFill>
                  <a:srgbClr val="1A1A1A"/>
                </a:solidFill>
                <a:latin typeface="Arial MT"/>
                <a:cs typeface="Arial MT"/>
              </a:rPr>
              <a:t>à</a:t>
            </a:r>
            <a:r>
              <a:rPr sz="2950" spc="30" dirty="0">
                <a:solidFill>
                  <a:srgbClr val="1A1A1A"/>
                </a:solidFill>
                <a:latin typeface="Arial MT"/>
                <a:cs typeface="Arial MT"/>
              </a:rPr>
              <a:t> </a:t>
            </a:r>
            <a:r>
              <a:rPr sz="2950" spc="-330" dirty="0">
                <a:solidFill>
                  <a:srgbClr val="131313"/>
                </a:solidFill>
                <a:latin typeface="Arial MT"/>
                <a:cs typeface="Arial MT"/>
              </a:rPr>
              <a:t>sa </a:t>
            </a:r>
            <a:r>
              <a:rPr sz="2950" spc="-10" dirty="0">
                <a:solidFill>
                  <a:srgbClr val="0F0F0F"/>
                </a:solidFill>
                <a:latin typeface="Arial MT"/>
                <a:cs typeface="Arial MT"/>
              </a:rPr>
              <a:t>sortie.</a:t>
            </a:r>
            <a:endParaRPr sz="2950">
              <a:latin typeface="Arial MT"/>
              <a:cs typeface="Arial MT"/>
            </a:endParaRPr>
          </a:p>
        </p:txBody>
      </p:sp>
      <p:sp>
        <p:nvSpPr>
          <p:cNvPr id="12" name="object 12"/>
          <p:cNvSpPr txBox="1"/>
          <p:nvPr/>
        </p:nvSpPr>
        <p:spPr>
          <a:xfrm>
            <a:off x="9849125" y="6288484"/>
            <a:ext cx="6530340" cy="1671955"/>
          </a:xfrm>
          <a:prstGeom prst="rect">
            <a:avLst/>
          </a:prstGeom>
        </p:spPr>
        <p:txBody>
          <a:bodyPr vert="horz" wrap="square" lIns="0" tIns="175895" rIns="0" bIns="0" rtlCol="0">
            <a:spAutoFit/>
          </a:bodyPr>
          <a:lstStyle/>
          <a:p>
            <a:pPr marL="24765">
              <a:lnSpc>
                <a:spcPct val="100000"/>
              </a:lnSpc>
              <a:spcBef>
                <a:spcPts val="1385"/>
              </a:spcBef>
            </a:pPr>
            <a:r>
              <a:rPr sz="3550" spc="130" dirty="0">
                <a:solidFill>
                  <a:srgbClr val="2F7CAA"/>
                </a:solidFill>
                <a:latin typeface="Arial MT"/>
                <a:cs typeface="Arial MT"/>
              </a:rPr>
              <a:t>3.</a:t>
            </a:r>
            <a:r>
              <a:rPr sz="3550" spc="-345" dirty="0">
                <a:solidFill>
                  <a:srgbClr val="2F7CAA"/>
                </a:solidFill>
                <a:latin typeface="Arial MT"/>
                <a:cs typeface="Arial MT"/>
              </a:rPr>
              <a:t> </a:t>
            </a:r>
            <a:r>
              <a:rPr sz="3550" spc="80" dirty="0">
                <a:solidFill>
                  <a:srgbClr val="2B75A1"/>
                </a:solidFill>
                <a:latin typeface="Arial MT"/>
                <a:cs typeface="Arial MT"/>
              </a:rPr>
              <a:t>Sécurité</a:t>
            </a:r>
            <a:endParaRPr sz="3550">
              <a:latin typeface="Arial MT"/>
              <a:cs typeface="Arial MT"/>
            </a:endParaRPr>
          </a:p>
          <a:p>
            <a:pPr marL="12700">
              <a:lnSpc>
                <a:spcPts val="3275"/>
              </a:lnSpc>
              <a:spcBef>
                <a:spcPts val="1040"/>
              </a:spcBef>
            </a:pPr>
            <a:r>
              <a:rPr sz="2750" spc="-25" dirty="0">
                <a:solidFill>
                  <a:srgbClr val="0E0E0E"/>
                </a:solidFill>
                <a:latin typeface="Arial MT"/>
                <a:cs typeface="Arial MT"/>
              </a:rPr>
              <a:t>Gestion</a:t>
            </a:r>
            <a:r>
              <a:rPr sz="2750" spc="85" dirty="0">
                <a:solidFill>
                  <a:srgbClr val="0E0E0E"/>
                </a:solidFill>
                <a:latin typeface="Arial MT"/>
                <a:cs typeface="Arial MT"/>
              </a:rPr>
              <a:t> </a:t>
            </a:r>
            <a:r>
              <a:rPr sz="2750" dirty="0">
                <a:solidFill>
                  <a:srgbClr val="111111"/>
                </a:solidFill>
                <a:latin typeface="Arial MT"/>
                <a:cs typeface="Arial MT"/>
              </a:rPr>
              <a:t>stricte</a:t>
            </a:r>
            <a:r>
              <a:rPr sz="2750" spc="-80" dirty="0">
                <a:solidFill>
                  <a:srgbClr val="111111"/>
                </a:solidFill>
                <a:latin typeface="Arial MT"/>
                <a:cs typeface="Arial MT"/>
              </a:rPr>
              <a:t> </a:t>
            </a:r>
            <a:r>
              <a:rPr sz="2750" dirty="0">
                <a:solidFill>
                  <a:srgbClr val="131313"/>
                </a:solidFill>
                <a:latin typeface="Arial MT"/>
                <a:cs typeface="Arial MT"/>
              </a:rPr>
              <a:t>des</a:t>
            </a:r>
            <a:r>
              <a:rPr sz="2750" spc="-130" dirty="0">
                <a:solidFill>
                  <a:srgbClr val="131313"/>
                </a:solidFill>
                <a:latin typeface="Arial MT"/>
                <a:cs typeface="Arial MT"/>
              </a:rPr>
              <a:t> </a:t>
            </a:r>
            <a:r>
              <a:rPr sz="2750" spc="-10" dirty="0">
                <a:solidFill>
                  <a:srgbClr val="131313"/>
                </a:solidFill>
                <a:latin typeface="Arial MT"/>
                <a:cs typeface="Arial MT"/>
              </a:rPr>
              <a:t>accès</a:t>
            </a:r>
            <a:r>
              <a:rPr sz="2750" spc="20" dirty="0">
                <a:solidFill>
                  <a:srgbClr val="131313"/>
                </a:solidFill>
                <a:latin typeface="Arial MT"/>
                <a:cs typeface="Arial MT"/>
              </a:rPr>
              <a:t> </a:t>
            </a:r>
            <a:r>
              <a:rPr sz="2750" dirty="0">
                <a:solidFill>
                  <a:srgbClr val="181818"/>
                </a:solidFill>
                <a:latin typeface="Arial MT"/>
                <a:cs typeface="Arial MT"/>
              </a:rPr>
              <a:t>et</a:t>
            </a:r>
            <a:r>
              <a:rPr sz="2750" spc="-35" dirty="0">
                <a:solidFill>
                  <a:srgbClr val="181818"/>
                </a:solidFill>
                <a:latin typeface="Arial MT"/>
                <a:cs typeface="Arial MT"/>
              </a:rPr>
              <a:t> </a:t>
            </a:r>
            <a:r>
              <a:rPr sz="2750" spc="-10" dirty="0">
                <a:solidFill>
                  <a:srgbClr val="111111"/>
                </a:solidFill>
                <a:latin typeface="Arial MT"/>
                <a:cs typeface="Arial MT"/>
              </a:rPr>
              <a:t>confidentialité</a:t>
            </a:r>
            <a:endParaRPr sz="2750">
              <a:latin typeface="Arial MT"/>
              <a:cs typeface="Arial MT"/>
            </a:endParaRPr>
          </a:p>
          <a:p>
            <a:pPr marL="19685">
              <a:lnSpc>
                <a:spcPts val="3095"/>
              </a:lnSpc>
            </a:pPr>
            <a:r>
              <a:rPr sz="2600" dirty="0">
                <a:solidFill>
                  <a:srgbClr val="131313"/>
                </a:solidFill>
                <a:latin typeface="Arial MT"/>
                <a:cs typeface="Arial MT"/>
              </a:rPr>
              <a:t>des</a:t>
            </a:r>
            <a:r>
              <a:rPr sz="2600" spc="160" dirty="0">
                <a:solidFill>
                  <a:srgbClr val="131313"/>
                </a:solidFill>
                <a:latin typeface="Arial MT"/>
                <a:cs typeface="Arial MT"/>
              </a:rPr>
              <a:t> </a:t>
            </a:r>
            <a:r>
              <a:rPr sz="2600" spc="-10" dirty="0">
                <a:solidFill>
                  <a:srgbClr val="111111"/>
                </a:solidFill>
                <a:latin typeface="Arial MT"/>
                <a:cs typeface="Arial MT"/>
              </a:rPr>
              <a:t>données.</a:t>
            </a:r>
            <a:endParaRPr sz="2600">
              <a:latin typeface="Arial MT"/>
              <a:cs typeface="Arial MT"/>
            </a:endParaRPr>
          </a:p>
        </p:txBody>
      </p:sp>
      <p:grpSp>
        <p:nvGrpSpPr>
          <p:cNvPr id="16" name="Group 2">
            <a:extLst>
              <a:ext uri="{FF2B5EF4-FFF2-40B4-BE49-F238E27FC236}">
                <a16:creationId xmlns:a16="http://schemas.microsoft.com/office/drawing/2014/main" id="{72D80CD0-4E9A-4425-A3E9-DACD89C6B00F}"/>
              </a:ext>
            </a:extLst>
          </p:cNvPr>
          <p:cNvGrpSpPr/>
          <p:nvPr/>
        </p:nvGrpSpPr>
        <p:grpSpPr>
          <a:xfrm>
            <a:off x="0" y="9051073"/>
            <a:ext cx="17475200" cy="686135"/>
            <a:chOff x="0" y="0"/>
            <a:chExt cx="4816593" cy="348089"/>
          </a:xfrm>
        </p:grpSpPr>
        <p:sp>
          <p:nvSpPr>
            <p:cNvPr id="17" name="Freeform 3">
              <a:extLst>
                <a:ext uri="{FF2B5EF4-FFF2-40B4-BE49-F238E27FC236}">
                  <a16:creationId xmlns:a16="http://schemas.microsoft.com/office/drawing/2014/main" id="{71645FD6-8083-420A-85E3-9F45E85948FE}"/>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8" name="TextBox 4">
              <a:extLst>
                <a:ext uri="{FF2B5EF4-FFF2-40B4-BE49-F238E27FC236}">
                  <a16:creationId xmlns:a16="http://schemas.microsoft.com/office/drawing/2014/main" id="{0B0D118E-89B1-4DD0-877C-57E27CA966F4}"/>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9800" y="2717800"/>
            <a:ext cx="2247900" cy="2362200"/>
          </a:xfrm>
          <a:prstGeom prst="rect">
            <a:avLst/>
          </a:prstGeom>
        </p:spPr>
      </p:pic>
      <p:pic>
        <p:nvPicPr>
          <p:cNvPr id="3" name="object 3"/>
          <p:cNvPicPr/>
          <p:nvPr/>
        </p:nvPicPr>
        <p:blipFill>
          <a:blip r:embed="rId3" cstate="print"/>
          <a:stretch>
            <a:fillRect/>
          </a:stretch>
        </p:blipFill>
        <p:spPr>
          <a:xfrm>
            <a:off x="7594600" y="2755900"/>
            <a:ext cx="2286000" cy="2273300"/>
          </a:xfrm>
          <a:prstGeom prst="rect">
            <a:avLst/>
          </a:prstGeom>
        </p:spPr>
      </p:pic>
      <p:pic>
        <p:nvPicPr>
          <p:cNvPr id="4" name="object 4"/>
          <p:cNvPicPr/>
          <p:nvPr/>
        </p:nvPicPr>
        <p:blipFill>
          <a:blip r:embed="rId4" cstate="print"/>
          <a:stretch>
            <a:fillRect/>
          </a:stretch>
        </p:blipFill>
        <p:spPr>
          <a:xfrm>
            <a:off x="13017500" y="2743200"/>
            <a:ext cx="2273300" cy="2298700"/>
          </a:xfrm>
          <a:prstGeom prst="rect">
            <a:avLst/>
          </a:prstGeom>
        </p:spPr>
      </p:pic>
      <p:sp>
        <p:nvSpPr>
          <p:cNvPr id="5" name="object 5"/>
          <p:cNvSpPr txBox="1">
            <a:spLocks noGrp="1"/>
          </p:cNvSpPr>
          <p:nvPr>
            <p:ph type="title"/>
          </p:nvPr>
        </p:nvSpPr>
        <p:spPr>
          <a:prstGeom prst="rect">
            <a:avLst/>
          </a:prstGeom>
        </p:spPr>
        <p:txBody>
          <a:bodyPr vert="horz" wrap="square" lIns="0" tIns="147461" rIns="0" bIns="0" rtlCol="0">
            <a:spAutoFit/>
          </a:bodyPr>
          <a:lstStyle/>
          <a:p>
            <a:pPr marL="327660">
              <a:lnSpc>
                <a:spcPct val="100000"/>
              </a:lnSpc>
              <a:spcBef>
                <a:spcPts val="100"/>
              </a:spcBef>
            </a:pPr>
            <a:r>
              <a:rPr sz="5000" dirty="0">
                <a:solidFill>
                  <a:srgbClr val="2475AA"/>
                </a:solidFill>
              </a:rPr>
              <a:t>L'Arsenal</a:t>
            </a:r>
            <a:r>
              <a:rPr sz="5000" spc="80" dirty="0">
                <a:solidFill>
                  <a:srgbClr val="2475AA"/>
                </a:solidFill>
              </a:rPr>
              <a:t> </a:t>
            </a:r>
            <a:r>
              <a:rPr sz="5000" spc="95" dirty="0">
                <a:solidFill>
                  <a:srgbClr val="2F7BAC"/>
                </a:solidFill>
              </a:rPr>
              <a:t>Technologique</a:t>
            </a:r>
            <a:r>
              <a:rPr sz="5000" spc="175" dirty="0">
                <a:solidFill>
                  <a:srgbClr val="2F7BAC"/>
                </a:solidFill>
              </a:rPr>
              <a:t> </a:t>
            </a:r>
            <a:r>
              <a:rPr sz="5000" spc="55" dirty="0">
                <a:solidFill>
                  <a:srgbClr val="216EA1"/>
                </a:solidFill>
              </a:rPr>
              <a:t>:</a:t>
            </a:r>
            <a:r>
              <a:rPr sz="5000" spc="-265" dirty="0">
                <a:solidFill>
                  <a:srgbClr val="216EA1"/>
                </a:solidFill>
              </a:rPr>
              <a:t> </a:t>
            </a:r>
            <a:r>
              <a:rPr sz="5000" spc="95" dirty="0">
                <a:solidFill>
                  <a:srgbClr val="2170A1"/>
                </a:solidFill>
              </a:rPr>
              <a:t>Performance</a:t>
            </a:r>
            <a:r>
              <a:rPr sz="5000" spc="260" dirty="0">
                <a:solidFill>
                  <a:srgbClr val="2170A1"/>
                </a:solidFill>
              </a:rPr>
              <a:t> </a:t>
            </a:r>
            <a:r>
              <a:rPr sz="5000" spc="180" dirty="0">
                <a:solidFill>
                  <a:srgbClr val="2374A5"/>
                </a:solidFill>
              </a:rPr>
              <a:t>et</a:t>
            </a:r>
            <a:r>
              <a:rPr sz="5000" spc="-170" dirty="0">
                <a:solidFill>
                  <a:srgbClr val="2374A5"/>
                </a:solidFill>
              </a:rPr>
              <a:t> </a:t>
            </a:r>
            <a:r>
              <a:rPr sz="5000" spc="120" dirty="0">
                <a:solidFill>
                  <a:srgbClr val="2877AC"/>
                </a:solidFill>
              </a:rPr>
              <a:t>Sécurité</a:t>
            </a:r>
            <a:endParaRPr sz="5000"/>
          </a:p>
        </p:txBody>
      </p:sp>
      <p:sp>
        <p:nvSpPr>
          <p:cNvPr id="6" name="object 6"/>
          <p:cNvSpPr txBox="1"/>
          <p:nvPr/>
        </p:nvSpPr>
        <p:spPr>
          <a:xfrm>
            <a:off x="1286797" y="5421136"/>
            <a:ext cx="4018915" cy="523240"/>
          </a:xfrm>
          <a:prstGeom prst="rect">
            <a:avLst/>
          </a:prstGeom>
        </p:spPr>
        <p:txBody>
          <a:bodyPr vert="horz" wrap="square" lIns="0" tIns="13970" rIns="0" bIns="0" rtlCol="0">
            <a:spAutoFit/>
          </a:bodyPr>
          <a:lstStyle/>
          <a:p>
            <a:pPr marL="12700">
              <a:lnSpc>
                <a:spcPct val="100000"/>
              </a:lnSpc>
              <a:spcBef>
                <a:spcPts val="110"/>
              </a:spcBef>
            </a:pPr>
            <a:r>
              <a:rPr sz="3250" dirty="0">
                <a:solidFill>
                  <a:srgbClr val="2F729C"/>
                </a:solidFill>
                <a:latin typeface="Arial MT"/>
                <a:cs typeface="Arial MT"/>
              </a:rPr>
              <a:t>Frontend</a:t>
            </a:r>
            <a:r>
              <a:rPr sz="3250" spc="-190" dirty="0">
                <a:solidFill>
                  <a:srgbClr val="2F729C"/>
                </a:solidFill>
                <a:latin typeface="Arial MT"/>
                <a:cs typeface="Arial MT"/>
              </a:rPr>
              <a:t> </a:t>
            </a:r>
            <a:r>
              <a:rPr sz="3250" dirty="0">
                <a:solidFill>
                  <a:srgbClr val="2D6E9A"/>
                </a:solidFill>
                <a:latin typeface="Arial MT"/>
                <a:cs typeface="Arial MT"/>
              </a:rPr>
              <a:t>:</a:t>
            </a:r>
            <a:r>
              <a:rPr sz="3250" spc="65" dirty="0">
                <a:solidFill>
                  <a:srgbClr val="2D6E9A"/>
                </a:solidFill>
                <a:latin typeface="Arial MT"/>
                <a:cs typeface="Arial MT"/>
              </a:rPr>
              <a:t> </a:t>
            </a:r>
            <a:r>
              <a:rPr sz="3250" dirty="0">
                <a:solidFill>
                  <a:srgbClr val="2675AC"/>
                </a:solidFill>
                <a:latin typeface="Arial MT"/>
                <a:cs typeface="Arial MT"/>
              </a:rPr>
              <a:t>Angular</a:t>
            </a:r>
            <a:r>
              <a:rPr sz="3250" spc="-35" dirty="0">
                <a:solidFill>
                  <a:srgbClr val="2675AC"/>
                </a:solidFill>
                <a:latin typeface="Arial MT"/>
                <a:cs typeface="Arial MT"/>
              </a:rPr>
              <a:t> </a:t>
            </a:r>
            <a:r>
              <a:rPr sz="3250" spc="-25" dirty="0">
                <a:solidFill>
                  <a:srgbClr val="2A729E"/>
                </a:solidFill>
                <a:latin typeface="Arial MT"/>
                <a:cs typeface="Arial MT"/>
              </a:rPr>
              <a:t>19</a:t>
            </a:r>
            <a:endParaRPr sz="3250">
              <a:latin typeface="Arial MT"/>
              <a:cs typeface="Arial MT"/>
            </a:endParaRPr>
          </a:p>
        </p:txBody>
      </p:sp>
      <p:sp>
        <p:nvSpPr>
          <p:cNvPr id="7" name="object 7"/>
          <p:cNvSpPr txBox="1"/>
          <p:nvPr/>
        </p:nvSpPr>
        <p:spPr>
          <a:xfrm>
            <a:off x="1572445" y="6666441"/>
            <a:ext cx="3437890" cy="1573530"/>
          </a:xfrm>
          <a:prstGeom prst="rect">
            <a:avLst/>
          </a:prstGeom>
        </p:spPr>
        <p:txBody>
          <a:bodyPr vert="horz" wrap="square" lIns="0" tIns="32384" rIns="0" bIns="0" rtlCol="0">
            <a:spAutoFit/>
          </a:bodyPr>
          <a:lstStyle/>
          <a:p>
            <a:pPr marL="12700" marR="5080" indent="5715" algn="ctr">
              <a:lnSpc>
                <a:spcPct val="95400"/>
              </a:lnSpc>
              <a:spcBef>
                <a:spcPts val="254"/>
              </a:spcBef>
            </a:pPr>
            <a:r>
              <a:rPr sz="2700" spc="-25" dirty="0">
                <a:latin typeface="Arial MT"/>
                <a:cs typeface="Arial MT"/>
              </a:rPr>
              <a:t>Interface</a:t>
            </a:r>
            <a:r>
              <a:rPr sz="2700" spc="-125" dirty="0">
                <a:latin typeface="Arial MT"/>
                <a:cs typeface="Arial MT"/>
              </a:rPr>
              <a:t> </a:t>
            </a:r>
            <a:r>
              <a:rPr sz="2700" spc="-10" dirty="0">
                <a:latin typeface="Arial MT"/>
                <a:cs typeface="Arial MT"/>
              </a:rPr>
              <a:t>réactive, </a:t>
            </a:r>
            <a:r>
              <a:rPr sz="2600" dirty="0">
                <a:latin typeface="Arial MT"/>
                <a:cs typeface="Arial MT"/>
              </a:rPr>
              <a:t>architecture</a:t>
            </a:r>
            <a:r>
              <a:rPr sz="2600" spc="95" dirty="0">
                <a:latin typeface="Arial MT"/>
                <a:cs typeface="Arial MT"/>
              </a:rPr>
              <a:t> </a:t>
            </a:r>
            <a:r>
              <a:rPr sz="2600" spc="-10" dirty="0">
                <a:latin typeface="Arial MT"/>
                <a:cs typeface="Arial MT"/>
              </a:rPr>
              <a:t>modulaire, </a:t>
            </a:r>
            <a:r>
              <a:rPr sz="2600" spc="-25" dirty="0">
                <a:latin typeface="Arial MT"/>
                <a:cs typeface="Arial MT"/>
              </a:rPr>
              <a:t>Single</a:t>
            </a:r>
            <a:r>
              <a:rPr sz="2600" spc="-135" dirty="0">
                <a:latin typeface="Arial MT"/>
                <a:cs typeface="Arial MT"/>
              </a:rPr>
              <a:t> </a:t>
            </a:r>
            <a:r>
              <a:rPr sz="2600" spc="-55" dirty="0">
                <a:latin typeface="Arial MT"/>
                <a:cs typeface="Arial MT"/>
              </a:rPr>
              <a:t>Page</a:t>
            </a:r>
            <a:r>
              <a:rPr sz="2600" spc="-114" dirty="0">
                <a:latin typeface="Arial MT"/>
                <a:cs typeface="Arial MT"/>
              </a:rPr>
              <a:t> </a:t>
            </a:r>
            <a:r>
              <a:rPr sz="2600" spc="-10" dirty="0">
                <a:latin typeface="Arial MT"/>
                <a:cs typeface="Arial MT"/>
              </a:rPr>
              <a:t>Application (SPA).</a:t>
            </a:r>
            <a:endParaRPr sz="2600">
              <a:latin typeface="Arial MT"/>
              <a:cs typeface="Arial MT"/>
            </a:endParaRPr>
          </a:p>
        </p:txBody>
      </p:sp>
      <p:sp>
        <p:nvSpPr>
          <p:cNvPr id="8" name="object 8"/>
          <p:cNvSpPr txBox="1"/>
          <p:nvPr/>
        </p:nvSpPr>
        <p:spPr>
          <a:xfrm>
            <a:off x="7107683" y="5429955"/>
            <a:ext cx="3239770" cy="512445"/>
          </a:xfrm>
          <a:prstGeom prst="rect">
            <a:avLst/>
          </a:prstGeom>
        </p:spPr>
        <p:txBody>
          <a:bodyPr vert="horz" wrap="square" lIns="0" tIns="12065" rIns="0" bIns="0" rtlCol="0">
            <a:spAutoFit/>
          </a:bodyPr>
          <a:lstStyle/>
          <a:p>
            <a:pPr marL="12700">
              <a:lnSpc>
                <a:spcPct val="100000"/>
              </a:lnSpc>
              <a:spcBef>
                <a:spcPts val="95"/>
              </a:spcBef>
            </a:pPr>
            <a:r>
              <a:rPr sz="3200" dirty="0">
                <a:solidFill>
                  <a:srgbClr val="246E9A"/>
                </a:solidFill>
                <a:latin typeface="Arial MT"/>
                <a:cs typeface="Arial MT"/>
              </a:rPr>
              <a:t>Backend</a:t>
            </a:r>
            <a:r>
              <a:rPr sz="3200" spc="-175" dirty="0">
                <a:solidFill>
                  <a:srgbClr val="246E9A"/>
                </a:solidFill>
                <a:latin typeface="Arial MT"/>
                <a:cs typeface="Arial MT"/>
              </a:rPr>
              <a:t> </a:t>
            </a:r>
            <a:r>
              <a:rPr sz="3200" dirty="0">
                <a:solidFill>
                  <a:srgbClr val="31709C"/>
                </a:solidFill>
                <a:latin typeface="Arial MT"/>
                <a:cs typeface="Arial MT"/>
              </a:rPr>
              <a:t>:</a:t>
            </a:r>
            <a:r>
              <a:rPr sz="3200" spc="-95" dirty="0">
                <a:solidFill>
                  <a:srgbClr val="31709C"/>
                </a:solidFill>
                <a:latin typeface="Arial MT"/>
                <a:cs typeface="Arial MT"/>
              </a:rPr>
              <a:t> </a:t>
            </a:r>
            <a:r>
              <a:rPr sz="3200" spc="-10" dirty="0">
                <a:solidFill>
                  <a:srgbClr val="21699A"/>
                </a:solidFill>
                <a:latin typeface="Arial MT"/>
                <a:cs typeface="Arial MT"/>
              </a:rPr>
              <a:t>Django</a:t>
            </a:r>
            <a:endParaRPr sz="3200">
              <a:latin typeface="Arial MT"/>
              <a:cs typeface="Arial MT"/>
            </a:endParaRPr>
          </a:p>
        </p:txBody>
      </p:sp>
      <p:sp>
        <p:nvSpPr>
          <p:cNvPr id="9" name="object 9"/>
          <p:cNvSpPr txBox="1"/>
          <p:nvPr/>
        </p:nvSpPr>
        <p:spPr>
          <a:xfrm>
            <a:off x="6808106" y="6672791"/>
            <a:ext cx="3834129" cy="1184275"/>
          </a:xfrm>
          <a:prstGeom prst="rect">
            <a:avLst/>
          </a:prstGeom>
        </p:spPr>
        <p:txBody>
          <a:bodyPr vert="horz" wrap="square" lIns="0" tIns="56515" rIns="0" bIns="0" rtlCol="0">
            <a:spAutoFit/>
          </a:bodyPr>
          <a:lstStyle/>
          <a:p>
            <a:pPr marL="12700" marR="5080" indent="18415" algn="ctr">
              <a:lnSpc>
                <a:spcPts val="2950"/>
              </a:lnSpc>
              <a:spcBef>
                <a:spcPts val="445"/>
              </a:spcBef>
              <a:tabLst>
                <a:tab pos="2376805" algn="l"/>
              </a:tabLst>
            </a:pPr>
            <a:r>
              <a:rPr sz="2700" spc="-65" dirty="0">
                <a:latin typeface="Arial MT"/>
                <a:cs typeface="Arial MT"/>
              </a:rPr>
              <a:t>Sécurité</a:t>
            </a:r>
            <a:r>
              <a:rPr sz="2700" spc="-55" dirty="0">
                <a:latin typeface="Arial MT"/>
                <a:cs typeface="Arial MT"/>
              </a:rPr>
              <a:t> </a:t>
            </a:r>
            <a:r>
              <a:rPr sz="2700" spc="-10" dirty="0">
                <a:latin typeface="Arial MT"/>
                <a:cs typeface="Arial MT"/>
              </a:rPr>
              <a:t>native, </a:t>
            </a:r>
            <a:r>
              <a:rPr sz="2600" spc="-10" dirty="0">
                <a:latin typeface="Arial MT"/>
                <a:cs typeface="Arial MT"/>
              </a:rPr>
              <a:t>développement</a:t>
            </a:r>
            <a:r>
              <a:rPr sz="2600" dirty="0">
                <a:latin typeface="Arial MT"/>
                <a:cs typeface="Arial MT"/>
              </a:rPr>
              <a:t>	</a:t>
            </a:r>
            <a:r>
              <a:rPr sz="2600" spc="-10" dirty="0">
                <a:latin typeface="Arial MT"/>
                <a:cs typeface="Arial MT"/>
              </a:rPr>
              <a:t>rapide, </a:t>
            </a:r>
            <a:r>
              <a:rPr sz="2550" dirty="0">
                <a:latin typeface="Arial MT"/>
                <a:cs typeface="Arial MT"/>
              </a:rPr>
              <a:t>architecture</a:t>
            </a:r>
            <a:r>
              <a:rPr sz="2550" spc="195" dirty="0">
                <a:latin typeface="Arial MT"/>
                <a:cs typeface="Arial MT"/>
              </a:rPr>
              <a:t> </a:t>
            </a:r>
            <a:r>
              <a:rPr sz="2550" dirty="0">
                <a:latin typeface="Arial MT"/>
                <a:cs typeface="Arial MT"/>
              </a:rPr>
              <a:t>MVT</a:t>
            </a:r>
            <a:r>
              <a:rPr sz="2550" spc="105" dirty="0">
                <a:latin typeface="Arial MT"/>
                <a:cs typeface="Arial MT"/>
              </a:rPr>
              <a:t> </a:t>
            </a:r>
            <a:r>
              <a:rPr sz="2550" spc="-10" dirty="0">
                <a:latin typeface="Arial MT"/>
                <a:cs typeface="Arial MT"/>
              </a:rPr>
              <a:t>robuste.</a:t>
            </a:r>
            <a:endParaRPr sz="2550">
              <a:latin typeface="Arial MT"/>
              <a:cs typeface="Arial MT"/>
            </a:endParaRPr>
          </a:p>
        </p:txBody>
      </p:sp>
      <p:sp>
        <p:nvSpPr>
          <p:cNvPr id="10" name="object 10"/>
          <p:cNvSpPr txBox="1"/>
          <p:nvPr/>
        </p:nvSpPr>
        <p:spPr>
          <a:xfrm>
            <a:off x="12144264" y="5421136"/>
            <a:ext cx="3993515" cy="2439670"/>
          </a:xfrm>
          <a:prstGeom prst="rect">
            <a:avLst/>
          </a:prstGeom>
        </p:spPr>
        <p:txBody>
          <a:bodyPr vert="horz" wrap="square" lIns="0" tIns="13970" rIns="0" bIns="0" rtlCol="0">
            <a:spAutoFit/>
          </a:bodyPr>
          <a:lstStyle/>
          <a:p>
            <a:pPr algn="ctr">
              <a:lnSpc>
                <a:spcPts val="3850"/>
              </a:lnSpc>
              <a:spcBef>
                <a:spcPts val="110"/>
              </a:spcBef>
            </a:pPr>
            <a:r>
              <a:rPr sz="3250" spc="-45" dirty="0">
                <a:solidFill>
                  <a:srgbClr val="2370A1"/>
                </a:solidFill>
                <a:latin typeface="Arial MT"/>
                <a:cs typeface="Arial MT"/>
              </a:rPr>
              <a:t>Base</a:t>
            </a:r>
            <a:r>
              <a:rPr sz="3250" spc="-180" dirty="0">
                <a:solidFill>
                  <a:srgbClr val="2370A1"/>
                </a:solidFill>
                <a:latin typeface="Arial MT"/>
                <a:cs typeface="Arial MT"/>
              </a:rPr>
              <a:t> </a:t>
            </a:r>
            <a:r>
              <a:rPr sz="3250" dirty="0">
                <a:solidFill>
                  <a:srgbClr val="236995"/>
                </a:solidFill>
                <a:latin typeface="Arial MT"/>
                <a:cs typeface="Arial MT"/>
              </a:rPr>
              <a:t>de</a:t>
            </a:r>
            <a:r>
              <a:rPr sz="3250" spc="-310" dirty="0">
                <a:solidFill>
                  <a:srgbClr val="236995"/>
                </a:solidFill>
                <a:latin typeface="Arial MT"/>
                <a:cs typeface="Arial MT"/>
              </a:rPr>
              <a:t> </a:t>
            </a:r>
            <a:r>
              <a:rPr sz="3250" dirty="0">
                <a:solidFill>
                  <a:srgbClr val="2A74A1"/>
                </a:solidFill>
                <a:latin typeface="Arial MT"/>
                <a:cs typeface="Arial MT"/>
              </a:rPr>
              <a:t>Données</a:t>
            </a:r>
            <a:r>
              <a:rPr sz="3250" spc="-160" dirty="0">
                <a:solidFill>
                  <a:srgbClr val="2A74A1"/>
                </a:solidFill>
                <a:latin typeface="Arial MT"/>
                <a:cs typeface="Arial MT"/>
              </a:rPr>
              <a:t> </a:t>
            </a:r>
            <a:r>
              <a:rPr sz="3250" spc="-50" dirty="0">
                <a:solidFill>
                  <a:srgbClr val="2F6E99"/>
                </a:solidFill>
                <a:latin typeface="Arial MT"/>
                <a:cs typeface="Arial MT"/>
              </a:rPr>
              <a:t>:</a:t>
            </a:r>
            <a:endParaRPr sz="3250">
              <a:latin typeface="Arial MT"/>
              <a:cs typeface="Arial MT"/>
            </a:endParaRPr>
          </a:p>
          <a:p>
            <a:pPr marR="20320" algn="ctr">
              <a:lnSpc>
                <a:spcPts val="3610"/>
              </a:lnSpc>
            </a:pPr>
            <a:r>
              <a:rPr sz="3050" spc="-10" dirty="0">
                <a:solidFill>
                  <a:srgbClr val="2B6E9A"/>
                </a:solidFill>
                <a:latin typeface="Arial MT"/>
                <a:cs typeface="Arial MT"/>
              </a:rPr>
              <a:t>PostgreSQL</a:t>
            </a:r>
            <a:endParaRPr sz="3050">
              <a:latin typeface="Arial MT"/>
              <a:cs typeface="Arial MT"/>
            </a:endParaRPr>
          </a:p>
          <a:p>
            <a:pPr marL="12065" marR="5080" indent="-8255" algn="ctr">
              <a:lnSpc>
                <a:spcPct val="91800"/>
              </a:lnSpc>
              <a:spcBef>
                <a:spcPts val="2610"/>
              </a:spcBef>
            </a:pPr>
            <a:r>
              <a:rPr sz="2700" spc="-75" dirty="0">
                <a:latin typeface="Arial MT"/>
                <a:cs typeface="Arial MT"/>
              </a:rPr>
              <a:t>Gestion</a:t>
            </a:r>
            <a:r>
              <a:rPr sz="2700" spc="-114" dirty="0">
                <a:latin typeface="Arial MT"/>
                <a:cs typeface="Arial MT"/>
              </a:rPr>
              <a:t> </a:t>
            </a:r>
            <a:r>
              <a:rPr sz="2700" spc="-10" dirty="0">
                <a:latin typeface="Arial MT"/>
                <a:cs typeface="Arial MT"/>
              </a:rPr>
              <a:t>fiable</a:t>
            </a:r>
            <a:r>
              <a:rPr sz="2700" spc="-150" dirty="0">
                <a:latin typeface="Arial MT"/>
                <a:cs typeface="Arial MT"/>
              </a:rPr>
              <a:t> </a:t>
            </a:r>
            <a:r>
              <a:rPr sz="2700" spc="-20" dirty="0">
                <a:latin typeface="Arial MT"/>
                <a:cs typeface="Arial MT"/>
              </a:rPr>
              <a:t>des</a:t>
            </a:r>
            <a:r>
              <a:rPr sz="2700" spc="-120" dirty="0">
                <a:latin typeface="Arial MT"/>
                <a:cs typeface="Arial MT"/>
              </a:rPr>
              <a:t> </a:t>
            </a:r>
            <a:r>
              <a:rPr sz="2700" spc="-65" dirty="0">
                <a:latin typeface="Arial MT"/>
                <a:cs typeface="Arial MT"/>
              </a:rPr>
              <a:t>données </a:t>
            </a:r>
            <a:r>
              <a:rPr sz="2700" spc="-40" dirty="0">
                <a:latin typeface="Arial MT"/>
                <a:cs typeface="Arial MT"/>
              </a:rPr>
              <a:t>relationnelles</a:t>
            </a:r>
            <a:r>
              <a:rPr sz="2700" spc="-150" dirty="0">
                <a:latin typeface="Arial MT"/>
                <a:cs typeface="Arial MT"/>
              </a:rPr>
              <a:t> </a:t>
            </a:r>
            <a:r>
              <a:rPr sz="2700" spc="-70" dirty="0">
                <a:latin typeface="Arial MT"/>
                <a:cs typeface="Arial MT"/>
              </a:rPr>
              <a:t>complexes</a:t>
            </a:r>
            <a:r>
              <a:rPr sz="2700" spc="10" dirty="0">
                <a:latin typeface="Arial MT"/>
                <a:cs typeface="Arial MT"/>
              </a:rPr>
              <a:t> </a:t>
            </a:r>
            <a:r>
              <a:rPr sz="2700" spc="-25" dirty="0">
                <a:latin typeface="Arial MT"/>
                <a:cs typeface="Arial MT"/>
              </a:rPr>
              <a:t>et </a:t>
            </a:r>
            <a:r>
              <a:rPr sz="2700" spc="-10" dirty="0">
                <a:latin typeface="Arial MT"/>
                <a:cs typeface="Arial MT"/>
              </a:rPr>
              <a:t>critiques.</a:t>
            </a:r>
            <a:endParaRPr sz="2700">
              <a:latin typeface="Arial MT"/>
              <a:cs typeface="Arial MT"/>
            </a:endParaRPr>
          </a:p>
        </p:txBody>
      </p:sp>
      <p:grpSp>
        <p:nvGrpSpPr>
          <p:cNvPr id="14" name="Group 2">
            <a:extLst>
              <a:ext uri="{FF2B5EF4-FFF2-40B4-BE49-F238E27FC236}">
                <a16:creationId xmlns:a16="http://schemas.microsoft.com/office/drawing/2014/main" id="{D0A67CCF-684E-415A-A6CB-D88762B07C2F}"/>
              </a:ext>
            </a:extLst>
          </p:cNvPr>
          <p:cNvGrpSpPr/>
          <p:nvPr/>
        </p:nvGrpSpPr>
        <p:grpSpPr>
          <a:xfrm>
            <a:off x="0" y="9051073"/>
            <a:ext cx="17475200" cy="686135"/>
            <a:chOff x="0" y="0"/>
            <a:chExt cx="4816593" cy="348089"/>
          </a:xfrm>
        </p:grpSpPr>
        <p:sp>
          <p:nvSpPr>
            <p:cNvPr id="15" name="Freeform 3">
              <a:extLst>
                <a:ext uri="{FF2B5EF4-FFF2-40B4-BE49-F238E27FC236}">
                  <a16:creationId xmlns:a16="http://schemas.microsoft.com/office/drawing/2014/main" id="{CC4F9E23-F96D-4889-B65E-A9F9DC05459F}"/>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6" name="TextBox 4">
              <a:extLst>
                <a:ext uri="{FF2B5EF4-FFF2-40B4-BE49-F238E27FC236}">
                  <a16:creationId xmlns:a16="http://schemas.microsoft.com/office/drawing/2014/main" id="{E42AB01A-BD61-4A3C-AA14-87EC54EEF419}"/>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56600" y="6591300"/>
            <a:ext cx="762000" cy="889000"/>
          </a:xfrm>
          <a:prstGeom prst="rect">
            <a:avLst/>
          </a:prstGeom>
        </p:spPr>
      </p:pic>
      <p:pic>
        <p:nvPicPr>
          <p:cNvPr id="3" name="object 3"/>
          <p:cNvPicPr/>
          <p:nvPr/>
        </p:nvPicPr>
        <p:blipFill>
          <a:blip r:embed="rId3" cstate="print"/>
          <a:stretch>
            <a:fillRect/>
          </a:stretch>
        </p:blipFill>
        <p:spPr>
          <a:xfrm>
            <a:off x="9448800" y="5041900"/>
            <a:ext cx="2527300" cy="914400"/>
          </a:xfrm>
          <a:prstGeom prst="rect">
            <a:avLst/>
          </a:prstGeom>
        </p:spPr>
      </p:pic>
      <p:pic>
        <p:nvPicPr>
          <p:cNvPr id="4" name="object 4"/>
          <p:cNvPicPr/>
          <p:nvPr/>
        </p:nvPicPr>
        <p:blipFill>
          <a:blip r:embed="rId4" cstate="print"/>
          <a:stretch>
            <a:fillRect/>
          </a:stretch>
        </p:blipFill>
        <p:spPr>
          <a:xfrm>
            <a:off x="11201400" y="3327400"/>
            <a:ext cx="850900" cy="1003300"/>
          </a:xfrm>
          <a:prstGeom prst="rect">
            <a:avLst/>
          </a:prstGeom>
        </p:spPr>
      </p:pic>
      <p:sp>
        <p:nvSpPr>
          <p:cNvPr id="5" name="object 5"/>
          <p:cNvSpPr txBox="1"/>
          <p:nvPr/>
        </p:nvSpPr>
        <p:spPr>
          <a:xfrm>
            <a:off x="7581900" y="3314700"/>
            <a:ext cx="2298700" cy="1003300"/>
          </a:xfrm>
          <a:prstGeom prst="rect">
            <a:avLst/>
          </a:prstGeom>
          <a:solidFill>
            <a:srgbClr val="BCE6E4"/>
          </a:solidFill>
        </p:spPr>
        <p:txBody>
          <a:bodyPr vert="horz" wrap="square" lIns="0" tIns="260350" rIns="0" bIns="0" rtlCol="0">
            <a:spAutoFit/>
          </a:bodyPr>
          <a:lstStyle/>
          <a:p>
            <a:pPr marL="606425">
              <a:lnSpc>
                <a:spcPct val="100000"/>
              </a:lnSpc>
              <a:spcBef>
                <a:spcPts val="2050"/>
              </a:spcBef>
            </a:pPr>
            <a:r>
              <a:rPr sz="2950" spc="65" dirty="0">
                <a:solidFill>
                  <a:srgbClr val="FFFFFF"/>
                </a:solidFill>
                <a:latin typeface="Arial MT"/>
                <a:cs typeface="Arial MT"/>
              </a:rPr>
              <a:t>Model</a:t>
            </a:r>
            <a:endParaRPr sz="2950">
              <a:latin typeface="Arial MT"/>
              <a:cs typeface="Arial MT"/>
            </a:endParaRPr>
          </a:p>
        </p:txBody>
      </p:sp>
      <p:grpSp>
        <p:nvGrpSpPr>
          <p:cNvPr id="6" name="object 6"/>
          <p:cNvGrpSpPr/>
          <p:nvPr/>
        </p:nvGrpSpPr>
        <p:grpSpPr>
          <a:xfrm>
            <a:off x="5715000" y="5003800"/>
            <a:ext cx="2311400" cy="977900"/>
            <a:chOff x="5715000" y="5003800"/>
            <a:chExt cx="2311400" cy="977900"/>
          </a:xfrm>
        </p:grpSpPr>
        <p:pic>
          <p:nvPicPr>
            <p:cNvPr id="7" name="object 7"/>
            <p:cNvPicPr/>
            <p:nvPr/>
          </p:nvPicPr>
          <p:blipFill>
            <a:blip r:embed="rId5" cstate="print"/>
            <a:stretch>
              <a:fillRect/>
            </a:stretch>
          </p:blipFill>
          <p:spPr>
            <a:xfrm>
              <a:off x="5715000" y="5219700"/>
              <a:ext cx="1587500" cy="457200"/>
            </a:xfrm>
            <a:prstGeom prst="rect">
              <a:avLst/>
            </a:prstGeom>
          </p:spPr>
        </p:pic>
        <p:pic>
          <p:nvPicPr>
            <p:cNvPr id="8" name="object 8"/>
            <p:cNvPicPr/>
            <p:nvPr/>
          </p:nvPicPr>
          <p:blipFill>
            <a:blip r:embed="rId6" cstate="print"/>
            <a:stretch>
              <a:fillRect/>
            </a:stretch>
          </p:blipFill>
          <p:spPr>
            <a:xfrm>
              <a:off x="5715000" y="5003800"/>
              <a:ext cx="2311400" cy="977900"/>
            </a:xfrm>
            <a:prstGeom prst="rect">
              <a:avLst/>
            </a:prstGeom>
          </p:spPr>
        </p:pic>
      </p:grpSp>
      <p:sp>
        <p:nvSpPr>
          <p:cNvPr id="9" name="object 9"/>
          <p:cNvSpPr txBox="1">
            <a:spLocks noGrp="1"/>
          </p:cNvSpPr>
          <p:nvPr>
            <p:ph type="title"/>
          </p:nvPr>
        </p:nvSpPr>
        <p:spPr>
          <a:xfrm>
            <a:off x="1067564" y="692502"/>
            <a:ext cx="15356205" cy="650240"/>
          </a:xfrm>
          <a:prstGeom prst="rect">
            <a:avLst/>
          </a:prstGeom>
        </p:spPr>
        <p:txBody>
          <a:bodyPr vert="horz" wrap="square" lIns="0" tIns="12065" rIns="0" bIns="0" rtlCol="0">
            <a:spAutoFit/>
          </a:bodyPr>
          <a:lstStyle/>
          <a:p>
            <a:pPr marL="12700">
              <a:lnSpc>
                <a:spcPct val="100000"/>
              </a:lnSpc>
              <a:spcBef>
                <a:spcPts val="95"/>
              </a:spcBef>
            </a:pPr>
            <a:r>
              <a:rPr sz="4100" spc="195" dirty="0">
                <a:solidFill>
                  <a:srgbClr val="2A72A8"/>
                </a:solidFill>
              </a:rPr>
              <a:t>Architecture</a:t>
            </a:r>
            <a:r>
              <a:rPr sz="4100" spc="25" dirty="0">
                <a:solidFill>
                  <a:srgbClr val="2A72A8"/>
                </a:solidFill>
              </a:rPr>
              <a:t> </a:t>
            </a:r>
            <a:r>
              <a:rPr sz="4100" spc="55" dirty="0">
                <a:solidFill>
                  <a:srgbClr val="266B9E"/>
                </a:solidFill>
              </a:rPr>
              <a:t>MVC</a:t>
            </a:r>
            <a:r>
              <a:rPr sz="4100" spc="-50" dirty="0">
                <a:solidFill>
                  <a:srgbClr val="266B9E"/>
                </a:solidFill>
              </a:rPr>
              <a:t> </a:t>
            </a:r>
            <a:r>
              <a:rPr sz="4100" dirty="0">
                <a:solidFill>
                  <a:srgbClr val="3477A7"/>
                </a:solidFill>
              </a:rPr>
              <a:t>:</a:t>
            </a:r>
            <a:r>
              <a:rPr sz="4100" spc="-130" dirty="0">
                <a:solidFill>
                  <a:srgbClr val="3477A7"/>
                </a:solidFill>
              </a:rPr>
              <a:t> </a:t>
            </a:r>
            <a:r>
              <a:rPr sz="4100" dirty="0">
                <a:solidFill>
                  <a:srgbClr val="2670A3"/>
                </a:solidFill>
              </a:rPr>
              <a:t>Une</a:t>
            </a:r>
            <a:r>
              <a:rPr sz="4100" spc="-35" dirty="0">
                <a:solidFill>
                  <a:srgbClr val="2670A3"/>
                </a:solidFill>
              </a:rPr>
              <a:t> </a:t>
            </a:r>
            <a:r>
              <a:rPr sz="4100" spc="110" dirty="0">
                <a:solidFill>
                  <a:srgbClr val="236DA0"/>
                </a:solidFill>
              </a:rPr>
              <a:t>Séparation</a:t>
            </a:r>
            <a:r>
              <a:rPr sz="4100" spc="175" dirty="0">
                <a:solidFill>
                  <a:srgbClr val="236DA0"/>
                </a:solidFill>
              </a:rPr>
              <a:t> </a:t>
            </a:r>
            <a:r>
              <a:rPr sz="4100" spc="100" dirty="0">
                <a:solidFill>
                  <a:srgbClr val="2875A8"/>
                </a:solidFill>
              </a:rPr>
              <a:t>Claire</a:t>
            </a:r>
            <a:r>
              <a:rPr sz="4100" spc="25" dirty="0">
                <a:solidFill>
                  <a:srgbClr val="2875A8"/>
                </a:solidFill>
              </a:rPr>
              <a:t> </a:t>
            </a:r>
            <a:r>
              <a:rPr sz="4100" spc="130" dirty="0">
                <a:solidFill>
                  <a:srgbClr val="266DA0"/>
                </a:solidFill>
              </a:rPr>
              <a:t>des</a:t>
            </a:r>
            <a:r>
              <a:rPr sz="4100" spc="-90" dirty="0">
                <a:solidFill>
                  <a:srgbClr val="266DA0"/>
                </a:solidFill>
              </a:rPr>
              <a:t> </a:t>
            </a:r>
            <a:r>
              <a:rPr sz="4100" spc="140" dirty="0">
                <a:solidFill>
                  <a:srgbClr val="2D74A7"/>
                </a:solidFill>
              </a:rPr>
              <a:t>Responsabilités</a:t>
            </a:r>
            <a:endParaRPr sz="4100"/>
          </a:p>
        </p:txBody>
      </p:sp>
      <p:sp>
        <p:nvSpPr>
          <p:cNvPr id="10" name="object 10"/>
          <p:cNvSpPr txBox="1"/>
          <p:nvPr/>
        </p:nvSpPr>
        <p:spPr>
          <a:xfrm>
            <a:off x="1424848" y="5238750"/>
            <a:ext cx="3359150" cy="733425"/>
          </a:xfrm>
          <a:prstGeom prst="rect">
            <a:avLst/>
          </a:prstGeom>
        </p:spPr>
        <p:txBody>
          <a:bodyPr vert="horz" wrap="square" lIns="0" tIns="12700" rIns="0" bIns="0" rtlCol="0">
            <a:spAutoFit/>
          </a:bodyPr>
          <a:lstStyle/>
          <a:p>
            <a:pPr marR="14604" algn="r">
              <a:lnSpc>
                <a:spcPts val="2875"/>
              </a:lnSpc>
              <a:spcBef>
                <a:spcPts val="100"/>
              </a:spcBef>
            </a:pPr>
            <a:r>
              <a:rPr sz="2500" spc="-55" dirty="0">
                <a:latin typeface="Arial MT"/>
                <a:cs typeface="Arial MT"/>
              </a:rPr>
              <a:t>Interface</a:t>
            </a:r>
            <a:r>
              <a:rPr sz="2500" spc="-95" dirty="0">
                <a:latin typeface="Arial MT"/>
                <a:cs typeface="Arial MT"/>
              </a:rPr>
              <a:t> </a:t>
            </a:r>
            <a:r>
              <a:rPr sz="2500" spc="-10" dirty="0">
                <a:latin typeface="Arial MT"/>
                <a:cs typeface="Arial MT"/>
              </a:rPr>
              <a:t>utilisateur</a:t>
            </a:r>
            <a:endParaRPr sz="2500">
              <a:latin typeface="Arial MT"/>
              <a:cs typeface="Arial MT"/>
            </a:endParaRPr>
          </a:p>
          <a:p>
            <a:pPr marR="5080" algn="r">
              <a:lnSpc>
                <a:spcPts val="2695"/>
              </a:lnSpc>
            </a:pPr>
            <a:r>
              <a:rPr sz="2350" spc="-10" dirty="0">
                <a:latin typeface="Arial MT"/>
                <a:cs typeface="Arial MT"/>
              </a:rPr>
              <a:t>dynamique</a:t>
            </a:r>
            <a:r>
              <a:rPr sz="2350" spc="60" dirty="0">
                <a:latin typeface="Arial MT"/>
                <a:cs typeface="Arial MT"/>
              </a:rPr>
              <a:t> </a:t>
            </a:r>
            <a:r>
              <a:rPr sz="2350" dirty="0">
                <a:latin typeface="Arial MT"/>
                <a:cs typeface="Arial MT"/>
              </a:rPr>
              <a:t>et</a:t>
            </a:r>
            <a:r>
              <a:rPr sz="2350" spc="-125" dirty="0">
                <a:latin typeface="Arial MT"/>
                <a:cs typeface="Arial MT"/>
              </a:rPr>
              <a:t> </a:t>
            </a:r>
            <a:r>
              <a:rPr sz="2350" spc="-10" dirty="0">
                <a:latin typeface="Arial MT"/>
                <a:cs typeface="Arial MT"/>
              </a:rPr>
              <a:t>interaction.</a:t>
            </a:r>
            <a:endParaRPr sz="2350">
              <a:latin typeface="Arial MT"/>
              <a:cs typeface="Arial MT"/>
            </a:endParaRPr>
          </a:p>
        </p:txBody>
      </p:sp>
      <p:sp>
        <p:nvSpPr>
          <p:cNvPr id="11" name="object 11"/>
          <p:cNvSpPr txBox="1"/>
          <p:nvPr/>
        </p:nvSpPr>
        <p:spPr>
          <a:xfrm>
            <a:off x="6600742" y="2094088"/>
            <a:ext cx="4170045" cy="728345"/>
          </a:xfrm>
          <a:prstGeom prst="rect">
            <a:avLst/>
          </a:prstGeom>
        </p:spPr>
        <p:txBody>
          <a:bodyPr vert="horz" wrap="square" lIns="0" tIns="38100" rIns="0" bIns="0" rtlCol="0">
            <a:spAutoFit/>
          </a:bodyPr>
          <a:lstStyle/>
          <a:p>
            <a:pPr marL="605155" marR="5080" indent="-593090">
              <a:lnSpc>
                <a:spcPts val="2700"/>
              </a:lnSpc>
              <a:spcBef>
                <a:spcPts val="300"/>
              </a:spcBef>
            </a:pPr>
            <a:r>
              <a:rPr sz="2350" spc="-25" dirty="0">
                <a:latin typeface="Arial MT"/>
                <a:cs typeface="Arial MT"/>
              </a:rPr>
              <a:t>Gestion</a:t>
            </a:r>
            <a:r>
              <a:rPr sz="2350" spc="-65" dirty="0">
                <a:latin typeface="Arial MT"/>
                <a:cs typeface="Arial MT"/>
              </a:rPr>
              <a:t> </a:t>
            </a:r>
            <a:r>
              <a:rPr sz="2350" dirty="0">
                <a:latin typeface="Arial MT"/>
                <a:cs typeface="Arial MT"/>
              </a:rPr>
              <a:t>des</a:t>
            </a:r>
            <a:r>
              <a:rPr sz="2350" spc="-90" dirty="0">
                <a:latin typeface="Arial MT"/>
                <a:cs typeface="Arial MT"/>
              </a:rPr>
              <a:t> </a:t>
            </a:r>
            <a:r>
              <a:rPr sz="2350" dirty="0">
                <a:latin typeface="Arial MT"/>
                <a:cs typeface="Arial MT"/>
              </a:rPr>
              <a:t>données</a:t>
            </a:r>
            <a:r>
              <a:rPr sz="2350" spc="-5" dirty="0">
                <a:latin typeface="Arial MT"/>
                <a:cs typeface="Arial MT"/>
              </a:rPr>
              <a:t> </a:t>
            </a:r>
            <a:r>
              <a:rPr sz="2350" dirty="0">
                <a:latin typeface="Arial MT"/>
                <a:cs typeface="Arial MT"/>
              </a:rPr>
              <a:t>et</a:t>
            </a:r>
            <a:r>
              <a:rPr sz="2350" spc="-114" dirty="0">
                <a:latin typeface="Arial MT"/>
                <a:cs typeface="Arial MT"/>
              </a:rPr>
              <a:t> </a:t>
            </a:r>
            <a:r>
              <a:rPr sz="2350" spc="-20" dirty="0">
                <a:latin typeface="Arial MT"/>
                <a:cs typeface="Arial MT"/>
              </a:rPr>
              <a:t>logique </a:t>
            </a:r>
            <a:r>
              <a:rPr sz="2350" dirty="0">
                <a:latin typeface="Arial MT"/>
                <a:cs typeface="Arial MT"/>
              </a:rPr>
              <a:t>métier</a:t>
            </a:r>
            <a:r>
              <a:rPr sz="2350" spc="-35" dirty="0">
                <a:latin typeface="Arial MT"/>
                <a:cs typeface="Arial MT"/>
              </a:rPr>
              <a:t> </a:t>
            </a:r>
            <a:r>
              <a:rPr sz="2350" spc="-10" dirty="0">
                <a:latin typeface="Arial MT"/>
                <a:cs typeface="Arial MT"/>
              </a:rPr>
              <a:t>(Patients,</a:t>
            </a:r>
            <a:r>
              <a:rPr sz="2350" spc="-70" dirty="0">
                <a:latin typeface="Arial MT"/>
                <a:cs typeface="Arial MT"/>
              </a:rPr>
              <a:t> </a:t>
            </a:r>
            <a:r>
              <a:rPr sz="2350" spc="-10" dirty="0">
                <a:latin typeface="Arial MT"/>
                <a:cs typeface="Arial MT"/>
              </a:rPr>
              <a:t>RDV).</a:t>
            </a:r>
            <a:endParaRPr sz="2350">
              <a:latin typeface="Arial MT"/>
              <a:cs typeface="Arial MT"/>
            </a:endParaRPr>
          </a:p>
        </p:txBody>
      </p:sp>
      <p:sp>
        <p:nvSpPr>
          <p:cNvPr id="12" name="object 12"/>
          <p:cNvSpPr txBox="1"/>
          <p:nvPr/>
        </p:nvSpPr>
        <p:spPr>
          <a:xfrm>
            <a:off x="8411307" y="7530747"/>
            <a:ext cx="631825" cy="353695"/>
          </a:xfrm>
          <a:prstGeom prst="rect">
            <a:avLst/>
          </a:prstGeom>
        </p:spPr>
        <p:txBody>
          <a:bodyPr vert="horz" wrap="square" lIns="0" tIns="12700" rIns="0" bIns="0" rtlCol="0">
            <a:spAutoFit/>
          </a:bodyPr>
          <a:lstStyle/>
          <a:p>
            <a:pPr marL="12700">
              <a:lnSpc>
                <a:spcPct val="100000"/>
              </a:lnSpc>
              <a:spcBef>
                <a:spcPts val="100"/>
              </a:spcBef>
            </a:pPr>
            <a:r>
              <a:rPr sz="2150" spc="35" dirty="0">
                <a:solidFill>
                  <a:srgbClr val="466770"/>
                </a:solidFill>
                <a:latin typeface="Arial MT"/>
                <a:cs typeface="Arial MT"/>
              </a:rPr>
              <a:t>User</a:t>
            </a:r>
            <a:endParaRPr sz="2150">
              <a:latin typeface="Arial MT"/>
              <a:cs typeface="Arial MT"/>
            </a:endParaRPr>
          </a:p>
        </p:txBody>
      </p:sp>
      <p:sp>
        <p:nvSpPr>
          <p:cNvPr id="13" name="object 13"/>
          <p:cNvSpPr txBox="1"/>
          <p:nvPr/>
        </p:nvSpPr>
        <p:spPr>
          <a:xfrm>
            <a:off x="12668118" y="5238750"/>
            <a:ext cx="3690620" cy="733425"/>
          </a:xfrm>
          <a:prstGeom prst="rect">
            <a:avLst/>
          </a:prstGeom>
        </p:spPr>
        <p:txBody>
          <a:bodyPr vert="horz" wrap="square" lIns="0" tIns="12700" rIns="0" bIns="0" rtlCol="0">
            <a:spAutoFit/>
          </a:bodyPr>
          <a:lstStyle/>
          <a:p>
            <a:pPr marL="16510">
              <a:lnSpc>
                <a:spcPts val="2875"/>
              </a:lnSpc>
              <a:spcBef>
                <a:spcPts val="100"/>
              </a:spcBef>
            </a:pPr>
            <a:r>
              <a:rPr sz="2500" spc="-85" dirty="0">
                <a:latin typeface="Arial MT"/>
                <a:cs typeface="Arial MT"/>
              </a:rPr>
              <a:t>Orchestration</a:t>
            </a:r>
            <a:r>
              <a:rPr sz="2500" spc="-90" dirty="0">
                <a:latin typeface="Arial MT"/>
                <a:cs typeface="Arial MT"/>
              </a:rPr>
              <a:t> </a:t>
            </a:r>
            <a:r>
              <a:rPr sz="2500" spc="-50" dirty="0">
                <a:latin typeface="Arial MT"/>
                <a:cs typeface="Arial MT"/>
              </a:rPr>
              <a:t>des</a:t>
            </a:r>
            <a:r>
              <a:rPr sz="2500" spc="-120" dirty="0">
                <a:latin typeface="Arial MT"/>
                <a:cs typeface="Arial MT"/>
              </a:rPr>
              <a:t> </a:t>
            </a:r>
            <a:r>
              <a:rPr sz="2500" spc="-30" dirty="0">
                <a:latin typeface="Arial MT"/>
                <a:cs typeface="Arial MT"/>
              </a:rPr>
              <a:t>flux</a:t>
            </a:r>
            <a:r>
              <a:rPr sz="2500" spc="-114" dirty="0">
                <a:latin typeface="Arial MT"/>
                <a:cs typeface="Arial MT"/>
              </a:rPr>
              <a:t> </a:t>
            </a:r>
            <a:r>
              <a:rPr sz="2500" spc="-35" dirty="0">
                <a:latin typeface="Arial MT"/>
                <a:cs typeface="Arial MT"/>
              </a:rPr>
              <a:t>entre</a:t>
            </a:r>
            <a:endParaRPr sz="2500">
              <a:latin typeface="Arial MT"/>
              <a:cs typeface="Arial MT"/>
            </a:endParaRPr>
          </a:p>
          <a:p>
            <a:pPr marL="12700">
              <a:lnSpc>
                <a:spcPts val="2695"/>
              </a:lnSpc>
            </a:pPr>
            <a:r>
              <a:rPr sz="2350" dirty="0">
                <a:latin typeface="Arial MT"/>
                <a:cs typeface="Arial MT"/>
              </a:rPr>
              <a:t>le</a:t>
            </a:r>
            <a:r>
              <a:rPr sz="2350" spc="-80" dirty="0">
                <a:latin typeface="Arial MT"/>
                <a:cs typeface="Arial MT"/>
              </a:rPr>
              <a:t> </a:t>
            </a:r>
            <a:r>
              <a:rPr sz="2350" dirty="0">
                <a:latin typeface="Arial MT"/>
                <a:cs typeface="Arial MT"/>
              </a:rPr>
              <a:t>client</a:t>
            </a:r>
            <a:r>
              <a:rPr sz="2350" spc="70" dirty="0">
                <a:latin typeface="Arial MT"/>
                <a:cs typeface="Arial MT"/>
              </a:rPr>
              <a:t> </a:t>
            </a:r>
            <a:r>
              <a:rPr sz="2350" dirty="0">
                <a:latin typeface="Arial MT"/>
                <a:cs typeface="Arial MT"/>
              </a:rPr>
              <a:t>et</a:t>
            </a:r>
            <a:r>
              <a:rPr sz="2350" spc="30" dirty="0">
                <a:latin typeface="Arial MT"/>
                <a:cs typeface="Arial MT"/>
              </a:rPr>
              <a:t> </a:t>
            </a:r>
            <a:r>
              <a:rPr sz="2350" dirty="0">
                <a:latin typeface="Arial MT"/>
                <a:cs typeface="Arial MT"/>
              </a:rPr>
              <a:t>le</a:t>
            </a:r>
            <a:r>
              <a:rPr sz="2350" spc="55" dirty="0">
                <a:latin typeface="Arial MT"/>
                <a:cs typeface="Arial MT"/>
              </a:rPr>
              <a:t> </a:t>
            </a:r>
            <a:r>
              <a:rPr sz="2350" spc="-10" dirty="0">
                <a:latin typeface="Arial MT"/>
                <a:cs typeface="Arial MT"/>
              </a:rPr>
              <a:t>serveur.</a:t>
            </a:r>
            <a:endParaRPr sz="2350">
              <a:latin typeface="Arial MT"/>
              <a:cs typeface="Arial MT"/>
            </a:endParaRPr>
          </a:p>
        </p:txBody>
      </p:sp>
      <p:sp>
        <p:nvSpPr>
          <p:cNvPr id="14" name="object 14"/>
          <p:cNvSpPr txBox="1"/>
          <p:nvPr/>
        </p:nvSpPr>
        <p:spPr>
          <a:xfrm>
            <a:off x="1454564" y="7991758"/>
            <a:ext cx="14545310" cy="491490"/>
          </a:xfrm>
          <a:prstGeom prst="rect">
            <a:avLst/>
          </a:prstGeom>
        </p:spPr>
        <p:txBody>
          <a:bodyPr vert="horz" wrap="square" lIns="0" tIns="13335" rIns="0" bIns="0" rtlCol="0">
            <a:spAutoFit/>
          </a:bodyPr>
          <a:lstStyle/>
          <a:p>
            <a:pPr marL="12700">
              <a:lnSpc>
                <a:spcPct val="100000"/>
              </a:lnSpc>
              <a:spcBef>
                <a:spcPts val="105"/>
              </a:spcBef>
            </a:pPr>
            <a:r>
              <a:rPr sz="3050" i="1" spc="-60" dirty="0">
                <a:latin typeface="Cambria"/>
                <a:cs typeface="Cambria"/>
              </a:rPr>
              <a:t>Une</a:t>
            </a:r>
            <a:r>
              <a:rPr sz="3050" i="1" spc="-110" dirty="0">
                <a:latin typeface="Cambria"/>
                <a:cs typeface="Cambria"/>
              </a:rPr>
              <a:t> </a:t>
            </a:r>
            <a:r>
              <a:rPr sz="3050" spc="-185" dirty="0">
                <a:latin typeface="Cambria"/>
                <a:cs typeface="Cambria"/>
              </a:rPr>
              <a:t>architecture</a:t>
            </a:r>
            <a:r>
              <a:rPr sz="3050" spc="20" dirty="0">
                <a:latin typeface="Cambria"/>
                <a:cs typeface="Cambria"/>
              </a:rPr>
              <a:t> </a:t>
            </a:r>
            <a:r>
              <a:rPr sz="3050" spc="-150" dirty="0">
                <a:latin typeface="Cambria"/>
                <a:cs typeface="Cambria"/>
              </a:rPr>
              <a:t>Client-</a:t>
            </a:r>
            <a:r>
              <a:rPr sz="3050" spc="-175" dirty="0">
                <a:latin typeface="Cambria"/>
                <a:cs typeface="Cambria"/>
              </a:rPr>
              <a:t>Serveur</a:t>
            </a:r>
            <a:r>
              <a:rPr sz="3050" spc="-120" dirty="0">
                <a:latin typeface="Cambria"/>
                <a:cs typeface="Cambria"/>
              </a:rPr>
              <a:t> </a:t>
            </a:r>
            <a:r>
              <a:rPr sz="3050" i="1" spc="-114" dirty="0">
                <a:latin typeface="Cambria"/>
                <a:cs typeface="Cambria"/>
              </a:rPr>
              <a:t>découplée</a:t>
            </a:r>
            <a:r>
              <a:rPr sz="3050" i="1" spc="-35" dirty="0">
                <a:latin typeface="Cambria"/>
                <a:cs typeface="Cambria"/>
              </a:rPr>
              <a:t> </a:t>
            </a:r>
            <a:r>
              <a:rPr sz="3050" spc="-240" dirty="0">
                <a:latin typeface="Cambria"/>
                <a:cs typeface="Cambria"/>
              </a:rPr>
              <a:t>pour</a:t>
            </a:r>
            <a:r>
              <a:rPr sz="3050" spc="35" dirty="0">
                <a:latin typeface="Cambria"/>
                <a:cs typeface="Cambria"/>
              </a:rPr>
              <a:t> </a:t>
            </a:r>
            <a:r>
              <a:rPr sz="3050" spc="-215" dirty="0">
                <a:latin typeface="Cambria"/>
                <a:cs typeface="Cambria"/>
              </a:rPr>
              <a:t>une</a:t>
            </a:r>
            <a:r>
              <a:rPr sz="3050" spc="50" dirty="0">
                <a:latin typeface="Cambria"/>
                <a:cs typeface="Cambria"/>
              </a:rPr>
              <a:t> </a:t>
            </a:r>
            <a:r>
              <a:rPr sz="3050" i="1" spc="-145" dirty="0">
                <a:latin typeface="Cambria"/>
                <a:cs typeface="Cambria"/>
              </a:rPr>
              <a:t>maintenance</a:t>
            </a:r>
            <a:r>
              <a:rPr sz="3050" i="1" spc="145" dirty="0">
                <a:latin typeface="Cambria"/>
                <a:cs typeface="Cambria"/>
              </a:rPr>
              <a:t> </a:t>
            </a:r>
            <a:r>
              <a:rPr sz="3050" i="1" spc="-85" dirty="0">
                <a:latin typeface="Cambria"/>
                <a:cs typeface="Cambria"/>
              </a:rPr>
              <a:t>aisée</a:t>
            </a:r>
            <a:r>
              <a:rPr sz="3050" i="1" spc="-10" dirty="0">
                <a:latin typeface="Cambria"/>
                <a:cs typeface="Cambria"/>
              </a:rPr>
              <a:t> </a:t>
            </a:r>
            <a:r>
              <a:rPr sz="3050" i="1" spc="-45" dirty="0">
                <a:latin typeface="Cambria"/>
                <a:cs typeface="Cambria"/>
              </a:rPr>
              <a:t>et</a:t>
            </a:r>
            <a:r>
              <a:rPr sz="3050" i="1" spc="-110" dirty="0">
                <a:latin typeface="Cambria"/>
                <a:cs typeface="Cambria"/>
              </a:rPr>
              <a:t> </a:t>
            </a:r>
            <a:r>
              <a:rPr sz="3050" i="1" spc="-100" dirty="0">
                <a:latin typeface="Cambria"/>
                <a:cs typeface="Cambria"/>
              </a:rPr>
              <a:t>une</a:t>
            </a:r>
            <a:r>
              <a:rPr sz="3050" i="1" spc="-65" dirty="0">
                <a:latin typeface="Cambria"/>
                <a:cs typeface="Cambria"/>
              </a:rPr>
              <a:t> </a:t>
            </a:r>
            <a:r>
              <a:rPr sz="3050" spc="-160" dirty="0">
                <a:latin typeface="Cambria"/>
                <a:cs typeface="Cambria"/>
              </a:rPr>
              <a:t>évolutivité</a:t>
            </a:r>
            <a:r>
              <a:rPr sz="3050" spc="114" dirty="0">
                <a:latin typeface="Cambria"/>
                <a:cs typeface="Cambria"/>
              </a:rPr>
              <a:t> </a:t>
            </a:r>
            <a:r>
              <a:rPr sz="3050" i="1" spc="-65" dirty="0">
                <a:latin typeface="Cambria"/>
                <a:cs typeface="Cambria"/>
              </a:rPr>
              <a:t>gotantie.</a:t>
            </a:r>
            <a:endParaRPr sz="3050" dirty="0">
              <a:latin typeface="Cambria"/>
              <a:cs typeface="Cambria"/>
            </a:endParaRPr>
          </a:p>
        </p:txBody>
      </p:sp>
      <p:sp>
        <p:nvSpPr>
          <p:cNvPr id="15" name="object 15"/>
          <p:cNvSpPr txBox="1"/>
          <p:nvPr/>
        </p:nvSpPr>
        <p:spPr>
          <a:xfrm>
            <a:off x="16116224" y="9439980"/>
            <a:ext cx="1223645" cy="226695"/>
          </a:xfrm>
          <a:prstGeom prst="rect">
            <a:avLst/>
          </a:prstGeom>
        </p:spPr>
        <p:txBody>
          <a:bodyPr vert="horz" wrap="square" lIns="0" tIns="15240" rIns="0" bIns="0" rtlCol="0">
            <a:spAutoFit/>
          </a:bodyPr>
          <a:lstStyle/>
          <a:p>
            <a:pPr marL="12700">
              <a:lnSpc>
                <a:spcPct val="100000"/>
              </a:lnSpc>
              <a:spcBef>
                <a:spcPts val="120"/>
              </a:spcBef>
            </a:pPr>
            <a:r>
              <a:rPr sz="1300" spc="-150" dirty="0">
                <a:latin typeface="Arial MT"/>
                <a:cs typeface="Arial MT"/>
              </a:rPr>
              <a:t>Æ\</a:t>
            </a:r>
            <a:r>
              <a:rPr sz="1300" spc="65" dirty="0">
                <a:latin typeface="Arial MT"/>
                <a:cs typeface="Arial MT"/>
              </a:rPr>
              <a:t> </a:t>
            </a:r>
            <a:r>
              <a:rPr sz="1300" spc="-10" dirty="0">
                <a:latin typeface="Arial MT"/>
                <a:cs typeface="Arial MT"/>
              </a:rPr>
              <a:t>Nc•tebookLM</a:t>
            </a:r>
            <a:endParaRPr sz="1300">
              <a:latin typeface="Arial MT"/>
              <a:cs typeface="Arial MT"/>
            </a:endParaRPr>
          </a:p>
        </p:txBody>
      </p:sp>
      <p:grpSp>
        <p:nvGrpSpPr>
          <p:cNvPr id="16" name="Group 2">
            <a:extLst>
              <a:ext uri="{FF2B5EF4-FFF2-40B4-BE49-F238E27FC236}">
                <a16:creationId xmlns:a16="http://schemas.microsoft.com/office/drawing/2014/main" id="{53EF603C-0A11-4509-AD08-CAF5A8215090}"/>
              </a:ext>
            </a:extLst>
          </p:cNvPr>
          <p:cNvGrpSpPr/>
          <p:nvPr/>
        </p:nvGrpSpPr>
        <p:grpSpPr>
          <a:xfrm>
            <a:off x="0" y="9051073"/>
            <a:ext cx="17475200" cy="686135"/>
            <a:chOff x="0" y="0"/>
            <a:chExt cx="4816593" cy="348089"/>
          </a:xfrm>
        </p:grpSpPr>
        <p:sp>
          <p:nvSpPr>
            <p:cNvPr id="17" name="Freeform 3">
              <a:extLst>
                <a:ext uri="{FF2B5EF4-FFF2-40B4-BE49-F238E27FC236}">
                  <a16:creationId xmlns:a16="http://schemas.microsoft.com/office/drawing/2014/main" id="{BAEAD438-B994-4373-98C5-235832B40058}"/>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8" name="TextBox 4">
              <a:extLst>
                <a:ext uri="{FF2B5EF4-FFF2-40B4-BE49-F238E27FC236}">
                  <a16:creationId xmlns:a16="http://schemas.microsoft.com/office/drawing/2014/main" id="{240D1E04-046A-4453-A07F-2992E3CC9DF6}"/>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06800" y="4927600"/>
            <a:ext cx="736600" cy="1625600"/>
          </a:xfrm>
          <a:prstGeom prst="rect">
            <a:avLst/>
          </a:prstGeom>
        </p:spPr>
      </p:pic>
      <p:pic>
        <p:nvPicPr>
          <p:cNvPr id="3" name="object 3"/>
          <p:cNvPicPr/>
          <p:nvPr/>
        </p:nvPicPr>
        <p:blipFill>
          <a:blip r:embed="rId3" cstate="print"/>
          <a:stretch>
            <a:fillRect/>
          </a:stretch>
        </p:blipFill>
        <p:spPr>
          <a:xfrm>
            <a:off x="7099300" y="3898900"/>
            <a:ext cx="304800" cy="1244600"/>
          </a:xfrm>
          <a:prstGeom prst="rect">
            <a:avLst/>
          </a:prstGeom>
        </p:spPr>
      </p:pic>
      <p:sp>
        <p:nvSpPr>
          <p:cNvPr id="4" name="object 4"/>
          <p:cNvSpPr/>
          <p:nvPr/>
        </p:nvSpPr>
        <p:spPr>
          <a:xfrm>
            <a:off x="1217083" y="4267200"/>
            <a:ext cx="0" cy="2362200"/>
          </a:xfrm>
          <a:custGeom>
            <a:avLst/>
            <a:gdLst/>
            <a:ahLst/>
            <a:cxnLst/>
            <a:rect l="l" t="t" r="r" b="b"/>
            <a:pathLst>
              <a:path h="2362200">
                <a:moveTo>
                  <a:pt x="0" y="2362200"/>
                </a:moveTo>
                <a:lnTo>
                  <a:pt x="0" y="0"/>
                </a:lnTo>
              </a:path>
            </a:pathLst>
          </a:custGeom>
          <a:ln w="21166">
            <a:solidFill>
              <a:srgbClr val="3B7797"/>
            </a:solidFill>
          </a:ln>
        </p:spPr>
        <p:txBody>
          <a:bodyPr wrap="square" lIns="0" tIns="0" rIns="0" bIns="0" rtlCol="0"/>
          <a:lstStyle/>
          <a:p>
            <a:endParaRPr/>
          </a:p>
        </p:txBody>
      </p:sp>
      <p:grpSp>
        <p:nvGrpSpPr>
          <p:cNvPr id="5" name="object 5"/>
          <p:cNvGrpSpPr/>
          <p:nvPr/>
        </p:nvGrpSpPr>
        <p:grpSpPr>
          <a:xfrm>
            <a:off x="1206500" y="4224866"/>
            <a:ext cx="2400300" cy="2404745"/>
            <a:chOff x="1206500" y="4224866"/>
            <a:chExt cx="2400300" cy="2404745"/>
          </a:xfrm>
        </p:grpSpPr>
        <p:sp>
          <p:nvSpPr>
            <p:cNvPr id="6" name="object 6"/>
            <p:cNvSpPr/>
            <p:nvPr/>
          </p:nvSpPr>
          <p:spPr>
            <a:xfrm>
              <a:off x="3596216" y="4267199"/>
              <a:ext cx="0" cy="2362200"/>
            </a:xfrm>
            <a:custGeom>
              <a:avLst/>
              <a:gdLst/>
              <a:ahLst/>
              <a:cxnLst/>
              <a:rect l="l" t="t" r="r" b="b"/>
              <a:pathLst>
                <a:path h="2362200">
                  <a:moveTo>
                    <a:pt x="0" y="2362200"/>
                  </a:moveTo>
                  <a:lnTo>
                    <a:pt x="0" y="0"/>
                  </a:lnTo>
                </a:path>
              </a:pathLst>
            </a:custGeom>
            <a:ln w="21166">
              <a:solidFill>
                <a:srgbClr val="3B7797"/>
              </a:solidFill>
            </a:ln>
          </p:spPr>
          <p:txBody>
            <a:bodyPr wrap="square" lIns="0" tIns="0" rIns="0" bIns="0" rtlCol="0"/>
            <a:lstStyle/>
            <a:p>
              <a:endParaRPr/>
            </a:p>
          </p:txBody>
        </p:sp>
        <p:sp>
          <p:nvSpPr>
            <p:cNvPr id="7" name="object 7"/>
            <p:cNvSpPr/>
            <p:nvPr/>
          </p:nvSpPr>
          <p:spPr>
            <a:xfrm>
              <a:off x="1206500" y="4277783"/>
              <a:ext cx="2400300" cy="0"/>
            </a:xfrm>
            <a:custGeom>
              <a:avLst/>
              <a:gdLst/>
              <a:ahLst/>
              <a:cxnLst/>
              <a:rect l="l" t="t" r="r" b="b"/>
              <a:pathLst>
                <a:path w="2400300">
                  <a:moveTo>
                    <a:pt x="0" y="0"/>
                  </a:moveTo>
                  <a:lnTo>
                    <a:pt x="2400300" y="0"/>
                  </a:lnTo>
                </a:path>
              </a:pathLst>
            </a:custGeom>
            <a:ln w="21166">
              <a:solidFill>
                <a:srgbClr val="3B7797"/>
              </a:solidFill>
            </a:ln>
          </p:spPr>
          <p:txBody>
            <a:bodyPr wrap="square" lIns="0" tIns="0" rIns="0" bIns="0" rtlCol="0"/>
            <a:lstStyle/>
            <a:p>
              <a:endParaRPr/>
            </a:p>
          </p:txBody>
        </p:sp>
        <p:sp>
          <p:nvSpPr>
            <p:cNvPr id="8" name="object 8"/>
            <p:cNvSpPr/>
            <p:nvPr/>
          </p:nvSpPr>
          <p:spPr>
            <a:xfrm>
              <a:off x="1282700" y="4265083"/>
              <a:ext cx="2303145" cy="0"/>
            </a:xfrm>
            <a:custGeom>
              <a:avLst/>
              <a:gdLst/>
              <a:ahLst/>
              <a:cxnLst/>
              <a:rect l="l" t="t" r="r" b="b"/>
              <a:pathLst>
                <a:path w="2303145">
                  <a:moveTo>
                    <a:pt x="0" y="0"/>
                  </a:moveTo>
                  <a:lnTo>
                    <a:pt x="2302933" y="0"/>
                  </a:lnTo>
                </a:path>
              </a:pathLst>
            </a:custGeom>
            <a:ln w="4233">
              <a:solidFill>
                <a:srgbClr val="347093"/>
              </a:solidFill>
            </a:ln>
          </p:spPr>
          <p:txBody>
            <a:bodyPr wrap="square" lIns="0" tIns="0" rIns="0" bIns="0" rtlCol="0"/>
            <a:lstStyle/>
            <a:p>
              <a:endParaRPr/>
            </a:p>
          </p:txBody>
        </p:sp>
        <p:sp>
          <p:nvSpPr>
            <p:cNvPr id="9" name="object 9"/>
            <p:cNvSpPr/>
            <p:nvPr/>
          </p:nvSpPr>
          <p:spPr>
            <a:xfrm>
              <a:off x="1295400" y="4226983"/>
              <a:ext cx="2265045" cy="0"/>
            </a:xfrm>
            <a:custGeom>
              <a:avLst/>
              <a:gdLst/>
              <a:ahLst/>
              <a:cxnLst/>
              <a:rect l="l" t="t" r="r" b="b"/>
              <a:pathLst>
                <a:path w="2265045">
                  <a:moveTo>
                    <a:pt x="0" y="0"/>
                  </a:moveTo>
                  <a:lnTo>
                    <a:pt x="2264833" y="0"/>
                  </a:lnTo>
                </a:path>
              </a:pathLst>
            </a:custGeom>
            <a:ln w="4233">
              <a:solidFill>
                <a:srgbClr val="347093"/>
              </a:solidFill>
            </a:ln>
          </p:spPr>
          <p:txBody>
            <a:bodyPr wrap="square" lIns="0" tIns="0" rIns="0" bIns="0" rtlCol="0"/>
            <a:lstStyle/>
            <a:p>
              <a:endParaRPr/>
            </a:p>
          </p:txBody>
        </p:sp>
      </p:grpSp>
      <p:sp>
        <p:nvSpPr>
          <p:cNvPr id="10" name="object 10"/>
          <p:cNvSpPr/>
          <p:nvPr/>
        </p:nvSpPr>
        <p:spPr>
          <a:xfrm>
            <a:off x="8303683" y="4254500"/>
            <a:ext cx="0" cy="2273300"/>
          </a:xfrm>
          <a:custGeom>
            <a:avLst/>
            <a:gdLst/>
            <a:ahLst/>
            <a:cxnLst/>
            <a:rect l="l" t="t" r="r" b="b"/>
            <a:pathLst>
              <a:path h="2273300">
                <a:moveTo>
                  <a:pt x="0" y="2273300"/>
                </a:moveTo>
                <a:lnTo>
                  <a:pt x="0" y="0"/>
                </a:lnTo>
              </a:path>
            </a:pathLst>
          </a:custGeom>
          <a:ln w="21166">
            <a:solidFill>
              <a:srgbClr val="347493"/>
            </a:solidFill>
          </a:ln>
        </p:spPr>
        <p:txBody>
          <a:bodyPr wrap="square" lIns="0" tIns="0" rIns="0" bIns="0" rtlCol="0"/>
          <a:lstStyle/>
          <a:p>
            <a:endParaRPr/>
          </a:p>
        </p:txBody>
      </p:sp>
      <p:grpSp>
        <p:nvGrpSpPr>
          <p:cNvPr id="11" name="object 11"/>
          <p:cNvGrpSpPr/>
          <p:nvPr/>
        </p:nvGrpSpPr>
        <p:grpSpPr>
          <a:xfrm>
            <a:off x="8293100" y="4237566"/>
            <a:ext cx="2387600" cy="2290445"/>
            <a:chOff x="8293100" y="4237566"/>
            <a:chExt cx="2387600" cy="2290445"/>
          </a:xfrm>
        </p:grpSpPr>
        <p:sp>
          <p:nvSpPr>
            <p:cNvPr id="12" name="object 12"/>
            <p:cNvSpPr/>
            <p:nvPr/>
          </p:nvSpPr>
          <p:spPr>
            <a:xfrm>
              <a:off x="10670116" y="4254499"/>
              <a:ext cx="0" cy="2273300"/>
            </a:xfrm>
            <a:custGeom>
              <a:avLst/>
              <a:gdLst/>
              <a:ahLst/>
              <a:cxnLst/>
              <a:rect l="l" t="t" r="r" b="b"/>
              <a:pathLst>
                <a:path h="2273300">
                  <a:moveTo>
                    <a:pt x="0" y="2273300"/>
                  </a:moveTo>
                  <a:lnTo>
                    <a:pt x="0" y="0"/>
                  </a:lnTo>
                </a:path>
              </a:pathLst>
            </a:custGeom>
            <a:ln w="21166">
              <a:solidFill>
                <a:srgbClr val="347493"/>
              </a:solidFill>
            </a:ln>
          </p:spPr>
          <p:txBody>
            <a:bodyPr wrap="square" lIns="0" tIns="0" rIns="0" bIns="0" rtlCol="0"/>
            <a:lstStyle/>
            <a:p>
              <a:endParaRPr/>
            </a:p>
          </p:txBody>
        </p:sp>
        <p:sp>
          <p:nvSpPr>
            <p:cNvPr id="13" name="object 13"/>
            <p:cNvSpPr/>
            <p:nvPr/>
          </p:nvSpPr>
          <p:spPr>
            <a:xfrm>
              <a:off x="8293100" y="4265083"/>
              <a:ext cx="2387600" cy="0"/>
            </a:xfrm>
            <a:custGeom>
              <a:avLst/>
              <a:gdLst/>
              <a:ahLst/>
              <a:cxnLst/>
              <a:rect l="l" t="t" r="r" b="b"/>
              <a:pathLst>
                <a:path w="2387600">
                  <a:moveTo>
                    <a:pt x="0" y="0"/>
                  </a:moveTo>
                  <a:lnTo>
                    <a:pt x="2387600" y="0"/>
                  </a:lnTo>
                </a:path>
              </a:pathLst>
            </a:custGeom>
            <a:ln w="21166">
              <a:solidFill>
                <a:srgbClr val="347493"/>
              </a:solidFill>
            </a:ln>
          </p:spPr>
          <p:txBody>
            <a:bodyPr wrap="square" lIns="0" tIns="0" rIns="0" bIns="0" rtlCol="0"/>
            <a:lstStyle/>
            <a:p>
              <a:endParaRPr/>
            </a:p>
          </p:txBody>
        </p:sp>
        <p:sp>
          <p:nvSpPr>
            <p:cNvPr id="14" name="object 14"/>
            <p:cNvSpPr/>
            <p:nvPr/>
          </p:nvSpPr>
          <p:spPr>
            <a:xfrm>
              <a:off x="8382000" y="4252383"/>
              <a:ext cx="2290445" cy="0"/>
            </a:xfrm>
            <a:custGeom>
              <a:avLst/>
              <a:gdLst/>
              <a:ahLst/>
              <a:cxnLst/>
              <a:rect l="l" t="t" r="r" b="b"/>
              <a:pathLst>
                <a:path w="2290445">
                  <a:moveTo>
                    <a:pt x="0" y="0"/>
                  </a:moveTo>
                  <a:lnTo>
                    <a:pt x="2290233" y="0"/>
                  </a:lnTo>
                </a:path>
              </a:pathLst>
            </a:custGeom>
            <a:ln w="4233">
              <a:solidFill>
                <a:srgbClr val="38779C"/>
              </a:solidFill>
            </a:ln>
          </p:spPr>
          <p:txBody>
            <a:bodyPr wrap="square" lIns="0" tIns="0" rIns="0" bIns="0" rtlCol="0"/>
            <a:lstStyle/>
            <a:p>
              <a:endParaRPr/>
            </a:p>
          </p:txBody>
        </p:sp>
        <p:sp>
          <p:nvSpPr>
            <p:cNvPr id="15" name="object 15"/>
            <p:cNvSpPr/>
            <p:nvPr/>
          </p:nvSpPr>
          <p:spPr>
            <a:xfrm>
              <a:off x="8394700" y="4239683"/>
              <a:ext cx="2265045" cy="0"/>
            </a:xfrm>
            <a:custGeom>
              <a:avLst/>
              <a:gdLst/>
              <a:ahLst/>
              <a:cxnLst/>
              <a:rect l="l" t="t" r="r" b="b"/>
              <a:pathLst>
                <a:path w="2265045">
                  <a:moveTo>
                    <a:pt x="0" y="0"/>
                  </a:moveTo>
                  <a:lnTo>
                    <a:pt x="2264833" y="0"/>
                  </a:lnTo>
                </a:path>
              </a:pathLst>
            </a:custGeom>
            <a:ln w="4233">
              <a:solidFill>
                <a:srgbClr val="38779C"/>
              </a:solidFill>
            </a:ln>
          </p:spPr>
          <p:txBody>
            <a:bodyPr wrap="square" lIns="0" tIns="0" rIns="0" bIns="0" rtlCol="0"/>
            <a:lstStyle/>
            <a:p>
              <a:endParaRPr/>
            </a:p>
          </p:txBody>
        </p:sp>
      </p:grpSp>
      <p:sp>
        <p:nvSpPr>
          <p:cNvPr id="16" name="object 16"/>
          <p:cNvSpPr txBox="1">
            <a:spLocks noGrp="1"/>
          </p:cNvSpPr>
          <p:nvPr>
            <p:ph type="title"/>
          </p:nvPr>
        </p:nvSpPr>
        <p:spPr>
          <a:prstGeom prst="rect">
            <a:avLst/>
          </a:prstGeom>
        </p:spPr>
        <p:txBody>
          <a:bodyPr vert="horz" wrap="square" lIns="0" tIns="13970" rIns="0" bIns="0" rtlCol="0">
            <a:spAutoFit/>
          </a:bodyPr>
          <a:lstStyle/>
          <a:p>
            <a:pPr marL="1776095">
              <a:lnSpc>
                <a:spcPct val="100000"/>
              </a:lnSpc>
              <a:spcBef>
                <a:spcPts val="110"/>
              </a:spcBef>
            </a:pPr>
            <a:r>
              <a:rPr sz="4850" spc="175" dirty="0">
                <a:solidFill>
                  <a:srgbClr val="2A80AF"/>
                </a:solidFill>
              </a:rPr>
              <a:t>Modélisation</a:t>
            </a:r>
            <a:r>
              <a:rPr sz="4850" spc="200" dirty="0">
                <a:solidFill>
                  <a:srgbClr val="2A80AF"/>
                </a:solidFill>
              </a:rPr>
              <a:t> </a:t>
            </a:r>
            <a:r>
              <a:rPr sz="4850" spc="155" dirty="0">
                <a:solidFill>
                  <a:srgbClr val="2A85B1"/>
                </a:solidFill>
              </a:rPr>
              <a:t>des</a:t>
            </a:r>
            <a:r>
              <a:rPr sz="4850" spc="-155" dirty="0">
                <a:solidFill>
                  <a:srgbClr val="2A85B1"/>
                </a:solidFill>
              </a:rPr>
              <a:t> </a:t>
            </a:r>
            <a:r>
              <a:rPr sz="4850" spc="80" dirty="0">
                <a:solidFill>
                  <a:srgbClr val="2A7CAC"/>
                </a:solidFill>
              </a:rPr>
              <a:t>Données</a:t>
            </a:r>
            <a:r>
              <a:rPr sz="4850" spc="20" dirty="0">
                <a:solidFill>
                  <a:srgbClr val="2A7CAC"/>
                </a:solidFill>
              </a:rPr>
              <a:t> </a:t>
            </a:r>
            <a:r>
              <a:rPr sz="4850" spc="140" dirty="0">
                <a:solidFill>
                  <a:srgbClr val="2679A8"/>
                </a:solidFill>
              </a:rPr>
              <a:t>Relationnelles</a:t>
            </a:r>
            <a:endParaRPr sz="4850"/>
          </a:p>
        </p:txBody>
      </p:sp>
      <p:sp>
        <p:nvSpPr>
          <p:cNvPr id="17" name="object 17"/>
          <p:cNvSpPr txBox="1"/>
          <p:nvPr/>
        </p:nvSpPr>
        <p:spPr>
          <a:xfrm>
            <a:off x="1227666" y="4332111"/>
            <a:ext cx="2358390" cy="427990"/>
          </a:xfrm>
          <a:prstGeom prst="rect">
            <a:avLst/>
          </a:prstGeom>
        </p:spPr>
        <p:txBody>
          <a:bodyPr vert="horz" wrap="square" lIns="0" tIns="17145" rIns="0" bIns="0" rtlCol="0">
            <a:spAutoFit/>
          </a:bodyPr>
          <a:lstStyle/>
          <a:p>
            <a:pPr marL="536575">
              <a:lnSpc>
                <a:spcPct val="100000"/>
              </a:lnSpc>
              <a:spcBef>
                <a:spcPts val="135"/>
              </a:spcBef>
            </a:pPr>
            <a:r>
              <a:rPr sz="2600" spc="95" dirty="0">
                <a:solidFill>
                  <a:srgbClr val="246E95"/>
                </a:solidFill>
                <a:latin typeface="Arial MT"/>
                <a:cs typeface="Arial MT"/>
              </a:rPr>
              <a:t>Patients</a:t>
            </a:r>
            <a:endParaRPr sz="2600">
              <a:latin typeface="Arial MT"/>
              <a:cs typeface="Arial MT"/>
            </a:endParaRPr>
          </a:p>
        </p:txBody>
      </p:sp>
      <p:sp>
        <p:nvSpPr>
          <p:cNvPr id="18" name="object 18"/>
          <p:cNvSpPr txBox="1"/>
          <p:nvPr/>
        </p:nvSpPr>
        <p:spPr>
          <a:xfrm>
            <a:off x="1217083" y="4917016"/>
            <a:ext cx="2379345" cy="1701800"/>
          </a:xfrm>
          <a:prstGeom prst="rect">
            <a:avLst/>
          </a:prstGeom>
          <a:ln w="21166">
            <a:solidFill>
              <a:srgbClr val="3B7797"/>
            </a:solidFill>
          </a:ln>
        </p:spPr>
        <p:txBody>
          <a:bodyPr vert="horz" wrap="square" lIns="0" tIns="111125" rIns="0" bIns="0" rtlCol="0">
            <a:spAutoFit/>
          </a:bodyPr>
          <a:lstStyle/>
          <a:p>
            <a:pPr marL="516255" marR="474345" indent="-1270" algn="ctr">
              <a:lnSpc>
                <a:spcPct val="98400"/>
              </a:lnSpc>
              <a:spcBef>
                <a:spcPts val="875"/>
              </a:spcBef>
            </a:pPr>
            <a:r>
              <a:rPr sz="2300" spc="-10" dirty="0">
                <a:latin typeface="Arial MT"/>
                <a:cs typeface="Arial MT"/>
              </a:rPr>
              <a:t>Dossiers médicaux, historique, </a:t>
            </a:r>
            <a:r>
              <a:rPr sz="2350" dirty="0">
                <a:latin typeface="Arial MT"/>
                <a:cs typeface="Arial MT"/>
              </a:rPr>
              <a:t>état</a:t>
            </a:r>
            <a:r>
              <a:rPr sz="2350" spc="185" dirty="0">
                <a:latin typeface="Arial MT"/>
                <a:cs typeface="Arial MT"/>
              </a:rPr>
              <a:t> </a:t>
            </a:r>
            <a:r>
              <a:rPr sz="2350" spc="-10" dirty="0">
                <a:latin typeface="Arial MT"/>
                <a:cs typeface="Arial MT"/>
              </a:rPr>
              <a:t>civil</a:t>
            </a:r>
            <a:endParaRPr sz="2350">
              <a:latin typeface="Arial MT"/>
              <a:cs typeface="Arial MT"/>
            </a:endParaRPr>
          </a:p>
        </p:txBody>
      </p:sp>
      <p:sp>
        <p:nvSpPr>
          <p:cNvPr id="19" name="object 19"/>
          <p:cNvSpPr txBox="1"/>
          <p:nvPr/>
        </p:nvSpPr>
        <p:spPr>
          <a:xfrm>
            <a:off x="4709583" y="3261783"/>
            <a:ext cx="2366645" cy="635000"/>
          </a:xfrm>
          <a:prstGeom prst="rect">
            <a:avLst/>
          </a:prstGeom>
          <a:ln w="21166">
            <a:solidFill>
              <a:srgbClr val="347497"/>
            </a:solidFill>
          </a:ln>
        </p:spPr>
        <p:txBody>
          <a:bodyPr vert="horz" wrap="square" lIns="0" tIns="59055" rIns="0" bIns="0" rtlCol="0">
            <a:spAutoFit/>
          </a:bodyPr>
          <a:lstStyle/>
          <a:p>
            <a:pPr marL="434340">
              <a:lnSpc>
                <a:spcPct val="100000"/>
              </a:lnSpc>
              <a:spcBef>
                <a:spcPts val="465"/>
              </a:spcBef>
            </a:pPr>
            <a:r>
              <a:rPr sz="2600" spc="85" dirty="0">
                <a:solidFill>
                  <a:srgbClr val="2379A8"/>
                </a:solidFill>
                <a:latin typeface="Arial MT"/>
                <a:cs typeface="Arial MT"/>
              </a:rPr>
              <a:t>Médecins</a:t>
            </a:r>
            <a:endParaRPr sz="2600">
              <a:latin typeface="Arial MT"/>
              <a:cs typeface="Arial MT"/>
            </a:endParaRPr>
          </a:p>
        </p:txBody>
      </p:sp>
      <p:sp>
        <p:nvSpPr>
          <p:cNvPr id="20" name="object 20"/>
          <p:cNvSpPr txBox="1"/>
          <p:nvPr/>
        </p:nvSpPr>
        <p:spPr>
          <a:xfrm>
            <a:off x="4709583" y="3896783"/>
            <a:ext cx="2366645" cy="1312545"/>
          </a:xfrm>
          <a:prstGeom prst="rect">
            <a:avLst/>
          </a:prstGeom>
          <a:ln w="21166">
            <a:solidFill>
              <a:srgbClr val="347497"/>
            </a:solidFill>
          </a:ln>
        </p:spPr>
        <p:txBody>
          <a:bodyPr vert="horz" wrap="square" lIns="0" tIns="93345" rIns="0" bIns="0" rtlCol="0">
            <a:spAutoFit/>
          </a:bodyPr>
          <a:lstStyle/>
          <a:p>
            <a:pPr marL="180975" marR="106045" indent="-27305" algn="ctr">
              <a:lnSpc>
                <a:spcPct val="92700"/>
              </a:lnSpc>
              <a:spcBef>
                <a:spcPts val="735"/>
              </a:spcBef>
            </a:pPr>
            <a:r>
              <a:rPr sz="2500" spc="-10" dirty="0">
                <a:latin typeface="Arial MT"/>
                <a:cs typeface="Arial MT"/>
              </a:rPr>
              <a:t>Spécialités, </a:t>
            </a:r>
            <a:r>
              <a:rPr sz="2400" spc="-10" dirty="0">
                <a:latin typeface="Arial MT"/>
                <a:cs typeface="Arial MT"/>
              </a:rPr>
              <a:t>disponibilités, </a:t>
            </a:r>
            <a:r>
              <a:rPr sz="2500" spc="-40" dirty="0">
                <a:latin typeface="Arial MT"/>
                <a:cs typeface="Arial MT"/>
              </a:rPr>
              <a:t>authentification</a:t>
            </a:r>
            <a:endParaRPr sz="2500">
              <a:latin typeface="Arial MT"/>
              <a:cs typeface="Arial MT"/>
            </a:endParaRPr>
          </a:p>
        </p:txBody>
      </p:sp>
      <p:sp>
        <p:nvSpPr>
          <p:cNvPr id="21" name="object 21"/>
          <p:cNvSpPr txBox="1"/>
          <p:nvPr/>
        </p:nvSpPr>
        <p:spPr>
          <a:xfrm>
            <a:off x="8314266" y="4332111"/>
            <a:ext cx="2345690" cy="427990"/>
          </a:xfrm>
          <a:prstGeom prst="rect">
            <a:avLst/>
          </a:prstGeom>
        </p:spPr>
        <p:txBody>
          <a:bodyPr vert="horz" wrap="square" lIns="0" tIns="17145" rIns="0" bIns="0" rtlCol="0">
            <a:spAutoFit/>
          </a:bodyPr>
          <a:lstStyle/>
          <a:p>
            <a:pPr marL="155575">
              <a:lnSpc>
                <a:spcPct val="100000"/>
              </a:lnSpc>
              <a:spcBef>
                <a:spcPts val="135"/>
              </a:spcBef>
            </a:pPr>
            <a:r>
              <a:rPr sz="2600" spc="70" dirty="0">
                <a:solidFill>
                  <a:srgbClr val="236990"/>
                </a:solidFill>
                <a:latin typeface="Arial MT"/>
                <a:cs typeface="Arial MT"/>
              </a:rPr>
              <a:t>Rendez-</a:t>
            </a:r>
            <a:r>
              <a:rPr sz="2600" spc="45" dirty="0">
                <a:solidFill>
                  <a:srgbClr val="236990"/>
                </a:solidFill>
                <a:latin typeface="Arial MT"/>
                <a:cs typeface="Arial MT"/>
              </a:rPr>
              <a:t>vous</a:t>
            </a:r>
            <a:endParaRPr sz="2600">
              <a:latin typeface="Arial MT"/>
              <a:cs typeface="Arial MT"/>
            </a:endParaRPr>
          </a:p>
        </p:txBody>
      </p:sp>
      <p:sp>
        <p:nvSpPr>
          <p:cNvPr id="22" name="object 22"/>
          <p:cNvSpPr txBox="1"/>
          <p:nvPr/>
        </p:nvSpPr>
        <p:spPr>
          <a:xfrm>
            <a:off x="7975600" y="5129388"/>
            <a:ext cx="196850" cy="385445"/>
          </a:xfrm>
          <a:prstGeom prst="rect">
            <a:avLst/>
          </a:prstGeom>
        </p:spPr>
        <p:txBody>
          <a:bodyPr vert="horz" wrap="square" lIns="0" tIns="13970" rIns="0" bIns="0" rtlCol="0">
            <a:spAutoFit/>
          </a:bodyPr>
          <a:lstStyle/>
          <a:p>
            <a:pPr marL="12700">
              <a:lnSpc>
                <a:spcPct val="100000"/>
              </a:lnSpc>
              <a:spcBef>
                <a:spcPts val="110"/>
              </a:spcBef>
            </a:pPr>
            <a:r>
              <a:rPr sz="2350" spc="-1065" dirty="0">
                <a:solidFill>
                  <a:srgbClr val="649ABF"/>
                </a:solidFill>
                <a:latin typeface="Arial MT"/>
                <a:cs typeface="Arial MT"/>
              </a:rPr>
              <a:t>—</a:t>
            </a:r>
            <a:endParaRPr sz="2350">
              <a:latin typeface="Arial MT"/>
              <a:cs typeface="Arial MT"/>
            </a:endParaRPr>
          </a:p>
        </p:txBody>
      </p:sp>
      <p:sp>
        <p:nvSpPr>
          <p:cNvPr id="23" name="object 23"/>
          <p:cNvSpPr txBox="1"/>
          <p:nvPr/>
        </p:nvSpPr>
        <p:spPr>
          <a:xfrm>
            <a:off x="8303683" y="4917016"/>
            <a:ext cx="2366645" cy="1600200"/>
          </a:xfrm>
          <a:prstGeom prst="rect">
            <a:avLst/>
          </a:prstGeom>
          <a:ln w="21166">
            <a:solidFill>
              <a:srgbClr val="347493"/>
            </a:solidFill>
          </a:ln>
        </p:spPr>
        <p:txBody>
          <a:bodyPr vert="horz" wrap="square" lIns="0" tIns="250190" rIns="0" bIns="0" rtlCol="0">
            <a:spAutoFit/>
          </a:bodyPr>
          <a:lstStyle/>
          <a:p>
            <a:pPr marL="775970" marR="731520" indent="91440" algn="just">
              <a:lnSpc>
                <a:spcPts val="2700"/>
              </a:lnSpc>
              <a:spcBef>
                <a:spcPts val="1970"/>
              </a:spcBef>
            </a:pPr>
            <a:r>
              <a:rPr sz="2350" spc="-10" dirty="0">
                <a:latin typeface="Arial MT"/>
                <a:cs typeface="Arial MT"/>
              </a:rPr>
              <a:t>Date, </a:t>
            </a:r>
            <a:r>
              <a:rPr sz="2550" spc="-170" dirty="0">
                <a:latin typeface="Arial MT"/>
                <a:cs typeface="Arial MT"/>
              </a:rPr>
              <a:t>Heure, </a:t>
            </a:r>
            <a:r>
              <a:rPr sz="2400" spc="-10" dirty="0">
                <a:latin typeface="Arial MT"/>
                <a:cs typeface="Arial MT"/>
              </a:rPr>
              <a:t>Statut</a:t>
            </a:r>
            <a:endParaRPr sz="2400">
              <a:latin typeface="Arial MT"/>
              <a:cs typeface="Arial MT"/>
            </a:endParaRPr>
          </a:p>
        </p:txBody>
      </p:sp>
      <p:sp>
        <p:nvSpPr>
          <p:cNvPr id="24" name="object 24"/>
          <p:cNvSpPr txBox="1"/>
          <p:nvPr/>
        </p:nvSpPr>
        <p:spPr>
          <a:xfrm>
            <a:off x="12172983" y="2781300"/>
            <a:ext cx="4116070" cy="4373245"/>
          </a:xfrm>
          <a:prstGeom prst="rect">
            <a:avLst/>
          </a:prstGeom>
        </p:spPr>
        <p:txBody>
          <a:bodyPr vert="horz" wrap="square" lIns="0" tIns="52069" rIns="0" bIns="0" rtlCol="0">
            <a:spAutoFit/>
          </a:bodyPr>
          <a:lstStyle/>
          <a:p>
            <a:pPr marL="20320" marR="395605" indent="-8255">
              <a:lnSpc>
                <a:spcPts val="4300"/>
              </a:lnSpc>
              <a:spcBef>
                <a:spcPts val="409"/>
              </a:spcBef>
            </a:pPr>
            <a:r>
              <a:rPr sz="3750" spc="135" dirty="0">
                <a:solidFill>
                  <a:srgbClr val="2A79A7"/>
                </a:solidFill>
                <a:latin typeface="Arial MT"/>
                <a:cs typeface="Arial MT"/>
              </a:rPr>
              <a:t>Infrastructure</a:t>
            </a:r>
            <a:r>
              <a:rPr sz="3750" spc="-165" dirty="0">
                <a:solidFill>
                  <a:srgbClr val="2A79A7"/>
                </a:solidFill>
                <a:latin typeface="Arial MT"/>
                <a:cs typeface="Arial MT"/>
              </a:rPr>
              <a:t> </a:t>
            </a:r>
            <a:r>
              <a:rPr sz="3750" spc="-35" dirty="0">
                <a:solidFill>
                  <a:srgbClr val="2A77A3"/>
                </a:solidFill>
                <a:latin typeface="Arial MT"/>
                <a:cs typeface="Arial MT"/>
              </a:rPr>
              <a:t>de </a:t>
            </a:r>
            <a:r>
              <a:rPr sz="3750" spc="-10" dirty="0">
                <a:solidFill>
                  <a:srgbClr val="2879A7"/>
                </a:solidFill>
                <a:latin typeface="Arial MT"/>
                <a:cs typeface="Arial MT"/>
              </a:rPr>
              <a:t>Données</a:t>
            </a:r>
            <a:endParaRPr sz="3750">
              <a:latin typeface="Arial MT"/>
              <a:cs typeface="Arial MT"/>
            </a:endParaRPr>
          </a:p>
          <a:p>
            <a:pPr marL="447040" marR="5080" indent="-296545">
              <a:lnSpc>
                <a:spcPts val="3400"/>
              </a:lnSpc>
              <a:spcBef>
                <a:spcPts val="2720"/>
              </a:spcBef>
              <a:buClr>
                <a:srgbClr val="1C1C1C"/>
              </a:buClr>
              <a:buChar char="•"/>
              <a:tabLst>
                <a:tab pos="447040" algn="l"/>
              </a:tabLst>
            </a:pPr>
            <a:r>
              <a:rPr sz="2900" spc="-114" dirty="0">
                <a:latin typeface="Arial MT"/>
                <a:cs typeface="Arial MT"/>
              </a:rPr>
              <a:t>Persistance</a:t>
            </a:r>
            <a:r>
              <a:rPr sz="2900" spc="10" dirty="0">
                <a:latin typeface="Arial MT"/>
                <a:cs typeface="Arial MT"/>
              </a:rPr>
              <a:t> </a:t>
            </a:r>
            <a:r>
              <a:rPr sz="2900" spc="-135" dirty="0">
                <a:latin typeface="Arial MT"/>
                <a:cs typeface="Arial MT"/>
              </a:rPr>
              <a:t>assurée</a:t>
            </a:r>
            <a:r>
              <a:rPr sz="2900" spc="-55" dirty="0">
                <a:latin typeface="Arial MT"/>
                <a:cs typeface="Arial MT"/>
              </a:rPr>
              <a:t> </a:t>
            </a:r>
            <a:r>
              <a:rPr sz="2900" spc="-90" dirty="0">
                <a:latin typeface="Arial MT"/>
                <a:cs typeface="Arial MT"/>
              </a:rPr>
              <a:t>par </a:t>
            </a:r>
            <a:r>
              <a:rPr sz="2900" spc="-85" dirty="0">
                <a:latin typeface="Arial MT"/>
                <a:cs typeface="Arial MT"/>
              </a:rPr>
              <a:t>PostgreSQL.</a:t>
            </a:r>
            <a:endParaRPr sz="2900">
              <a:latin typeface="Arial MT"/>
              <a:cs typeface="Arial MT"/>
            </a:endParaRPr>
          </a:p>
          <a:p>
            <a:pPr marL="445770" marR="565785" indent="-282575">
              <a:lnSpc>
                <a:spcPts val="3500"/>
              </a:lnSpc>
              <a:spcBef>
                <a:spcPts val="1019"/>
              </a:spcBef>
              <a:buClr>
                <a:srgbClr val="242424"/>
              </a:buClr>
              <a:buChar char="•"/>
              <a:tabLst>
                <a:tab pos="450850" algn="l"/>
              </a:tabLst>
            </a:pPr>
            <a:r>
              <a:rPr sz="2950" spc="-140" dirty="0">
                <a:latin typeface="Arial MT"/>
                <a:cs typeface="Arial MT"/>
              </a:rPr>
              <a:t>Relations</a:t>
            </a:r>
            <a:r>
              <a:rPr sz="2950" spc="-55" dirty="0">
                <a:latin typeface="Arial MT"/>
                <a:cs typeface="Arial MT"/>
              </a:rPr>
              <a:t> </a:t>
            </a:r>
            <a:r>
              <a:rPr sz="2950" spc="-180" dirty="0">
                <a:latin typeface="Arial MT"/>
                <a:cs typeface="Arial MT"/>
              </a:rPr>
              <a:t>complexes 	</a:t>
            </a:r>
            <a:r>
              <a:rPr sz="2950" spc="-150" dirty="0">
                <a:latin typeface="Arial MT"/>
                <a:cs typeface="Arial MT"/>
              </a:rPr>
              <a:t>gérées</a:t>
            </a:r>
            <a:r>
              <a:rPr sz="2950" spc="-55" dirty="0">
                <a:latin typeface="Arial MT"/>
                <a:cs typeface="Arial MT"/>
              </a:rPr>
              <a:t> </a:t>
            </a:r>
            <a:r>
              <a:rPr sz="2950" spc="-50" dirty="0">
                <a:latin typeface="Arial MT"/>
                <a:cs typeface="Arial MT"/>
              </a:rPr>
              <a:t>nativement.</a:t>
            </a:r>
            <a:endParaRPr sz="2950">
              <a:latin typeface="Arial MT"/>
              <a:cs typeface="Arial MT"/>
            </a:endParaRPr>
          </a:p>
          <a:p>
            <a:pPr marL="447040" marR="17145" indent="-283210">
              <a:lnSpc>
                <a:spcPts val="3400"/>
              </a:lnSpc>
              <a:spcBef>
                <a:spcPts val="1080"/>
              </a:spcBef>
              <a:buClr>
                <a:srgbClr val="262626"/>
              </a:buClr>
              <a:buChar char="•"/>
              <a:tabLst>
                <a:tab pos="458470" algn="l"/>
              </a:tabLst>
            </a:pPr>
            <a:r>
              <a:rPr sz="2900" spc="-100" dirty="0">
                <a:latin typeface="Arial MT"/>
                <a:cs typeface="Arial MT"/>
              </a:rPr>
              <a:t>Validation</a:t>
            </a:r>
            <a:r>
              <a:rPr sz="2900" spc="-30" dirty="0">
                <a:latin typeface="Arial MT"/>
                <a:cs typeface="Arial MT"/>
              </a:rPr>
              <a:t> </a:t>
            </a:r>
            <a:r>
              <a:rPr sz="2900" spc="-105" dirty="0">
                <a:latin typeface="Arial MT"/>
                <a:cs typeface="Arial MT"/>
              </a:rPr>
              <a:t>des</a:t>
            </a:r>
            <a:r>
              <a:rPr sz="2900" spc="-95" dirty="0">
                <a:latin typeface="Arial MT"/>
                <a:cs typeface="Arial MT"/>
              </a:rPr>
              <a:t> </a:t>
            </a:r>
            <a:r>
              <a:rPr sz="2900" spc="-254" dirty="0">
                <a:latin typeface="Arial MT"/>
                <a:cs typeface="Arial MT"/>
              </a:rPr>
              <a:t>API</a:t>
            </a:r>
            <a:r>
              <a:rPr sz="2900" spc="-85" dirty="0">
                <a:latin typeface="Arial MT"/>
                <a:cs typeface="Arial MT"/>
              </a:rPr>
              <a:t> </a:t>
            </a:r>
            <a:r>
              <a:rPr sz="2900" spc="-395" dirty="0">
                <a:latin typeface="Arial MT"/>
                <a:cs typeface="Arial MT"/>
              </a:rPr>
              <a:t>REST 	</a:t>
            </a:r>
            <a:r>
              <a:rPr sz="2900" spc="-120" dirty="0">
                <a:latin typeface="Arial MT"/>
                <a:cs typeface="Arial MT"/>
              </a:rPr>
              <a:t>via</a:t>
            </a:r>
            <a:r>
              <a:rPr sz="2900" spc="-75" dirty="0">
                <a:latin typeface="Arial MT"/>
                <a:cs typeface="Arial MT"/>
              </a:rPr>
              <a:t> </a:t>
            </a:r>
            <a:r>
              <a:rPr sz="2900" spc="-35" dirty="0">
                <a:latin typeface="Arial MT"/>
                <a:cs typeface="Arial MT"/>
              </a:rPr>
              <a:t>Postman.</a:t>
            </a:r>
            <a:endParaRPr sz="2900">
              <a:latin typeface="Arial MT"/>
              <a:cs typeface="Arial MT"/>
            </a:endParaRPr>
          </a:p>
        </p:txBody>
      </p:sp>
      <p:sp>
        <p:nvSpPr>
          <p:cNvPr id="25" name="object 25"/>
          <p:cNvSpPr txBox="1"/>
          <p:nvPr/>
        </p:nvSpPr>
        <p:spPr>
          <a:xfrm>
            <a:off x="16114255" y="9439980"/>
            <a:ext cx="1228725" cy="226695"/>
          </a:xfrm>
          <a:prstGeom prst="rect">
            <a:avLst/>
          </a:prstGeom>
        </p:spPr>
        <p:txBody>
          <a:bodyPr vert="horz" wrap="square" lIns="0" tIns="15240" rIns="0" bIns="0" rtlCol="0">
            <a:spAutoFit/>
          </a:bodyPr>
          <a:lstStyle/>
          <a:p>
            <a:pPr marL="12700">
              <a:lnSpc>
                <a:spcPct val="100000"/>
              </a:lnSpc>
              <a:spcBef>
                <a:spcPts val="120"/>
              </a:spcBef>
            </a:pPr>
            <a:r>
              <a:rPr sz="1300" dirty="0">
                <a:latin typeface="Arial MT"/>
                <a:cs typeface="Arial MT"/>
              </a:rPr>
              <a:t>W</a:t>
            </a:r>
            <a:r>
              <a:rPr sz="1300" spc="315" dirty="0">
                <a:latin typeface="Arial MT"/>
                <a:cs typeface="Arial MT"/>
              </a:rPr>
              <a:t> </a:t>
            </a:r>
            <a:r>
              <a:rPr sz="1300" spc="-10" dirty="0">
                <a:latin typeface="Arial MT"/>
                <a:cs typeface="Arial MT"/>
              </a:rPr>
              <a:t>NotebaokLM</a:t>
            </a:r>
            <a:endParaRPr sz="1300">
              <a:latin typeface="Arial MT"/>
              <a:cs typeface="Arial MT"/>
            </a:endParaRPr>
          </a:p>
        </p:txBody>
      </p:sp>
      <p:grpSp>
        <p:nvGrpSpPr>
          <p:cNvPr id="26" name="Group 2">
            <a:extLst>
              <a:ext uri="{FF2B5EF4-FFF2-40B4-BE49-F238E27FC236}">
                <a16:creationId xmlns:a16="http://schemas.microsoft.com/office/drawing/2014/main" id="{EAF01446-10C6-4158-9CDE-C983A99743D9}"/>
              </a:ext>
            </a:extLst>
          </p:cNvPr>
          <p:cNvGrpSpPr/>
          <p:nvPr/>
        </p:nvGrpSpPr>
        <p:grpSpPr>
          <a:xfrm>
            <a:off x="0" y="9051073"/>
            <a:ext cx="17475200" cy="686135"/>
            <a:chOff x="0" y="0"/>
            <a:chExt cx="4816593" cy="348089"/>
          </a:xfrm>
        </p:grpSpPr>
        <p:sp>
          <p:nvSpPr>
            <p:cNvPr id="27" name="Freeform 3">
              <a:extLst>
                <a:ext uri="{FF2B5EF4-FFF2-40B4-BE49-F238E27FC236}">
                  <a16:creationId xmlns:a16="http://schemas.microsoft.com/office/drawing/2014/main" id="{4A2F93D8-FE81-44F5-8B7F-16E00CE12DB2}"/>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28" name="TextBox 4">
              <a:extLst>
                <a:ext uri="{FF2B5EF4-FFF2-40B4-BE49-F238E27FC236}">
                  <a16:creationId xmlns:a16="http://schemas.microsoft.com/office/drawing/2014/main" id="{8B024323-B3A5-4A9B-89AB-0D6C420EF413}"/>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2300" y="8051800"/>
            <a:ext cx="7823200" cy="152400"/>
          </a:xfrm>
          <a:prstGeom prst="rect">
            <a:avLst/>
          </a:prstGeom>
        </p:spPr>
      </p:pic>
      <p:pic>
        <p:nvPicPr>
          <p:cNvPr id="3" name="object 3"/>
          <p:cNvPicPr/>
          <p:nvPr/>
        </p:nvPicPr>
        <p:blipFill>
          <a:blip r:embed="rId3" cstate="print"/>
          <a:stretch>
            <a:fillRect/>
          </a:stretch>
        </p:blipFill>
        <p:spPr>
          <a:xfrm>
            <a:off x="1295400" y="3225800"/>
            <a:ext cx="5054600" cy="4381500"/>
          </a:xfrm>
          <a:prstGeom prst="rect">
            <a:avLst/>
          </a:prstGeom>
        </p:spPr>
      </p:pic>
      <p:pic>
        <p:nvPicPr>
          <p:cNvPr id="4" name="object 4"/>
          <p:cNvPicPr/>
          <p:nvPr/>
        </p:nvPicPr>
        <p:blipFill>
          <a:blip r:embed="rId4" cstate="print"/>
          <a:stretch>
            <a:fillRect/>
          </a:stretch>
        </p:blipFill>
        <p:spPr>
          <a:xfrm>
            <a:off x="9423400" y="6146800"/>
            <a:ext cx="762000" cy="342900"/>
          </a:xfrm>
          <a:prstGeom prst="rect">
            <a:avLst/>
          </a:prstGeom>
        </p:spPr>
      </p:pic>
      <p:pic>
        <p:nvPicPr>
          <p:cNvPr id="5" name="object 5"/>
          <p:cNvPicPr/>
          <p:nvPr/>
        </p:nvPicPr>
        <p:blipFill>
          <a:blip r:embed="rId5" cstate="print"/>
          <a:stretch>
            <a:fillRect/>
          </a:stretch>
        </p:blipFill>
        <p:spPr>
          <a:xfrm>
            <a:off x="9588500" y="5626100"/>
            <a:ext cx="431800" cy="431800"/>
          </a:xfrm>
          <a:prstGeom prst="rect">
            <a:avLst/>
          </a:prstGeom>
        </p:spPr>
      </p:pic>
      <p:pic>
        <p:nvPicPr>
          <p:cNvPr id="6" name="object 6"/>
          <p:cNvPicPr/>
          <p:nvPr/>
        </p:nvPicPr>
        <p:blipFill>
          <a:blip r:embed="rId6" cstate="print"/>
          <a:stretch>
            <a:fillRect/>
          </a:stretch>
        </p:blipFill>
        <p:spPr>
          <a:xfrm>
            <a:off x="9385300" y="4140200"/>
            <a:ext cx="838200" cy="876300"/>
          </a:xfrm>
          <a:prstGeom prst="rect">
            <a:avLst/>
          </a:prstGeom>
        </p:spPr>
      </p:pic>
      <p:pic>
        <p:nvPicPr>
          <p:cNvPr id="7" name="object 7"/>
          <p:cNvPicPr/>
          <p:nvPr/>
        </p:nvPicPr>
        <p:blipFill>
          <a:blip r:embed="rId7" cstate="print"/>
          <a:stretch>
            <a:fillRect/>
          </a:stretch>
        </p:blipFill>
        <p:spPr>
          <a:xfrm>
            <a:off x="9385300" y="2679700"/>
            <a:ext cx="838200" cy="876300"/>
          </a:xfrm>
          <a:prstGeom prst="rect">
            <a:avLst/>
          </a:prstGeom>
        </p:spPr>
      </p:pic>
      <p:sp>
        <p:nvSpPr>
          <p:cNvPr id="8" name="object 8"/>
          <p:cNvSpPr txBox="1"/>
          <p:nvPr/>
        </p:nvSpPr>
        <p:spPr>
          <a:xfrm>
            <a:off x="9372600" y="6985000"/>
            <a:ext cx="7112000" cy="1588897"/>
          </a:xfrm>
          <a:prstGeom prst="rect">
            <a:avLst/>
          </a:prstGeom>
          <a:solidFill>
            <a:srgbClr val="EBF9F9"/>
          </a:solidFill>
        </p:spPr>
        <p:txBody>
          <a:bodyPr vert="horz" wrap="square" lIns="0" tIns="209550" rIns="0" bIns="0" rtlCol="0">
            <a:spAutoFit/>
          </a:bodyPr>
          <a:lstStyle/>
          <a:p>
            <a:pPr marL="300355">
              <a:lnSpc>
                <a:spcPct val="100000"/>
              </a:lnSpc>
              <a:spcBef>
                <a:spcPts val="1650"/>
              </a:spcBef>
            </a:pPr>
            <a:r>
              <a:rPr sz="2950" spc="-100" dirty="0">
                <a:solidFill>
                  <a:schemeClr val="tx1"/>
                </a:solidFill>
                <a:latin typeface="Arial MT"/>
                <a:cs typeface="Arial MT"/>
              </a:rPr>
              <a:t>Security</a:t>
            </a:r>
            <a:r>
              <a:rPr sz="2950" spc="-85" dirty="0">
                <a:solidFill>
                  <a:schemeClr val="tx1"/>
                </a:solidFill>
                <a:latin typeface="Arial MT"/>
                <a:cs typeface="Arial MT"/>
              </a:rPr>
              <a:t> </a:t>
            </a:r>
            <a:r>
              <a:rPr sz="2950" spc="-20" dirty="0">
                <a:solidFill>
                  <a:schemeClr val="tx1"/>
                </a:solidFill>
                <a:latin typeface="Arial MT"/>
                <a:cs typeface="Arial MT"/>
              </a:rPr>
              <a:t>Note</a:t>
            </a:r>
            <a:endParaRPr sz="2950" dirty="0">
              <a:solidFill>
                <a:schemeClr val="tx1"/>
              </a:solidFill>
              <a:latin typeface="Arial MT"/>
              <a:cs typeface="Arial MT"/>
            </a:endParaRPr>
          </a:p>
          <a:p>
            <a:pPr marL="305435" marR="358775" indent="12065">
              <a:lnSpc>
                <a:spcPts val="3200"/>
              </a:lnSpc>
              <a:spcBef>
                <a:spcPts val="750"/>
              </a:spcBef>
            </a:pPr>
            <a:r>
              <a:rPr sz="2950" spc="-95" dirty="0">
                <a:solidFill>
                  <a:schemeClr val="tx1"/>
                </a:solidFill>
                <a:latin typeface="Arial MT"/>
                <a:cs typeface="Arial MT"/>
              </a:rPr>
              <a:t>Authentification</a:t>
            </a:r>
            <a:r>
              <a:rPr sz="2950" spc="-114" dirty="0">
                <a:solidFill>
                  <a:schemeClr val="tx1"/>
                </a:solidFill>
                <a:latin typeface="Arial MT"/>
                <a:cs typeface="Arial MT"/>
              </a:rPr>
              <a:t> </a:t>
            </a:r>
            <a:r>
              <a:rPr sz="2950" spc="-229" dirty="0">
                <a:solidFill>
                  <a:schemeClr val="tx1"/>
                </a:solidFill>
                <a:latin typeface="Arial MT"/>
                <a:cs typeface="Arial MT"/>
              </a:rPr>
              <a:t>sécurisée</a:t>
            </a:r>
            <a:r>
              <a:rPr sz="2950" spc="30" dirty="0">
                <a:solidFill>
                  <a:schemeClr val="tx1"/>
                </a:solidFill>
                <a:latin typeface="Arial MT"/>
                <a:cs typeface="Arial MT"/>
              </a:rPr>
              <a:t> </a:t>
            </a:r>
            <a:r>
              <a:rPr sz="2950" dirty="0">
                <a:solidFill>
                  <a:schemeClr val="tx1"/>
                </a:solidFill>
                <a:latin typeface="Arial MT"/>
                <a:cs typeface="Arial MT"/>
              </a:rPr>
              <a:t>et</a:t>
            </a:r>
            <a:r>
              <a:rPr sz="2950" spc="-110" dirty="0">
                <a:solidFill>
                  <a:schemeClr val="tx1"/>
                </a:solidFill>
                <a:latin typeface="Arial MT"/>
                <a:cs typeface="Arial MT"/>
              </a:rPr>
              <a:t> </a:t>
            </a:r>
            <a:r>
              <a:rPr sz="2950" spc="-190" dirty="0">
                <a:solidFill>
                  <a:schemeClr val="tx1"/>
                </a:solidFill>
                <a:latin typeface="Arial MT"/>
                <a:cs typeface="Arial MT"/>
              </a:rPr>
              <a:t>cloisonnement </a:t>
            </a:r>
            <a:r>
              <a:rPr sz="2950" spc="-75" dirty="0">
                <a:solidFill>
                  <a:schemeClr val="tx1"/>
                </a:solidFill>
                <a:latin typeface="Arial MT"/>
                <a:cs typeface="Arial MT"/>
              </a:rPr>
              <a:t>strict</a:t>
            </a:r>
            <a:r>
              <a:rPr sz="2950" spc="-60" dirty="0">
                <a:solidFill>
                  <a:schemeClr val="tx1"/>
                </a:solidFill>
                <a:latin typeface="Arial MT"/>
                <a:cs typeface="Arial MT"/>
              </a:rPr>
              <a:t> </a:t>
            </a:r>
            <a:r>
              <a:rPr sz="2950" spc="-254" dirty="0">
                <a:solidFill>
                  <a:schemeClr val="tx1"/>
                </a:solidFill>
                <a:latin typeface="Arial MT"/>
                <a:cs typeface="Arial MT"/>
              </a:rPr>
              <a:t>des</a:t>
            </a:r>
            <a:r>
              <a:rPr sz="2950" spc="-120" dirty="0">
                <a:solidFill>
                  <a:schemeClr val="tx1"/>
                </a:solidFill>
                <a:latin typeface="Arial MT"/>
                <a:cs typeface="Arial MT"/>
              </a:rPr>
              <a:t> </a:t>
            </a:r>
            <a:r>
              <a:rPr sz="2950" spc="-225" dirty="0">
                <a:solidFill>
                  <a:schemeClr val="tx1"/>
                </a:solidFill>
                <a:latin typeface="Arial MT"/>
                <a:cs typeface="Arial MT"/>
              </a:rPr>
              <a:t>données</a:t>
            </a:r>
            <a:r>
              <a:rPr sz="2950" spc="25" dirty="0">
                <a:solidFill>
                  <a:schemeClr val="tx1"/>
                </a:solidFill>
                <a:latin typeface="Arial MT"/>
                <a:cs typeface="Arial MT"/>
              </a:rPr>
              <a:t> </a:t>
            </a:r>
            <a:r>
              <a:rPr sz="2950" spc="-204" dirty="0">
                <a:solidFill>
                  <a:schemeClr val="tx1"/>
                </a:solidFill>
                <a:latin typeface="Arial MT"/>
                <a:cs typeface="Arial MT"/>
              </a:rPr>
              <a:t>par</a:t>
            </a:r>
            <a:r>
              <a:rPr sz="2950" spc="-90" dirty="0">
                <a:solidFill>
                  <a:schemeClr val="tx1"/>
                </a:solidFill>
                <a:latin typeface="Arial MT"/>
                <a:cs typeface="Arial MT"/>
              </a:rPr>
              <a:t> </a:t>
            </a:r>
            <a:r>
              <a:rPr sz="2950" spc="-10" dirty="0">
                <a:solidFill>
                  <a:schemeClr val="tx1"/>
                </a:solidFill>
                <a:latin typeface="Arial MT"/>
                <a:cs typeface="Arial MT"/>
              </a:rPr>
              <a:t>rôle.</a:t>
            </a:r>
            <a:endParaRPr sz="2950" dirty="0">
              <a:solidFill>
                <a:schemeClr val="tx1"/>
              </a:solidFill>
              <a:latin typeface="Arial MT"/>
              <a:cs typeface="Arial MT"/>
            </a:endParaRPr>
          </a:p>
        </p:txBody>
      </p:sp>
      <p:sp>
        <p:nvSpPr>
          <p:cNvPr id="9" name="object 9"/>
          <p:cNvSpPr txBox="1">
            <a:spLocks noGrp="1"/>
          </p:cNvSpPr>
          <p:nvPr>
            <p:ph type="title"/>
          </p:nvPr>
        </p:nvSpPr>
        <p:spPr>
          <a:prstGeom prst="rect">
            <a:avLst/>
          </a:prstGeom>
        </p:spPr>
        <p:txBody>
          <a:bodyPr vert="horz" wrap="square" lIns="0" tIns="223519" rIns="0" bIns="0" rtlCol="0">
            <a:spAutoFit/>
          </a:bodyPr>
          <a:lstStyle/>
          <a:p>
            <a:pPr marL="14604">
              <a:lnSpc>
                <a:spcPct val="100000"/>
              </a:lnSpc>
              <a:spcBef>
                <a:spcPts val="135"/>
              </a:spcBef>
            </a:pPr>
            <a:r>
              <a:rPr sz="6700" spc="130" dirty="0">
                <a:solidFill>
                  <a:srgbClr val="3B87DA"/>
                </a:solidFill>
                <a:latin typeface="Calibri"/>
                <a:cs typeface="Calibri"/>
              </a:rPr>
              <a:t>Sécurité</a:t>
            </a:r>
            <a:r>
              <a:rPr sz="6700" spc="-5" dirty="0">
                <a:solidFill>
                  <a:srgbClr val="3B87DA"/>
                </a:solidFill>
                <a:latin typeface="Calibri"/>
                <a:cs typeface="Calibri"/>
              </a:rPr>
              <a:t> </a:t>
            </a:r>
            <a:r>
              <a:rPr sz="6700" spc="50" dirty="0">
                <a:solidFill>
                  <a:srgbClr val="3680D4"/>
                </a:solidFill>
                <a:latin typeface="Calibri"/>
                <a:cs typeface="Calibri"/>
              </a:rPr>
              <a:t>et</a:t>
            </a:r>
            <a:r>
              <a:rPr sz="6700" spc="-110" dirty="0">
                <a:solidFill>
                  <a:srgbClr val="3680D4"/>
                </a:solidFill>
                <a:latin typeface="Calibri"/>
                <a:cs typeface="Calibri"/>
              </a:rPr>
              <a:t> </a:t>
            </a:r>
            <a:r>
              <a:rPr sz="6700" spc="85" dirty="0">
                <a:solidFill>
                  <a:srgbClr val="3180D4"/>
                </a:solidFill>
                <a:latin typeface="Calibri"/>
                <a:cs typeface="Calibri"/>
              </a:rPr>
              <a:t>Gestion</a:t>
            </a:r>
            <a:r>
              <a:rPr sz="6700" spc="-70" dirty="0">
                <a:solidFill>
                  <a:srgbClr val="3180D4"/>
                </a:solidFill>
                <a:latin typeface="Calibri"/>
                <a:cs typeface="Calibri"/>
              </a:rPr>
              <a:t> </a:t>
            </a:r>
            <a:r>
              <a:rPr sz="6700" spc="280" dirty="0">
                <a:solidFill>
                  <a:srgbClr val="3885D8"/>
                </a:solidFill>
                <a:latin typeface="Calibri"/>
                <a:cs typeface="Calibri"/>
              </a:rPr>
              <a:t>des</a:t>
            </a:r>
            <a:r>
              <a:rPr sz="6700" spc="-340" dirty="0">
                <a:solidFill>
                  <a:srgbClr val="3885D8"/>
                </a:solidFill>
                <a:latin typeface="Calibri"/>
                <a:cs typeface="Calibri"/>
              </a:rPr>
              <a:t> </a:t>
            </a:r>
            <a:r>
              <a:rPr sz="6700" spc="130" dirty="0">
                <a:solidFill>
                  <a:srgbClr val="3680D6"/>
                </a:solidFill>
                <a:latin typeface="Calibri"/>
                <a:cs typeface="Calibri"/>
              </a:rPr>
              <a:t>Rôles</a:t>
            </a:r>
            <a:endParaRPr sz="6700">
              <a:latin typeface="Calibri"/>
              <a:cs typeface="Calibri"/>
            </a:endParaRPr>
          </a:p>
        </p:txBody>
      </p:sp>
      <p:sp>
        <p:nvSpPr>
          <p:cNvPr id="10" name="object 10"/>
          <p:cNvSpPr txBox="1"/>
          <p:nvPr/>
        </p:nvSpPr>
        <p:spPr>
          <a:xfrm>
            <a:off x="4221760" y="4087283"/>
            <a:ext cx="635635" cy="279400"/>
          </a:xfrm>
          <a:prstGeom prst="rect">
            <a:avLst/>
          </a:prstGeom>
        </p:spPr>
        <p:txBody>
          <a:bodyPr vert="horz" wrap="square" lIns="0" tIns="14604" rIns="0" bIns="0" rtlCol="0">
            <a:spAutoFit/>
          </a:bodyPr>
          <a:lstStyle/>
          <a:p>
            <a:pPr marL="12700">
              <a:lnSpc>
                <a:spcPct val="100000"/>
              </a:lnSpc>
              <a:spcBef>
                <a:spcPts val="114"/>
              </a:spcBef>
            </a:pPr>
            <a:r>
              <a:rPr sz="1650" spc="-20" dirty="0">
                <a:solidFill>
                  <a:srgbClr val="1A1A1A"/>
                </a:solidFill>
                <a:latin typeface="Calibri"/>
                <a:cs typeface="Calibri"/>
              </a:rPr>
              <a:t>Sign</a:t>
            </a:r>
            <a:r>
              <a:rPr sz="1650" spc="-55" dirty="0">
                <a:solidFill>
                  <a:srgbClr val="1A1A1A"/>
                </a:solidFill>
                <a:latin typeface="Calibri"/>
                <a:cs typeface="Calibri"/>
              </a:rPr>
              <a:t> </a:t>
            </a:r>
            <a:r>
              <a:rPr sz="1650" spc="-25" dirty="0">
                <a:solidFill>
                  <a:srgbClr val="4F4F4F"/>
                </a:solidFill>
                <a:latin typeface="Calibri"/>
                <a:cs typeface="Calibri"/>
              </a:rPr>
              <a:t>up</a:t>
            </a:r>
            <a:endParaRPr sz="1650">
              <a:latin typeface="Calibri"/>
              <a:cs typeface="Calibri"/>
            </a:endParaRPr>
          </a:p>
        </p:txBody>
      </p:sp>
      <p:sp>
        <p:nvSpPr>
          <p:cNvPr id="11" name="object 11"/>
          <p:cNvSpPr txBox="1"/>
          <p:nvPr/>
        </p:nvSpPr>
        <p:spPr>
          <a:xfrm>
            <a:off x="10584984" y="2619375"/>
            <a:ext cx="5692775" cy="925830"/>
          </a:xfrm>
          <a:prstGeom prst="rect">
            <a:avLst/>
          </a:prstGeom>
        </p:spPr>
        <p:txBody>
          <a:bodyPr vert="horz" wrap="square" lIns="0" tIns="15875" rIns="0" bIns="0" rtlCol="0">
            <a:spAutoFit/>
          </a:bodyPr>
          <a:lstStyle/>
          <a:p>
            <a:pPr marL="12700">
              <a:lnSpc>
                <a:spcPts val="3560"/>
              </a:lnSpc>
              <a:spcBef>
                <a:spcPts val="125"/>
              </a:spcBef>
            </a:pPr>
            <a:r>
              <a:rPr sz="3100" spc="-10" dirty="0">
                <a:latin typeface="Calibri"/>
                <a:cs typeface="Calibri"/>
              </a:rPr>
              <a:t>Administrateur:</a:t>
            </a:r>
            <a:r>
              <a:rPr sz="3100" spc="-165" dirty="0">
                <a:latin typeface="Calibri"/>
                <a:cs typeface="Calibri"/>
              </a:rPr>
              <a:t> </a:t>
            </a:r>
            <a:r>
              <a:rPr sz="3100" spc="-65" dirty="0">
                <a:latin typeface="Calibri"/>
                <a:cs typeface="Calibri"/>
              </a:rPr>
              <a:t>Gestion</a:t>
            </a:r>
            <a:r>
              <a:rPr sz="3100" spc="-45" dirty="0">
                <a:latin typeface="Calibri"/>
                <a:cs typeface="Calibri"/>
              </a:rPr>
              <a:t> </a:t>
            </a:r>
            <a:r>
              <a:rPr sz="3100" spc="-125" dirty="0">
                <a:latin typeface="Calibri"/>
                <a:cs typeface="Calibri"/>
              </a:rPr>
              <a:t>globale,</a:t>
            </a:r>
            <a:r>
              <a:rPr sz="3100" spc="-50" dirty="0">
                <a:latin typeface="Calibri"/>
                <a:cs typeface="Calibri"/>
              </a:rPr>
              <a:t> </a:t>
            </a:r>
            <a:r>
              <a:rPr sz="3100" spc="-25" dirty="0">
                <a:latin typeface="Calibri"/>
                <a:cs typeface="Calibri"/>
              </a:rPr>
              <a:t>vue</a:t>
            </a:r>
            <a:endParaRPr sz="3100">
              <a:latin typeface="Calibri"/>
              <a:cs typeface="Calibri"/>
            </a:endParaRPr>
          </a:p>
          <a:p>
            <a:pPr marL="13970">
              <a:lnSpc>
                <a:spcPts val="3500"/>
              </a:lnSpc>
            </a:pPr>
            <a:r>
              <a:rPr sz="3050" spc="-105" dirty="0">
                <a:latin typeface="Calibri"/>
                <a:cs typeface="Calibri"/>
              </a:rPr>
              <a:t>d'ensemble,</a:t>
            </a:r>
            <a:r>
              <a:rPr sz="3050" spc="-5" dirty="0">
                <a:latin typeface="Calibri"/>
                <a:cs typeface="Calibri"/>
              </a:rPr>
              <a:t> </a:t>
            </a:r>
            <a:r>
              <a:rPr sz="3050" spc="-40" dirty="0">
                <a:latin typeface="Calibri"/>
                <a:cs typeface="Calibri"/>
              </a:rPr>
              <a:t>paramétrage.</a:t>
            </a:r>
            <a:endParaRPr sz="3050">
              <a:latin typeface="Calibri"/>
              <a:cs typeface="Calibri"/>
            </a:endParaRPr>
          </a:p>
        </p:txBody>
      </p:sp>
      <p:sp>
        <p:nvSpPr>
          <p:cNvPr id="12" name="object 12"/>
          <p:cNvSpPr txBox="1"/>
          <p:nvPr/>
        </p:nvSpPr>
        <p:spPr>
          <a:xfrm>
            <a:off x="10583868" y="4092575"/>
            <a:ext cx="5567680" cy="920750"/>
          </a:xfrm>
          <a:prstGeom prst="rect">
            <a:avLst/>
          </a:prstGeom>
        </p:spPr>
        <p:txBody>
          <a:bodyPr vert="horz" wrap="square" lIns="0" tIns="74295" rIns="0" bIns="0" rtlCol="0">
            <a:spAutoFit/>
          </a:bodyPr>
          <a:lstStyle/>
          <a:p>
            <a:pPr marL="15875" marR="5080" indent="-3810">
              <a:lnSpc>
                <a:spcPts val="3300"/>
              </a:lnSpc>
              <a:spcBef>
                <a:spcPts val="585"/>
              </a:spcBef>
            </a:pPr>
            <a:r>
              <a:rPr sz="3100" spc="-70" dirty="0">
                <a:latin typeface="Calibri"/>
                <a:cs typeface="Calibri"/>
              </a:rPr>
              <a:t>Médecin</a:t>
            </a:r>
            <a:r>
              <a:rPr sz="3100" spc="-105" dirty="0">
                <a:latin typeface="Calibri"/>
                <a:cs typeface="Calibri"/>
              </a:rPr>
              <a:t> </a:t>
            </a:r>
            <a:r>
              <a:rPr sz="3100" spc="-40" dirty="0">
                <a:latin typeface="Calibri"/>
                <a:cs typeface="Calibri"/>
              </a:rPr>
              <a:t>:</a:t>
            </a:r>
            <a:r>
              <a:rPr sz="3100" spc="-165" dirty="0">
                <a:latin typeface="Calibri"/>
                <a:cs typeface="Calibri"/>
              </a:rPr>
              <a:t> </a:t>
            </a:r>
            <a:r>
              <a:rPr sz="3100" spc="-20" dirty="0">
                <a:latin typeface="Calibri"/>
                <a:cs typeface="Calibri"/>
              </a:rPr>
              <a:t>Accès</a:t>
            </a:r>
            <a:r>
              <a:rPr sz="3100" spc="-70" dirty="0">
                <a:latin typeface="Calibri"/>
                <a:cs typeface="Calibri"/>
              </a:rPr>
              <a:t> </a:t>
            </a:r>
            <a:r>
              <a:rPr sz="3100" spc="-75" dirty="0">
                <a:latin typeface="Calibri"/>
                <a:cs typeface="Calibri"/>
              </a:rPr>
              <a:t>aux</a:t>
            </a:r>
            <a:r>
              <a:rPr sz="3100" spc="-100" dirty="0">
                <a:latin typeface="Calibri"/>
                <a:cs typeface="Calibri"/>
              </a:rPr>
              <a:t> </a:t>
            </a:r>
            <a:r>
              <a:rPr sz="3100" spc="-10" dirty="0">
                <a:latin typeface="Calibri"/>
                <a:cs typeface="Calibri"/>
              </a:rPr>
              <a:t>dossiers </a:t>
            </a:r>
            <a:r>
              <a:rPr sz="3100" spc="-105" dirty="0">
                <a:latin typeface="Calibri"/>
                <a:cs typeface="Calibri"/>
              </a:rPr>
              <a:t>médicaux,</a:t>
            </a:r>
            <a:r>
              <a:rPr sz="3100" spc="15" dirty="0">
                <a:latin typeface="Calibri"/>
                <a:cs typeface="Calibri"/>
              </a:rPr>
              <a:t> </a:t>
            </a:r>
            <a:r>
              <a:rPr sz="3100" spc="-90" dirty="0">
                <a:latin typeface="Calibri"/>
                <a:cs typeface="Calibri"/>
              </a:rPr>
              <a:t>gestion</a:t>
            </a:r>
            <a:r>
              <a:rPr sz="3100" spc="-85" dirty="0">
                <a:latin typeface="Calibri"/>
                <a:cs typeface="Calibri"/>
              </a:rPr>
              <a:t> </a:t>
            </a:r>
            <a:r>
              <a:rPr sz="3100" spc="-80" dirty="0">
                <a:latin typeface="Calibri"/>
                <a:cs typeface="Calibri"/>
              </a:rPr>
              <a:t>des</a:t>
            </a:r>
            <a:r>
              <a:rPr sz="3100" spc="-95" dirty="0">
                <a:latin typeface="Calibri"/>
                <a:cs typeface="Calibri"/>
              </a:rPr>
              <a:t> </a:t>
            </a:r>
            <a:r>
              <a:rPr sz="3100" spc="-55" dirty="0">
                <a:latin typeface="Calibri"/>
                <a:cs typeface="Calibri"/>
              </a:rPr>
              <a:t>consultations.</a:t>
            </a:r>
            <a:endParaRPr sz="3100">
              <a:latin typeface="Calibri"/>
              <a:cs typeface="Calibri"/>
            </a:endParaRPr>
          </a:p>
        </p:txBody>
      </p:sp>
      <p:sp>
        <p:nvSpPr>
          <p:cNvPr id="13" name="object 13"/>
          <p:cNvSpPr txBox="1"/>
          <p:nvPr/>
        </p:nvSpPr>
        <p:spPr>
          <a:xfrm>
            <a:off x="10584608" y="5568244"/>
            <a:ext cx="5205730" cy="915035"/>
          </a:xfrm>
          <a:prstGeom prst="rect">
            <a:avLst/>
          </a:prstGeom>
        </p:spPr>
        <p:txBody>
          <a:bodyPr vert="horz" wrap="square" lIns="0" tIns="13335" rIns="0" bIns="0" rtlCol="0">
            <a:spAutoFit/>
          </a:bodyPr>
          <a:lstStyle/>
          <a:p>
            <a:pPr marL="12700">
              <a:lnSpc>
                <a:spcPts val="3554"/>
              </a:lnSpc>
              <a:spcBef>
                <a:spcPts val="105"/>
              </a:spcBef>
            </a:pPr>
            <a:r>
              <a:rPr sz="3050" spc="55" dirty="0">
                <a:latin typeface="Calibri"/>
                <a:cs typeface="Calibri"/>
              </a:rPr>
              <a:t>Patient:</a:t>
            </a:r>
            <a:r>
              <a:rPr sz="3050" spc="-120" dirty="0">
                <a:latin typeface="Calibri"/>
                <a:cs typeface="Calibri"/>
              </a:rPr>
              <a:t> </a:t>
            </a:r>
            <a:r>
              <a:rPr sz="3050" dirty="0">
                <a:latin typeface="Calibri"/>
                <a:cs typeface="Calibri"/>
              </a:rPr>
              <a:t>Prise</a:t>
            </a:r>
            <a:r>
              <a:rPr sz="3050" spc="-40" dirty="0">
                <a:latin typeface="Calibri"/>
                <a:cs typeface="Calibri"/>
              </a:rPr>
              <a:t> </a:t>
            </a:r>
            <a:r>
              <a:rPr sz="3050" dirty="0">
                <a:latin typeface="Calibri"/>
                <a:cs typeface="Calibri"/>
              </a:rPr>
              <a:t>de</a:t>
            </a:r>
            <a:r>
              <a:rPr sz="3050" spc="-110" dirty="0">
                <a:latin typeface="Calibri"/>
                <a:cs typeface="Calibri"/>
              </a:rPr>
              <a:t> </a:t>
            </a:r>
            <a:r>
              <a:rPr sz="3050" spc="-20" dirty="0">
                <a:latin typeface="Calibri"/>
                <a:cs typeface="Calibri"/>
              </a:rPr>
              <a:t>RDV,</a:t>
            </a:r>
            <a:r>
              <a:rPr sz="3050" spc="-105" dirty="0">
                <a:latin typeface="Calibri"/>
                <a:cs typeface="Calibri"/>
              </a:rPr>
              <a:t> </a:t>
            </a:r>
            <a:r>
              <a:rPr sz="3050" spc="-30" dirty="0">
                <a:latin typeface="Calibri"/>
                <a:cs typeface="Calibri"/>
              </a:rPr>
              <a:t>accès</a:t>
            </a:r>
            <a:r>
              <a:rPr sz="3050" spc="-125" dirty="0">
                <a:latin typeface="Calibri"/>
                <a:cs typeface="Calibri"/>
              </a:rPr>
              <a:t> </a:t>
            </a:r>
            <a:r>
              <a:rPr sz="3050" spc="100" dirty="0">
                <a:latin typeface="Calibri"/>
                <a:cs typeface="Calibri"/>
              </a:rPr>
              <a:t>à</a:t>
            </a:r>
            <a:r>
              <a:rPr sz="3050" spc="-170" dirty="0">
                <a:latin typeface="Calibri"/>
                <a:cs typeface="Calibri"/>
              </a:rPr>
              <a:t> </a:t>
            </a:r>
            <a:r>
              <a:rPr sz="3050" spc="-25" dirty="0">
                <a:latin typeface="Calibri"/>
                <a:cs typeface="Calibri"/>
              </a:rPr>
              <a:t>ses</a:t>
            </a:r>
            <a:endParaRPr sz="3050">
              <a:latin typeface="Calibri"/>
              <a:cs typeface="Calibri"/>
            </a:endParaRPr>
          </a:p>
          <a:p>
            <a:pPr marL="16510">
              <a:lnSpc>
                <a:spcPts val="3435"/>
              </a:lnSpc>
            </a:pPr>
            <a:r>
              <a:rPr sz="2950" spc="-30" dirty="0">
                <a:latin typeface="Calibri"/>
                <a:cs typeface="Calibri"/>
              </a:rPr>
              <a:t>propres</a:t>
            </a:r>
            <a:r>
              <a:rPr sz="2950" spc="-110" dirty="0">
                <a:latin typeface="Calibri"/>
                <a:cs typeface="Calibri"/>
              </a:rPr>
              <a:t> </a:t>
            </a:r>
            <a:r>
              <a:rPr sz="2950" spc="-10" dirty="0">
                <a:latin typeface="Calibri"/>
                <a:cs typeface="Calibri"/>
              </a:rPr>
              <a:t>informations.</a:t>
            </a:r>
            <a:endParaRPr sz="2950">
              <a:latin typeface="Calibri"/>
              <a:cs typeface="Calibri"/>
            </a:endParaRPr>
          </a:p>
        </p:txBody>
      </p:sp>
      <p:grpSp>
        <p:nvGrpSpPr>
          <p:cNvPr id="14" name="Group 2">
            <a:extLst>
              <a:ext uri="{FF2B5EF4-FFF2-40B4-BE49-F238E27FC236}">
                <a16:creationId xmlns:a16="http://schemas.microsoft.com/office/drawing/2014/main" id="{2ECC34D7-DE41-46E3-BFB5-C21BBBA1B406}"/>
              </a:ext>
            </a:extLst>
          </p:cNvPr>
          <p:cNvGrpSpPr/>
          <p:nvPr/>
        </p:nvGrpSpPr>
        <p:grpSpPr>
          <a:xfrm>
            <a:off x="0" y="9051073"/>
            <a:ext cx="17475200" cy="686135"/>
            <a:chOff x="0" y="0"/>
            <a:chExt cx="4816593" cy="348089"/>
          </a:xfrm>
        </p:grpSpPr>
        <p:sp>
          <p:nvSpPr>
            <p:cNvPr id="15" name="Freeform 3">
              <a:extLst>
                <a:ext uri="{FF2B5EF4-FFF2-40B4-BE49-F238E27FC236}">
                  <a16:creationId xmlns:a16="http://schemas.microsoft.com/office/drawing/2014/main" id="{DBD43B48-A4D3-4906-9F31-2B37DFD6F0FB}"/>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6" name="TextBox 4">
              <a:extLst>
                <a:ext uri="{FF2B5EF4-FFF2-40B4-BE49-F238E27FC236}">
                  <a16:creationId xmlns:a16="http://schemas.microsoft.com/office/drawing/2014/main" id="{E6F2C85F-82CD-46EC-8A81-3AF77566DE6A}"/>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7700" y="2108200"/>
            <a:ext cx="16179800" cy="5791200"/>
          </a:xfrm>
          <a:prstGeom prst="rect">
            <a:avLst/>
          </a:prstGeom>
        </p:spPr>
      </p:pic>
      <p:pic>
        <p:nvPicPr>
          <p:cNvPr id="3" name="object 3"/>
          <p:cNvPicPr/>
          <p:nvPr/>
        </p:nvPicPr>
        <p:blipFill>
          <a:blip r:embed="rId3" cstate="print"/>
          <a:stretch>
            <a:fillRect/>
          </a:stretch>
        </p:blipFill>
        <p:spPr>
          <a:xfrm>
            <a:off x="7785100" y="838200"/>
            <a:ext cx="774700" cy="508000"/>
          </a:xfrm>
          <a:prstGeom prst="rect">
            <a:avLst/>
          </a:prstGeom>
        </p:spPr>
      </p:pic>
      <p:sp>
        <p:nvSpPr>
          <p:cNvPr id="4" name="object 4"/>
          <p:cNvSpPr txBox="1">
            <a:spLocks noGrp="1"/>
          </p:cNvSpPr>
          <p:nvPr>
            <p:ph type="title"/>
          </p:nvPr>
        </p:nvSpPr>
        <p:spPr>
          <a:xfrm>
            <a:off x="3235542" y="624063"/>
            <a:ext cx="4408805" cy="861694"/>
          </a:xfrm>
          <a:prstGeom prst="rect">
            <a:avLst/>
          </a:prstGeom>
        </p:spPr>
        <p:txBody>
          <a:bodyPr vert="horz" wrap="square" lIns="0" tIns="17145" rIns="0" bIns="0" rtlCol="0">
            <a:spAutoFit/>
          </a:bodyPr>
          <a:lstStyle/>
          <a:p>
            <a:pPr marL="12700">
              <a:lnSpc>
                <a:spcPct val="100000"/>
              </a:lnSpc>
              <a:spcBef>
                <a:spcPts val="135"/>
              </a:spcBef>
            </a:pPr>
            <a:r>
              <a:rPr spc="225" dirty="0">
                <a:solidFill>
                  <a:srgbClr val="347CBD"/>
                </a:solidFill>
              </a:rPr>
              <a:t>Digitalisation</a:t>
            </a:r>
          </a:p>
        </p:txBody>
      </p:sp>
      <p:sp>
        <p:nvSpPr>
          <p:cNvPr id="9" name="object 9"/>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5" name="object 5"/>
          <p:cNvSpPr txBox="1"/>
          <p:nvPr/>
        </p:nvSpPr>
        <p:spPr>
          <a:xfrm>
            <a:off x="8734643" y="624063"/>
            <a:ext cx="5432425" cy="861694"/>
          </a:xfrm>
          <a:prstGeom prst="rect">
            <a:avLst/>
          </a:prstGeom>
        </p:spPr>
        <p:txBody>
          <a:bodyPr vert="horz" wrap="square" lIns="0" tIns="17145" rIns="0" bIns="0" rtlCol="0">
            <a:spAutoFit/>
          </a:bodyPr>
          <a:lstStyle/>
          <a:p>
            <a:pPr marL="12700">
              <a:lnSpc>
                <a:spcPct val="100000"/>
              </a:lnSpc>
              <a:spcBef>
                <a:spcPts val="135"/>
              </a:spcBef>
            </a:pPr>
            <a:r>
              <a:rPr sz="5450" spc="135" dirty="0">
                <a:solidFill>
                  <a:srgbClr val="3B82C3"/>
                </a:solidFill>
                <a:latin typeface="Arial MT"/>
                <a:cs typeface="Arial MT"/>
              </a:rPr>
              <a:t>Parcours</a:t>
            </a:r>
            <a:r>
              <a:rPr sz="5450" spc="-60" dirty="0">
                <a:solidFill>
                  <a:srgbClr val="3B82C3"/>
                </a:solidFill>
                <a:latin typeface="Arial MT"/>
                <a:cs typeface="Arial MT"/>
              </a:rPr>
              <a:t> </a:t>
            </a:r>
            <a:r>
              <a:rPr sz="5450" spc="130" dirty="0">
                <a:solidFill>
                  <a:srgbClr val="3880C1"/>
                </a:solidFill>
                <a:latin typeface="Arial MT"/>
                <a:cs typeface="Arial MT"/>
              </a:rPr>
              <a:t>Patient</a:t>
            </a:r>
            <a:endParaRPr sz="5450">
              <a:latin typeface="Arial MT"/>
              <a:cs typeface="Arial MT"/>
            </a:endParaRPr>
          </a:p>
        </p:txBody>
      </p:sp>
      <p:sp>
        <p:nvSpPr>
          <p:cNvPr id="6" name="object 6"/>
          <p:cNvSpPr txBox="1"/>
          <p:nvPr/>
        </p:nvSpPr>
        <p:spPr>
          <a:xfrm>
            <a:off x="864401" y="6290733"/>
            <a:ext cx="3256915" cy="863600"/>
          </a:xfrm>
          <a:prstGeom prst="rect">
            <a:avLst/>
          </a:prstGeom>
        </p:spPr>
        <p:txBody>
          <a:bodyPr vert="horz" wrap="square" lIns="0" tIns="67945" rIns="0" bIns="0" rtlCol="0">
            <a:spAutoFit/>
          </a:bodyPr>
          <a:lstStyle/>
          <a:p>
            <a:pPr marL="12700" marR="5080" indent="5715">
              <a:lnSpc>
                <a:spcPts val="3100"/>
              </a:lnSpc>
              <a:spcBef>
                <a:spcPts val="535"/>
              </a:spcBef>
            </a:pPr>
            <a:r>
              <a:rPr sz="2900" spc="-125" dirty="0">
                <a:latin typeface="Arial MT"/>
                <a:cs typeface="Arial MT"/>
              </a:rPr>
              <a:t>Centralisation</a:t>
            </a:r>
            <a:r>
              <a:rPr sz="2900" spc="-240" dirty="0">
                <a:latin typeface="Arial MT"/>
                <a:cs typeface="Arial MT"/>
              </a:rPr>
              <a:t> </a:t>
            </a:r>
            <a:r>
              <a:rPr sz="2900" dirty="0">
                <a:latin typeface="Arial MT"/>
                <a:cs typeface="Arial MT"/>
              </a:rPr>
              <a:t>.</a:t>
            </a:r>
            <a:r>
              <a:rPr sz="2900" spc="-65" dirty="0">
                <a:latin typeface="Arial MT"/>
                <a:cs typeface="Arial MT"/>
              </a:rPr>
              <a:t> </a:t>
            </a:r>
            <a:r>
              <a:rPr sz="2900" spc="-295" dirty="0">
                <a:latin typeface="Arial MT"/>
                <a:cs typeface="Arial MT"/>
              </a:rPr>
              <a:t>Accès </a:t>
            </a:r>
            <a:r>
              <a:rPr sz="2900" spc="-200" dirty="0">
                <a:latin typeface="Arial MT"/>
                <a:cs typeface="Arial MT"/>
              </a:rPr>
              <a:t>immédiat</a:t>
            </a:r>
            <a:r>
              <a:rPr sz="2900" spc="40" dirty="0">
                <a:latin typeface="Arial MT"/>
                <a:cs typeface="Arial MT"/>
              </a:rPr>
              <a:t> </a:t>
            </a:r>
            <a:r>
              <a:rPr sz="2900" spc="-375" dirty="0">
                <a:latin typeface="Arial MT"/>
                <a:cs typeface="Arial MT"/>
              </a:rPr>
              <a:t>à</a:t>
            </a:r>
            <a:r>
              <a:rPr sz="2900" spc="-140" dirty="0">
                <a:latin typeface="Arial MT"/>
                <a:cs typeface="Arial MT"/>
              </a:rPr>
              <a:t> </a:t>
            </a:r>
            <a:r>
              <a:rPr sz="2900" spc="-165" dirty="0">
                <a:latin typeface="Arial MT"/>
                <a:cs typeface="Arial MT"/>
              </a:rPr>
              <a:t>l'historique.</a:t>
            </a:r>
            <a:endParaRPr sz="2900">
              <a:latin typeface="Arial MT"/>
              <a:cs typeface="Arial MT"/>
            </a:endParaRPr>
          </a:p>
        </p:txBody>
      </p:sp>
      <p:sp>
        <p:nvSpPr>
          <p:cNvPr id="7" name="object 7"/>
          <p:cNvSpPr txBox="1"/>
          <p:nvPr/>
        </p:nvSpPr>
        <p:spPr>
          <a:xfrm>
            <a:off x="8366968" y="2307872"/>
            <a:ext cx="3594100" cy="842644"/>
          </a:xfrm>
          <a:prstGeom prst="rect">
            <a:avLst/>
          </a:prstGeom>
        </p:spPr>
        <p:txBody>
          <a:bodyPr vert="horz" wrap="square" lIns="0" tIns="50165" rIns="0" bIns="0" rtlCol="0">
            <a:spAutoFit/>
          </a:bodyPr>
          <a:lstStyle/>
          <a:p>
            <a:pPr marL="15240" marR="5080" indent="-3175">
              <a:lnSpc>
                <a:spcPts val="3100"/>
              </a:lnSpc>
              <a:spcBef>
                <a:spcPts val="395"/>
              </a:spcBef>
            </a:pPr>
            <a:r>
              <a:rPr sz="2750" spc="-135" dirty="0">
                <a:latin typeface="Arial MT"/>
                <a:cs typeface="Arial MT"/>
              </a:rPr>
              <a:t>Recherche</a:t>
            </a:r>
            <a:r>
              <a:rPr sz="2750" spc="-50" dirty="0">
                <a:latin typeface="Arial MT"/>
                <a:cs typeface="Arial MT"/>
              </a:rPr>
              <a:t> </a:t>
            </a:r>
            <a:r>
              <a:rPr sz="2750" spc="-70" dirty="0">
                <a:latin typeface="Arial MT"/>
                <a:cs typeface="Arial MT"/>
              </a:rPr>
              <a:t>:</a:t>
            </a:r>
            <a:r>
              <a:rPr sz="2750" spc="-130" dirty="0">
                <a:latin typeface="Arial MT"/>
                <a:cs typeface="Arial MT"/>
              </a:rPr>
              <a:t> </a:t>
            </a:r>
            <a:r>
              <a:rPr sz="2750" spc="-180" dirty="0">
                <a:latin typeface="Arial MT"/>
                <a:cs typeface="Arial MT"/>
              </a:rPr>
              <a:t>Retrouver</a:t>
            </a:r>
            <a:r>
              <a:rPr sz="2750" spc="80" dirty="0">
                <a:latin typeface="Arial MT"/>
                <a:cs typeface="Arial MT"/>
              </a:rPr>
              <a:t> </a:t>
            </a:r>
            <a:r>
              <a:rPr sz="2750" spc="-190" dirty="0">
                <a:latin typeface="Arial MT"/>
                <a:cs typeface="Arial MT"/>
              </a:rPr>
              <a:t>un </a:t>
            </a:r>
            <a:r>
              <a:rPr sz="2750" spc="-125" dirty="0">
                <a:latin typeface="Arial MT"/>
                <a:cs typeface="Arial MT"/>
              </a:rPr>
              <a:t>dossier</a:t>
            </a:r>
            <a:r>
              <a:rPr sz="2750" spc="-35" dirty="0">
                <a:latin typeface="Arial MT"/>
                <a:cs typeface="Arial MT"/>
              </a:rPr>
              <a:t> </a:t>
            </a:r>
            <a:r>
              <a:rPr sz="2750" spc="-50" dirty="0">
                <a:latin typeface="Arial MT"/>
                <a:cs typeface="Arial MT"/>
              </a:rPr>
              <a:t>instantanément.</a:t>
            </a:r>
            <a:endParaRPr sz="2750">
              <a:latin typeface="Arial MT"/>
              <a:cs typeface="Arial MT"/>
            </a:endParaRPr>
          </a:p>
        </p:txBody>
      </p:sp>
      <p:sp>
        <p:nvSpPr>
          <p:cNvPr id="8" name="object 8"/>
          <p:cNvSpPr txBox="1"/>
          <p:nvPr/>
        </p:nvSpPr>
        <p:spPr>
          <a:xfrm>
            <a:off x="13113346" y="6290733"/>
            <a:ext cx="3453765" cy="1250950"/>
          </a:xfrm>
          <a:prstGeom prst="rect">
            <a:avLst/>
          </a:prstGeom>
        </p:spPr>
        <p:txBody>
          <a:bodyPr vert="horz" wrap="square" lIns="0" tIns="62865" rIns="0" bIns="0" rtlCol="0">
            <a:spAutoFit/>
          </a:bodyPr>
          <a:lstStyle/>
          <a:p>
            <a:pPr marL="25400" marR="5080" indent="-13335">
              <a:lnSpc>
                <a:spcPct val="89100"/>
              </a:lnSpc>
              <a:spcBef>
                <a:spcPts val="495"/>
              </a:spcBef>
            </a:pPr>
            <a:r>
              <a:rPr sz="2900" spc="-470" dirty="0">
                <a:latin typeface="Arial MT"/>
                <a:cs typeface="Arial MT"/>
              </a:rPr>
              <a:t>CRUD</a:t>
            </a:r>
            <a:r>
              <a:rPr sz="2900" spc="-55" dirty="0">
                <a:latin typeface="Arial MT"/>
                <a:cs typeface="Arial MT"/>
              </a:rPr>
              <a:t> </a:t>
            </a:r>
            <a:r>
              <a:rPr sz="2900" spc="-180" dirty="0">
                <a:latin typeface="Arial MT"/>
                <a:cs typeface="Arial MT"/>
              </a:rPr>
              <a:t>Complet</a:t>
            </a:r>
            <a:r>
              <a:rPr sz="2900" spc="-50" dirty="0">
                <a:latin typeface="Arial MT"/>
                <a:cs typeface="Arial MT"/>
              </a:rPr>
              <a:t> : </a:t>
            </a:r>
            <a:r>
              <a:rPr sz="2850" spc="-245" dirty="0">
                <a:latin typeface="Arial MT"/>
                <a:cs typeface="Arial MT"/>
              </a:rPr>
              <a:t>Création,</a:t>
            </a:r>
            <a:r>
              <a:rPr sz="2850" spc="20" dirty="0">
                <a:latin typeface="Arial MT"/>
                <a:cs typeface="Arial MT"/>
              </a:rPr>
              <a:t> </a:t>
            </a:r>
            <a:r>
              <a:rPr sz="2850" spc="-220" dirty="0">
                <a:latin typeface="Arial MT"/>
                <a:cs typeface="Arial MT"/>
              </a:rPr>
              <a:t>Lecture,</a:t>
            </a:r>
            <a:r>
              <a:rPr sz="2850" spc="-75" dirty="0">
                <a:latin typeface="Arial MT"/>
                <a:cs typeface="Arial MT"/>
              </a:rPr>
              <a:t> </a:t>
            </a:r>
            <a:r>
              <a:rPr sz="2850" spc="-235" dirty="0">
                <a:latin typeface="Arial MT"/>
                <a:cs typeface="Arial MT"/>
              </a:rPr>
              <a:t>Mise</a:t>
            </a:r>
            <a:r>
              <a:rPr sz="2850" spc="5" dirty="0">
                <a:latin typeface="Arial MT"/>
                <a:cs typeface="Arial MT"/>
              </a:rPr>
              <a:t> </a:t>
            </a:r>
            <a:r>
              <a:rPr sz="2850" spc="-400" dirty="0">
                <a:latin typeface="Arial MT"/>
                <a:cs typeface="Arial MT"/>
              </a:rPr>
              <a:t>à </a:t>
            </a:r>
            <a:r>
              <a:rPr sz="2900" spc="-250" dirty="0">
                <a:latin typeface="Arial MT"/>
                <a:cs typeface="Arial MT"/>
              </a:rPr>
              <a:t>jour,</a:t>
            </a:r>
            <a:r>
              <a:rPr sz="2900" spc="-204" dirty="0">
                <a:latin typeface="Arial MT"/>
                <a:cs typeface="Arial MT"/>
              </a:rPr>
              <a:t> </a:t>
            </a:r>
            <a:r>
              <a:rPr sz="2900" spc="-270" dirty="0">
                <a:latin typeface="Arial MT"/>
                <a:cs typeface="Arial MT"/>
              </a:rPr>
              <a:t>Suppression.</a:t>
            </a:r>
            <a:endParaRPr sz="2900">
              <a:latin typeface="Arial MT"/>
              <a:cs typeface="Arial MT"/>
            </a:endParaRPr>
          </a:p>
        </p:txBody>
      </p:sp>
      <p:grpSp>
        <p:nvGrpSpPr>
          <p:cNvPr id="10" name="Group 2">
            <a:extLst>
              <a:ext uri="{FF2B5EF4-FFF2-40B4-BE49-F238E27FC236}">
                <a16:creationId xmlns:a16="http://schemas.microsoft.com/office/drawing/2014/main" id="{FAC52F5F-943F-4D87-81A6-1FD4B726611E}"/>
              </a:ext>
            </a:extLst>
          </p:cNvPr>
          <p:cNvGrpSpPr/>
          <p:nvPr/>
        </p:nvGrpSpPr>
        <p:grpSpPr>
          <a:xfrm>
            <a:off x="0" y="9051073"/>
            <a:ext cx="17475200" cy="686135"/>
            <a:chOff x="0" y="0"/>
            <a:chExt cx="4816593" cy="348089"/>
          </a:xfrm>
        </p:grpSpPr>
        <p:sp>
          <p:nvSpPr>
            <p:cNvPr id="11" name="Freeform 3">
              <a:extLst>
                <a:ext uri="{FF2B5EF4-FFF2-40B4-BE49-F238E27FC236}">
                  <a16:creationId xmlns:a16="http://schemas.microsoft.com/office/drawing/2014/main" id="{B6151204-95C9-44B4-AF90-18D608FABA24}"/>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2" name="TextBox 4">
              <a:extLst>
                <a:ext uri="{FF2B5EF4-FFF2-40B4-BE49-F238E27FC236}">
                  <a16:creationId xmlns:a16="http://schemas.microsoft.com/office/drawing/2014/main" id="{A9D0603A-8028-4F0F-924A-FB6B97F487B0}"/>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prstGeom prst="rect">
            <a:avLst/>
          </a:prstGeom>
        </p:spPr>
        <p:txBody>
          <a:bodyPr vert="horz" wrap="square" lIns="0" tIns="363220" rIns="0" bIns="0" rtlCol="0">
            <a:spAutoFit/>
          </a:bodyPr>
          <a:lstStyle/>
          <a:p>
            <a:pPr marL="15875">
              <a:lnSpc>
                <a:spcPct val="100000"/>
              </a:lnSpc>
              <a:spcBef>
                <a:spcPts val="135"/>
              </a:spcBef>
            </a:pPr>
            <a:r>
              <a:rPr spc="195" dirty="0">
                <a:solidFill>
                  <a:srgbClr val="237EAF"/>
                </a:solidFill>
              </a:rPr>
              <a:t>Planification</a:t>
            </a:r>
            <a:r>
              <a:rPr spc="80" dirty="0">
                <a:solidFill>
                  <a:srgbClr val="237EAF"/>
                </a:solidFill>
              </a:rPr>
              <a:t> </a:t>
            </a:r>
            <a:r>
              <a:rPr spc="235" dirty="0">
                <a:solidFill>
                  <a:srgbClr val="1C7CAC"/>
                </a:solidFill>
              </a:rPr>
              <a:t>Intelligente</a:t>
            </a:r>
            <a:r>
              <a:rPr spc="75" dirty="0">
                <a:solidFill>
                  <a:srgbClr val="1C7CAC"/>
                </a:solidFill>
              </a:rPr>
              <a:t> </a:t>
            </a:r>
            <a:r>
              <a:rPr spc="240" dirty="0">
                <a:solidFill>
                  <a:srgbClr val="2182B5"/>
                </a:solidFill>
              </a:rPr>
              <a:t>et</a:t>
            </a:r>
            <a:r>
              <a:rPr spc="-114" dirty="0">
                <a:solidFill>
                  <a:srgbClr val="2182B5"/>
                </a:solidFill>
              </a:rPr>
              <a:t> </a:t>
            </a:r>
            <a:r>
              <a:rPr spc="90" dirty="0">
                <a:solidFill>
                  <a:srgbClr val="1C77A8"/>
                </a:solidFill>
              </a:rPr>
              <a:t>Sans</a:t>
            </a:r>
            <a:r>
              <a:rPr spc="-105" dirty="0">
                <a:solidFill>
                  <a:srgbClr val="1C77A8"/>
                </a:solidFill>
              </a:rPr>
              <a:t> </a:t>
            </a:r>
            <a:r>
              <a:rPr spc="220" dirty="0">
                <a:solidFill>
                  <a:srgbClr val="217CAA"/>
                </a:solidFill>
              </a:rPr>
              <a:t>Conflit</a:t>
            </a:r>
          </a:p>
        </p:txBody>
      </p:sp>
      <p:sp>
        <p:nvSpPr>
          <p:cNvPr id="10" name="object 10"/>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7" name="object 7"/>
          <p:cNvSpPr txBox="1"/>
          <p:nvPr/>
        </p:nvSpPr>
        <p:spPr>
          <a:xfrm>
            <a:off x="962820" y="2726291"/>
            <a:ext cx="6226175" cy="2461895"/>
          </a:xfrm>
          <a:prstGeom prst="rect">
            <a:avLst/>
          </a:prstGeom>
        </p:spPr>
        <p:txBody>
          <a:bodyPr vert="horz" wrap="square" lIns="0" tIns="283210" rIns="0" bIns="0" rtlCol="0">
            <a:spAutoFit/>
          </a:bodyPr>
          <a:lstStyle/>
          <a:p>
            <a:pPr marL="27940">
              <a:lnSpc>
                <a:spcPct val="100000"/>
              </a:lnSpc>
              <a:spcBef>
                <a:spcPts val="2230"/>
              </a:spcBef>
            </a:pPr>
            <a:r>
              <a:rPr sz="3550" spc="110" dirty="0">
                <a:solidFill>
                  <a:srgbClr val="1D79A8"/>
                </a:solidFill>
                <a:latin typeface="Arial MT"/>
                <a:cs typeface="Arial MT"/>
              </a:rPr>
              <a:t>Algorithme</a:t>
            </a:r>
            <a:r>
              <a:rPr sz="3550" spc="235" dirty="0">
                <a:solidFill>
                  <a:srgbClr val="1D79A8"/>
                </a:solidFill>
                <a:latin typeface="Arial MT"/>
                <a:cs typeface="Arial MT"/>
              </a:rPr>
              <a:t> </a:t>
            </a:r>
            <a:r>
              <a:rPr sz="3550" spc="55" dirty="0">
                <a:solidFill>
                  <a:srgbClr val="2A85B3"/>
                </a:solidFill>
                <a:latin typeface="Arial MT"/>
                <a:cs typeface="Arial MT"/>
              </a:rPr>
              <a:t>de</a:t>
            </a:r>
            <a:r>
              <a:rPr sz="3550" spc="-114" dirty="0">
                <a:solidFill>
                  <a:srgbClr val="2A85B3"/>
                </a:solidFill>
                <a:latin typeface="Arial MT"/>
                <a:cs typeface="Arial MT"/>
              </a:rPr>
              <a:t> </a:t>
            </a:r>
            <a:r>
              <a:rPr sz="3550" spc="85" dirty="0">
                <a:solidFill>
                  <a:srgbClr val="2379A8"/>
                </a:solidFill>
                <a:latin typeface="Arial MT"/>
                <a:cs typeface="Arial MT"/>
              </a:rPr>
              <a:t>Disponibilité</a:t>
            </a:r>
            <a:endParaRPr sz="3550">
              <a:latin typeface="Arial MT"/>
              <a:cs typeface="Arial MT"/>
            </a:endParaRPr>
          </a:p>
          <a:p>
            <a:pPr marL="12700" marR="5080" indent="-635">
              <a:lnSpc>
                <a:spcPct val="104500"/>
              </a:lnSpc>
              <a:spcBef>
                <a:spcPts val="1680"/>
              </a:spcBef>
            </a:pPr>
            <a:r>
              <a:rPr sz="2950" spc="-170" dirty="0">
                <a:latin typeface="Arial MT"/>
                <a:cs typeface="Arial MT"/>
              </a:rPr>
              <a:t>Le</a:t>
            </a:r>
            <a:r>
              <a:rPr sz="2950" spc="-50" dirty="0">
                <a:latin typeface="Arial MT"/>
                <a:cs typeface="Arial MT"/>
              </a:rPr>
              <a:t> </a:t>
            </a:r>
            <a:r>
              <a:rPr sz="2950" spc="-85" dirty="0">
                <a:latin typeface="Arial MT"/>
                <a:cs typeface="Arial MT"/>
              </a:rPr>
              <a:t>système</a:t>
            </a:r>
            <a:r>
              <a:rPr sz="2950" spc="-125" dirty="0">
                <a:latin typeface="Arial MT"/>
                <a:cs typeface="Arial MT"/>
              </a:rPr>
              <a:t> </a:t>
            </a:r>
            <a:r>
              <a:rPr sz="2950" spc="-50" dirty="0">
                <a:latin typeface="Arial MT"/>
                <a:cs typeface="Arial MT"/>
              </a:rPr>
              <a:t>vérifie</a:t>
            </a:r>
            <a:r>
              <a:rPr sz="2950" spc="-130" dirty="0">
                <a:latin typeface="Arial MT"/>
                <a:cs typeface="Arial MT"/>
              </a:rPr>
              <a:t> </a:t>
            </a:r>
            <a:r>
              <a:rPr sz="2950" spc="-85" dirty="0">
                <a:latin typeface="Arial MT"/>
                <a:cs typeface="Arial MT"/>
              </a:rPr>
              <a:t>automatiquement</a:t>
            </a:r>
            <a:r>
              <a:rPr sz="2950" spc="-80" dirty="0">
                <a:latin typeface="Arial MT"/>
                <a:cs typeface="Arial MT"/>
              </a:rPr>
              <a:t> </a:t>
            </a:r>
            <a:r>
              <a:rPr sz="2950" spc="-90" dirty="0">
                <a:latin typeface="Arial MT"/>
                <a:cs typeface="Arial MT"/>
              </a:rPr>
              <a:t>les </a:t>
            </a:r>
            <a:r>
              <a:rPr sz="2950" spc="-105" dirty="0">
                <a:latin typeface="Arial MT"/>
                <a:cs typeface="Arial MT"/>
              </a:rPr>
              <a:t>créneaux</a:t>
            </a:r>
            <a:r>
              <a:rPr sz="2950" spc="-15" dirty="0">
                <a:latin typeface="Arial MT"/>
                <a:cs typeface="Arial MT"/>
              </a:rPr>
              <a:t> </a:t>
            </a:r>
            <a:r>
              <a:rPr sz="2950" spc="-100" dirty="0">
                <a:latin typeface="Arial MT"/>
                <a:cs typeface="Arial MT"/>
              </a:rPr>
              <a:t>horaires</a:t>
            </a:r>
            <a:r>
              <a:rPr sz="2950" spc="-110" dirty="0">
                <a:latin typeface="Arial MT"/>
                <a:cs typeface="Arial MT"/>
              </a:rPr>
              <a:t> </a:t>
            </a:r>
            <a:r>
              <a:rPr sz="2950" spc="-65" dirty="0">
                <a:latin typeface="Arial MT"/>
                <a:cs typeface="Arial MT"/>
              </a:rPr>
              <a:t>lors</a:t>
            </a:r>
            <a:r>
              <a:rPr sz="2950" spc="-140" dirty="0">
                <a:latin typeface="Arial MT"/>
                <a:cs typeface="Arial MT"/>
              </a:rPr>
              <a:t> </a:t>
            </a:r>
            <a:r>
              <a:rPr sz="2950" dirty="0">
                <a:latin typeface="Arial MT"/>
                <a:cs typeface="Arial MT"/>
              </a:rPr>
              <a:t>de</a:t>
            </a:r>
            <a:r>
              <a:rPr sz="2950" spc="-135" dirty="0">
                <a:latin typeface="Arial MT"/>
                <a:cs typeface="Arial MT"/>
              </a:rPr>
              <a:t> </a:t>
            </a:r>
            <a:r>
              <a:rPr sz="2950" spc="-120" dirty="0">
                <a:latin typeface="Arial MT"/>
                <a:cs typeface="Arial MT"/>
              </a:rPr>
              <a:t>la</a:t>
            </a:r>
            <a:r>
              <a:rPr sz="2950" spc="-85" dirty="0">
                <a:latin typeface="Arial MT"/>
                <a:cs typeface="Arial MT"/>
              </a:rPr>
              <a:t> </a:t>
            </a:r>
            <a:r>
              <a:rPr sz="2950" spc="-90" dirty="0">
                <a:latin typeface="Arial MT"/>
                <a:cs typeface="Arial MT"/>
              </a:rPr>
              <a:t>prise</a:t>
            </a:r>
            <a:r>
              <a:rPr sz="2950" spc="-120" dirty="0">
                <a:latin typeface="Arial MT"/>
                <a:cs typeface="Arial MT"/>
              </a:rPr>
              <a:t> </a:t>
            </a:r>
            <a:r>
              <a:rPr sz="2950" spc="-25" dirty="0">
                <a:latin typeface="Arial MT"/>
                <a:cs typeface="Arial MT"/>
              </a:rPr>
              <a:t>de </a:t>
            </a:r>
            <a:r>
              <a:rPr sz="2950" spc="-125" dirty="0">
                <a:latin typeface="Arial MT"/>
                <a:cs typeface="Arial MT"/>
              </a:rPr>
              <a:t>rendez-</a:t>
            </a:r>
            <a:r>
              <a:rPr sz="2950" spc="-10" dirty="0">
                <a:latin typeface="Arial MT"/>
                <a:cs typeface="Arial MT"/>
              </a:rPr>
              <a:t>vous.</a:t>
            </a:r>
            <a:endParaRPr sz="2950">
              <a:latin typeface="Arial MT"/>
              <a:cs typeface="Arial MT"/>
            </a:endParaRPr>
          </a:p>
        </p:txBody>
      </p:sp>
      <p:sp>
        <p:nvSpPr>
          <p:cNvPr id="8" name="object 8"/>
          <p:cNvSpPr txBox="1"/>
          <p:nvPr/>
        </p:nvSpPr>
        <p:spPr>
          <a:xfrm>
            <a:off x="959125" y="5660672"/>
            <a:ext cx="6780530" cy="1820545"/>
          </a:xfrm>
          <a:prstGeom prst="rect">
            <a:avLst/>
          </a:prstGeom>
        </p:spPr>
        <p:txBody>
          <a:bodyPr vert="horz" wrap="square" lIns="0" tIns="15875" rIns="0" bIns="0" rtlCol="0">
            <a:spAutoFit/>
          </a:bodyPr>
          <a:lstStyle/>
          <a:p>
            <a:pPr marL="410209" indent="-397510">
              <a:lnSpc>
                <a:spcPct val="100000"/>
              </a:lnSpc>
              <a:spcBef>
                <a:spcPts val="125"/>
              </a:spcBef>
              <a:buClr>
                <a:srgbClr val="2383B6"/>
              </a:buClr>
              <a:buChar char="•"/>
              <a:tabLst>
                <a:tab pos="410209" algn="l"/>
              </a:tabLst>
            </a:pPr>
            <a:r>
              <a:rPr sz="2750" dirty="0">
                <a:latin typeface="Arial MT"/>
                <a:cs typeface="Arial MT"/>
              </a:rPr>
              <a:t>Prévention</a:t>
            </a:r>
            <a:r>
              <a:rPr sz="2750" spc="75" dirty="0">
                <a:latin typeface="Arial MT"/>
                <a:cs typeface="Arial MT"/>
              </a:rPr>
              <a:t> </a:t>
            </a:r>
            <a:r>
              <a:rPr sz="2750" dirty="0">
                <a:latin typeface="Arial MT"/>
                <a:cs typeface="Arial MT"/>
              </a:rPr>
              <a:t>des</a:t>
            </a:r>
            <a:r>
              <a:rPr sz="2750" spc="-35" dirty="0">
                <a:latin typeface="Arial MT"/>
                <a:cs typeface="Arial MT"/>
              </a:rPr>
              <a:t> </a:t>
            </a:r>
            <a:r>
              <a:rPr sz="2750" dirty="0">
                <a:latin typeface="Arial MT"/>
                <a:cs typeface="Arial MT"/>
              </a:rPr>
              <a:t>doubles</a:t>
            </a:r>
            <a:r>
              <a:rPr sz="2750" spc="-60" dirty="0">
                <a:latin typeface="Arial MT"/>
                <a:cs typeface="Arial MT"/>
              </a:rPr>
              <a:t> </a:t>
            </a:r>
            <a:r>
              <a:rPr sz="2750" spc="-10" dirty="0">
                <a:latin typeface="Arial MT"/>
                <a:cs typeface="Arial MT"/>
              </a:rPr>
              <a:t>réservations.</a:t>
            </a:r>
            <a:endParaRPr sz="2750">
              <a:latin typeface="Arial MT"/>
              <a:cs typeface="Arial MT"/>
            </a:endParaRPr>
          </a:p>
          <a:p>
            <a:pPr marL="410845" indent="-398145">
              <a:lnSpc>
                <a:spcPct val="100000"/>
              </a:lnSpc>
              <a:spcBef>
                <a:spcPts val="2100"/>
              </a:spcBef>
              <a:buClr>
                <a:srgbClr val="2487B8"/>
              </a:buClr>
              <a:buChar char="•"/>
              <a:tabLst>
                <a:tab pos="410845" algn="l"/>
              </a:tabLst>
            </a:pPr>
            <a:r>
              <a:rPr sz="2750" dirty="0">
                <a:latin typeface="Arial MT"/>
                <a:cs typeface="Arial MT"/>
              </a:rPr>
              <a:t>Visualisation</a:t>
            </a:r>
            <a:r>
              <a:rPr sz="2750" spc="70" dirty="0">
                <a:latin typeface="Arial MT"/>
                <a:cs typeface="Arial MT"/>
              </a:rPr>
              <a:t> </a:t>
            </a:r>
            <a:r>
              <a:rPr sz="2750" dirty="0">
                <a:latin typeface="Arial MT"/>
                <a:cs typeface="Arial MT"/>
              </a:rPr>
              <a:t>claire</a:t>
            </a:r>
            <a:r>
              <a:rPr sz="2750" spc="-45" dirty="0">
                <a:latin typeface="Arial MT"/>
                <a:cs typeface="Arial MT"/>
              </a:rPr>
              <a:t> </a:t>
            </a:r>
            <a:r>
              <a:rPr sz="2750" spc="-10" dirty="0">
                <a:latin typeface="Arial MT"/>
                <a:cs typeface="Arial MT"/>
              </a:rPr>
              <a:t>(Mois/Semaine/Jour).</a:t>
            </a:r>
            <a:endParaRPr sz="2750">
              <a:latin typeface="Arial MT"/>
              <a:cs typeface="Arial MT"/>
            </a:endParaRPr>
          </a:p>
          <a:p>
            <a:pPr marL="407670" indent="-394970">
              <a:lnSpc>
                <a:spcPct val="100000"/>
              </a:lnSpc>
              <a:spcBef>
                <a:spcPts val="2100"/>
              </a:spcBef>
              <a:buClr>
                <a:srgbClr val="2383B5"/>
              </a:buClr>
              <a:buChar char="•"/>
              <a:tabLst>
                <a:tab pos="407670" algn="l"/>
              </a:tabLst>
            </a:pPr>
            <a:r>
              <a:rPr sz="2750" dirty="0">
                <a:latin typeface="Arial MT"/>
                <a:cs typeface="Arial MT"/>
              </a:rPr>
              <a:t>Organisation</a:t>
            </a:r>
            <a:r>
              <a:rPr sz="2750" spc="210" dirty="0">
                <a:latin typeface="Arial MT"/>
                <a:cs typeface="Arial MT"/>
              </a:rPr>
              <a:t> </a:t>
            </a:r>
            <a:r>
              <a:rPr sz="2750" dirty="0">
                <a:latin typeface="Arial MT"/>
                <a:cs typeface="Arial MT"/>
              </a:rPr>
              <a:t>optimale</a:t>
            </a:r>
            <a:r>
              <a:rPr sz="2750" spc="60" dirty="0">
                <a:latin typeface="Arial MT"/>
                <a:cs typeface="Arial MT"/>
              </a:rPr>
              <a:t> </a:t>
            </a:r>
            <a:r>
              <a:rPr sz="2750" dirty="0">
                <a:latin typeface="Arial MT"/>
                <a:cs typeface="Arial MT"/>
              </a:rPr>
              <a:t>du</a:t>
            </a:r>
            <a:r>
              <a:rPr sz="2750" spc="-135" dirty="0">
                <a:latin typeface="Arial MT"/>
                <a:cs typeface="Arial MT"/>
              </a:rPr>
              <a:t> </a:t>
            </a:r>
            <a:r>
              <a:rPr sz="2750" dirty="0">
                <a:latin typeface="Arial MT"/>
                <a:cs typeface="Arial MT"/>
              </a:rPr>
              <a:t>temps</a:t>
            </a:r>
            <a:r>
              <a:rPr sz="2750" spc="35" dirty="0">
                <a:latin typeface="Arial MT"/>
                <a:cs typeface="Arial MT"/>
              </a:rPr>
              <a:t> </a:t>
            </a:r>
            <a:r>
              <a:rPr sz="2750" spc="-10" dirty="0">
                <a:latin typeface="Arial MT"/>
                <a:cs typeface="Arial MT"/>
              </a:rPr>
              <a:t>médical.</a:t>
            </a:r>
            <a:endParaRPr sz="2750">
              <a:latin typeface="Arial MT"/>
              <a:cs typeface="Arial MT"/>
            </a:endParaRPr>
          </a:p>
        </p:txBody>
      </p:sp>
      <p:grpSp>
        <p:nvGrpSpPr>
          <p:cNvPr id="11" name="Group 2">
            <a:extLst>
              <a:ext uri="{FF2B5EF4-FFF2-40B4-BE49-F238E27FC236}">
                <a16:creationId xmlns:a16="http://schemas.microsoft.com/office/drawing/2014/main" id="{1D9EFE3F-963F-4DC1-AF41-60B7EF446BF5}"/>
              </a:ext>
            </a:extLst>
          </p:cNvPr>
          <p:cNvGrpSpPr/>
          <p:nvPr/>
        </p:nvGrpSpPr>
        <p:grpSpPr>
          <a:xfrm>
            <a:off x="0" y="9051073"/>
            <a:ext cx="17475200" cy="686135"/>
            <a:chOff x="0" y="0"/>
            <a:chExt cx="4816593" cy="348089"/>
          </a:xfrm>
        </p:grpSpPr>
        <p:sp>
          <p:nvSpPr>
            <p:cNvPr id="12" name="Freeform 3">
              <a:extLst>
                <a:ext uri="{FF2B5EF4-FFF2-40B4-BE49-F238E27FC236}">
                  <a16:creationId xmlns:a16="http://schemas.microsoft.com/office/drawing/2014/main" id="{3F17E4FA-4E60-4F36-AD91-EE39A957DD48}"/>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3" name="TextBox 4">
              <a:extLst>
                <a:ext uri="{FF2B5EF4-FFF2-40B4-BE49-F238E27FC236}">
                  <a16:creationId xmlns:a16="http://schemas.microsoft.com/office/drawing/2014/main" id="{2CDD71B9-5C8F-4F8B-8F12-D61203749F12}"/>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pic>
        <p:nvPicPr>
          <p:cNvPr id="15" name="Picture 14">
            <a:extLst>
              <a:ext uri="{FF2B5EF4-FFF2-40B4-BE49-F238E27FC236}">
                <a16:creationId xmlns:a16="http://schemas.microsoft.com/office/drawing/2014/main" id="{B1EA4C57-806C-40A2-94F0-2AD21DB430F1}"/>
              </a:ext>
            </a:extLst>
          </p:cNvPr>
          <p:cNvPicPr>
            <a:picLocks noChangeAspect="1"/>
          </p:cNvPicPr>
          <p:nvPr/>
        </p:nvPicPr>
        <p:blipFill>
          <a:blip r:embed="rId2"/>
          <a:stretch>
            <a:fillRect/>
          </a:stretch>
        </p:blipFill>
        <p:spPr>
          <a:xfrm>
            <a:off x="8280400" y="2160551"/>
            <a:ext cx="8534400" cy="6069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prstGeom prst="rect">
            <a:avLst/>
          </a:prstGeom>
        </p:spPr>
        <p:txBody>
          <a:bodyPr vert="horz" wrap="square" lIns="0" tIns="216817" rIns="0" bIns="0" rtlCol="0">
            <a:spAutoFit/>
          </a:bodyPr>
          <a:lstStyle/>
          <a:p>
            <a:pPr marL="1221105">
              <a:lnSpc>
                <a:spcPct val="100000"/>
              </a:lnSpc>
              <a:spcBef>
                <a:spcPts val="110"/>
              </a:spcBef>
            </a:pPr>
            <a:r>
              <a:rPr sz="4500" dirty="0">
                <a:solidFill>
                  <a:srgbClr val="3385D6"/>
                </a:solidFill>
              </a:rPr>
              <a:t>Le</a:t>
            </a:r>
            <a:r>
              <a:rPr sz="4500" spc="55" dirty="0">
                <a:solidFill>
                  <a:srgbClr val="3385D6"/>
                </a:solidFill>
              </a:rPr>
              <a:t> </a:t>
            </a:r>
            <a:r>
              <a:rPr sz="4500" spc="135" dirty="0">
                <a:solidFill>
                  <a:srgbClr val="2F7ECC"/>
                </a:solidFill>
              </a:rPr>
              <a:t>Tableau</a:t>
            </a:r>
            <a:r>
              <a:rPr sz="4500" spc="114" dirty="0">
                <a:solidFill>
                  <a:srgbClr val="2F7ECC"/>
                </a:solidFill>
              </a:rPr>
              <a:t> </a:t>
            </a:r>
            <a:r>
              <a:rPr sz="4500" spc="170" dirty="0">
                <a:solidFill>
                  <a:srgbClr val="2F80CD"/>
                </a:solidFill>
              </a:rPr>
              <a:t>de</a:t>
            </a:r>
            <a:r>
              <a:rPr sz="4500" spc="-95" dirty="0">
                <a:solidFill>
                  <a:srgbClr val="2F80CD"/>
                </a:solidFill>
              </a:rPr>
              <a:t> </a:t>
            </a:r>
            <a:r>
              <a:rPr sz="4500" spc="185" dirty="0">
                <a:solidFill>
                  <a:srgbClr val="3887D1"/>
                </a:solidFill>
              </a:rPr>
              <a:t>Bord</a:t>
            </a:r>
            <a:r>
              <a:rPr sz="4500" spc="-120" dirty="0">
                <a:solidFill>
                  <a:srgbClr val="3887D1"/>
                </a:solidFill>
              </a:rPr>
              <a:t> </a:t>
            </a:r>
            <a:r>
              <a:rPr sz="4500" spc="100" dirty="0">
                <a:solidFill>
                  <a:srgbClr val="3885CC"/>
                </a:solidFill>
              </a:rPr>
              <a:t>:</a:t>
            </a:r>
            <a:r>
              <a:rPr sz="4500" spc="-25" dirty="0">
                <a:solidFill>
                  <a:srgbClr val="3885CC"/>
                </a:solidFill>
              </a:rPr>
              <a:t> </a:t>
            </a:r>
            <a:r>
              <a:rPr sz="4500" dirty="0">
                <a:solidFill>
                  <a:srgbClr val="3685D1"/>
                </a:solidFill>
              </a:rPr>
              <a:t>La</a:t>
            </a:r>
            <a:r>
              <a:rPr sz="4500" spc="140" dirty="0">
                <a:solidFill>
                  <a:srgbClr val="3685D1"/>
                </a:solidFill>
              </a:rPr>
              <a:t> </a:t>
            </a:r>
            <a:r>
              <a:rPr sz="4500" spc="195" dirty="0">
                <a:solidFill>
                  <a:srgbClr val="3182CF"/>
                </a:solidFill>
              </a:rPr>
              <a:t>Clinique</a:t>
            </a:r>
            <a:r>
              <a:rPr sz="4500" spc="175" dirty="0">
                <a:solidFill>
                  <a:srgbClr val="3182CF"/>
                </a:solidFill>
              </a:rPr>
              <a:t> </a:t>
            </a:r>
            <a:r>
              <a:rPr sz="4500" spc="145" dirty="0">
                <a:solidFill>
                  <a:srgbClr val="2F7ECA"/>
                </a:solidFill>
              </a:rPr>
              <a:t>en</a:t>
            </a:r>
            <a:r>
              <a:rPr sz="4500" spc="-10" dirty="0">
                <a:solidFill>
                  <a:srgbClr val="2F7ECA"/>
                </a:solidFill>
              </a:rPr>
              <a:t> </a:t>
            </a:r>
            <a:r>
              <a:rPr sz="4500" spc="135" dirty="0">
                <a:solidFill>
                  <a:srgbClr val="3685CF"/>
                </a:solidFill>
              </a:rPr>
              <a:t>Temps</a:t>
            </a:r>
            <a:r>
              <a:rPr sz="4500" spc="120" dirty="0">
                <a:solidFill>
                  <a:srgbClr val="3685CF"/>
                </a:solidFill>
              </a:rPr>
              <a:t> </a:t>
            </a:r>
            <a:r>
              <a:rPr sz="4500" spc="-20" dirty="0">
                <a:solidFill>
                  <a:srgbClr val="3885CF"/>
                </a:solidFill>
              </a:rPr>
              <a:t>Réel</a:t>
            </a:r>
            <a:endParaRPr sz="4500"/>
          </a:p>
        </p:txBody>
      </p:sp>
      <p:sp>
        <p:nvSpPr>
          <p:cNvPr id="13" name="object 13"/>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12" name="object 12"/>
          <p:cNvSpPr txBox="1"/>
          <p:nvPr/>
        </p:nvSpPr>
        <p:spPr>
          <a:xfrm>
            <a:off x="3098800" y="7547154"/>
            <a:ext cx="11048365" cy="866140"/>
          </a:xfrm>
          <a:prstGeom prst="rect">
            <a:avLst/>
          </a:prstGeom>
        </p:spPr>
        <p:txBody>
          <a:bodyPr vert="horz" wrap="square" lIns="0" tIns="48895" rIns="0" bIns="0" rtlCol="0">
            <a:spAutoFit/>
          </a:bodyPr>
          <a:lstStyle/>
          <a:p>
            <a:pPr marL="3609975" marR="5080" indent="-3597910">
              <a:lnSpc>
                <a:spcPts val="3200"/>
              </a:lnSpc>
              <a:spcBef>
                <a:spcPts val="385"/>
              </a:spcBef>
            </a:pPr>
            <a:r>
              <a:rPr sz="2850" dirty="0">
                <a:solidFill>
                  <a:srgbClr val="0F0F0F"/>
                </a:solidFill>
                <a:latin typeface="Arial MT"/>
                <a:cs typeface="Arial MT"/>
              </a:rPr>
              <a:t>Outil</a:t>
            </a:r>
            <a:r>
              <a:rPr sz="2850" spc="-105" dirty="0">
                <a:solidFill>
                  <a:srgbClr val="0F0F0F"/>
                </a:solidFill>
                <a:latin typeface="Arial MT"/>
                <a:cs typeface="Arial MT"/>
              </a:rPr>
              <a:t> </a:t>
            </a:r>
            <a:r>
              <a:rPr sz="2850" spc="-135" dirty="0">
                <a:solidFill>
                  <a:srgbClr val="131313"/>
                </a:solidFill>
                <a:latin typeface="Arial MT"/>
                <a:cs typeface="Arial MT"/>
              </a:rPr>
              <a:t>d'aide</a:t>
            </a:r>
            <a:r>
              <a:rPr sz="2850" spc="-130" dirty="0">
                <a:solidFill>
                  <a:srgbClr val="131313"/>
                </a:solidFill>
                <a:latin typeface="Arial MT"/>
                <a:cs typeface="Arial MT"/>
              </a:rPr>
              <a:t> </a:t>
            </a:r>
            <a:r>
              <a:rPr sz="2850" spc="-350" dirty="0">
                <a:solidFill>
                  <a:srgbClr val="131313"/>
                </a:solidFill>
                <a:latin typeface="Arial MT"/>
                <a:cs typeface="Arial MT"/>
              </a:rPr>
              <a:t>à</a:t>
            </a:r>
            <a:r>
              <a:rPr sz="2850" spc="-125" dirty="0">
                <a:solidFill>
                  <a:srgbClr val="131313"/>
                </a:solidFill>
                <a:latin typeface="Arial MT"/>
                <a:cs typeface="Arial MT"/>
              </a:rPr>
              <a:t> </a:t>
            </a:r>
            <a:r>
              <a:rPr sz="2850" spc="-165" dirty="0">
                <a:solidFill>
                  <a:srgbClr val="181818"/>
                </a:solidFill>
                <a:latin typeface="Arial MT"/>
                <a:cs typeface="Arial MT"/>
              </a:rPr>
              <a:t>la</a:t>
            </a:r>
            <a:r>
              <a:rPr sz="2850" spc="-135" dirty="0">
                <a:solidFill>
                  <a:srgbClr val="181818"/>
                </a:solidFill>
                <a:latin typeface="Arial MT"/>
                <a:cs typeface="Arial MT"/>
              </a:rPr>
              <a:t> </a:t>
            </a:r>
            <a:r>
              <a:rPr sz="2850" spc="-145" dirty="0">
                <a:solidFill>
                  <a:srgbClr val="111111"/>
                </a:solidFill>
                <a:latin typeface="Arial MT"/>
                <a:cs typeface="Arial MT"/>
              </a:rPr>
              <a:t>décision</a:t>
            </a:r>
            <a:r>
              <a:rPr sz="2850" spc="-95" dirty="0">
                <a:solidFill>
                  <a:srgbClr val="111111"/>
                </a:solidFill>
                <a:latin typeface="Arial MT"/>
                <a:cs typeface="Arial MT"/>
              </a:rPr>
              <a:t> </a:t>
            </a:r>
            <a:r>
              <a:rPr sz="2850" dirty="0">
                <a:solidFill>
                  <a:srgbClr val="0C0C0C"/>
                </a:solidFill>
                <a:latin typeface="Arial MT"/>
                <a:cs typeface="Arial MT"/>
              </a:rPr>
              <a:t>offrant</a:t>
            </a:r>
            <a:r>
              <a:rPr sz="2850" spc="-40" dirty="0">
                <a:solidFill>
                  <a:srgbClr val="0C0C0C"/>
                </a:solidFill>
                <a:latin typeface="Arial MT"/>
                <a:cs typeface="Arial MT"/>
              </a:rPr>
              <a:t> </a:t>
            </a:r>
            <a:r>
              <a:rPr sz="2850" spc="-185" dirty="0">
                <a:solidFill>
                  <a:srgbClr val="131313"/>
                </a:solidFill>
                <a:latin typeface="Arial MT"/>
                <a:cs typeface="Arial MT"/>
              </a:rPr>
              <a:t>une</a:t>
            </a:r>
            <a:r>
              <a:rPr sz="2850" spc="-120" dirty="0">
                <a:solidFill>
                  <a:srgbClr val="131313"/>
                </a:solidFill>
                <a:latin typeface="Arial MT"/>
                <a:cs typeface="Arial MT"/>
              </a:rPr>
              <a:t> </a:t>
            </a:r>
            <a:r>
              <a:rPr sz="2850" spc="-180" dirty="0">
                <a:solidFill>
                  <a:srgbClr val="1C1C1C"/>
                </a:solidFill>
                <a:latin typeface="Arial MT"/>
                <a:cs typeface="Arial MT"/>
              </a:rPr>
              <a:t>vue </a:t>
            </a:r>
            <a:r>
              <a:rPr sz="2850" spc="-85" dirty="0">
                <a:latin typeface="Arial MT"/>
                <a:cs typeface="Arial MT"/>
              </a:rPr>
              <a:t>synthétique</a:t>
            </a:r>
            <a:r>
              <a:rPr sz="2850" spc="-30" dirty="0">
                <a:latin typeface="Arial MT"/>
                <a:cs typeface="Arial MT"/>
              </a:rPr>
              <a:t> </a:t>
            </a:r>
            <a:r>
              <a:rPr sz="2850" spc="-200" dirty="0">
                <a:solidFill>
                  <a:srgbClr val="0F0F0F"/>
                </a:solidFill>
                <a:latin typeface="Arial MT"/>
                <a:cs typeface="Arial MT"/>
              </a:rPr>
              <a:t>de</a:t>
            </a:r>
            <a:r>
              <a:rPr sz="2850" spc="-95" dirty="0">
                <a:solidFill>
                  <a:srgbClr val="0F0F0F"/>
                </a:solidFill>
                <a:latin typeface="Arial MT"/>
                <a:cs typeface="Arial MT"/>
              </a:rPr>
              <a:t> </a:t>
            </a:r>
            <a:r>
              <a:rPr sz="2850" spc="-35" dirty="0">
                <a:solidFill>
                  <a:srgbClr val="0C0C0C"/>
                </a:solidFill>
                <a:latin typeface="Arial MT"/>
                <a:cs typeface="Arial MT"/>
              </a:rPr>
              <a:t>l'activité</a:t>
            </a:r>
            <a:r>
              <a:rPr sz="2850" spc="-120" dirty="0">
                <a:solidFill>
                  <a:srgbClr val="0C0C0C"/>
                </a:solidFill>
                <a:latin typeface="Arial MT"/>
                <a:cs typeface="Arial MT"/>
              </a:rPr>
              <a:t> </a:t>
            </a:r>
            <a:r>
              <a:rPr sz="2850" spc="-35" dirty="0">
                <a:solidFill>
                  <a:srgbClr val="0C0C0C"/>
                </a:solidFill>
                <a:latin typeface="Arial MT"/>
                <a:cs typeface="Arial MT"/>
              </a:rPr>
              <a:t>(Patients, </a:t>
            </a:r>
            <a:r>
              <a:rPr sz="2850" spc="-155" dirty="0">
                <a:solidFill>
                  <a:srgbClr val="0F0F0F"/>
                </a:solidFill>
                <a:latin typeface="Arial MT"/>
                <a:cs typeface="Arial MT"/>
              </a:rPr>
              <a:t>Médecins,</a:t>
            </a:r>
            <a:r>
              <a:rPr sz="2850" spc="-70" dirty="0">
                <a:solidFill>
                  <a:srgbClr val="0F0F0F"/>
                </a:solidFill>
                <a:latin typeface="Arial MT"/>
                <a:cs typeface="Arial MT"/>
              </a:rPr>
              <a:t> </a:t>
            </a:r>
            <a:r>
              <a:rPr sz="2850" spc="-10" dirty="0">
                <a:solidFill>
                  <a:srgbClr val="0E0E0E"/>
                </a:solidFill>
                <a:latin typeface="Arial MT"/>
                <a:cs typeface="Arial MT"/>
              </a:rPr>
              <a:t>Consultations).</a:t>
            </a:r>
            <a:endParaRPr sz="2850" dirty="0">
              <a:latin typeface="Arial MT"/>
              <a:cs typeface="Arial MT"/>
            </a:endParaRPr>
          </a:p>
        </p:txBody>
      </p:sp>
      <p:grpSp>
        <p:nvGrpSpPr>
          <p:cNvPr id="14" name="Group 2">
            <a:extLst>
              <a:ext uri="{FF2B5EF4-FFF2-40B4-BE49-F238E27FC236}">
                <a16:creationId xmlns:a16="http://schemas.microsoft.com/office/drawing/2014/main" id="{672E1970-864F-4081-9859-95DAA688C3C1}"/>
              </a:ext>
            </a:extLst>
          </p:cNvPr>
          <p:cNvGrpSpPr/>
          <p:nvPr/>
        </p:nvGrpSpPr>
        <p:grpSpPr>
          <a:xfrm>
            <a:off x="0" y="9051073"/>
            <a:ext cx="17475200" cy="686135"/>
            <a:chOff x="0" y="0"/>
            <a:chExt cx="4816593" cy="348089"/>
          </a:xfrm>
        </p:grpSpPr>
        <p:sp>
          <p:nvSpPr>
            <p:cNvPr id="15" name="Freeform 3">
              <a:extLst>
                <a:ext uri="{FF2B5EF4-FFF2-40B4-BE49-F238E27FC236}">
                  <a16:creationId xmlns:a16="http://schemas.microsoft.com/office/drawing/2014/main" id="{F6D530F6-557A-4559-B3B5-05C0F90F6C09}"/>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6" name="TextBox 4">
              <a:extLst>
                <a:ext uri="{FF2B5EF4-FFF2-40B4-BE49-F238E27FC236}">
                  <a16:creationId xmlns:a16="http://schemas.microsoft.com/office/drawing/2014/main" id="{65024479-85F2-4B67-B1A0-671EB4C8DDD6}"/>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pic>
        <p:nvPicPr>
          <p:cNvPr id="18" name="Picture 17">
            <a:extLst>
              <a:ext uri="{FF2B5EF4-FFF2-40B4-BE49-F238E27FC236}">
                <a16:creationId xmlns:a16="http://schemas.microsoft.com/office/drawing/2014/main" id="{DF8EB7A9-4DCF-48C5-97FE-D2E6B2DD15F9}"/>
              </a:ext>
            </a:extLst>
          </p:cNvPr>
          <p:cNvPicPr>
            <a:picLocks noChangeAspect="1"/>
          </p:cNvPicPr>
          <p:nvPr/>
        </p:nvPicPr>
        <p:blipFill>
          <a:blip r:embed="rId2"/>
          <a:stretch>
            <a:fillRect/>
          </a:stretch>
        </p:blipFill>
        <p:spPr>
          <a:xfrm>
            <a:off x="1955800" y="1524000"/>
            <a:ext cx="14020799" cy="585008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030200" y="6781800"/>
            <a:ext cx="1752600" cy="1828800"/>
          </a:xfrm>
          <a:prstGeom prst="rect">
            <a:avLst/>
          </a:prstGeom>
        </p:spPr>
      </p:pic>
      <p:pic>
        <p:nvPicPr>
          <p:cNvPr id="3" name="object 3"/>
          <p:cNvPicPr/>
          <p:nvPr/>
        </p:nvPicPr>
        <p:blipFill>
          <a:blip r:embed="rId3" cstate="print"/>
          <a:stretch>
            <a:fillRect/>
          </a:stretch>
        </p:blipFill>
        <p:spPr>
          <a:xfrm>
            <a:off x="13068300" y="5384800"/>
            <a:ext cx="1701800" cy="660400"/>
          </a:xfrm>
          <a:prstGeom prst="rect">
            <a:avLst/>
          </a:prstGeom>
        </p:spPr>
      </p:pic>
      <p:pic>
        <p:nvPicPr>
          <p:cNvPr id="4" name="object 4"/>
          <p:cNvPicPr/>
          <p:nvPr/>
        </p:nvPicPr>
        <p:blipFill>
          <a:blip r:embed="rId4" cstate="print"/>
          <a:stretch>
            <a:fillRect/>
          </a:stretch>
        </p:blipFill>
        <p:spPr>
          <a:xfrm>
            <a:off x="13030200" y="2451100"/>
            <a:ext cx="1727200" cy="2514600"/>
          </a:xfrm>
          <a:prstGeom prst="rect">
            <a:avLst/>
          </a:prstGeom>
        </p:spPr>
      </p:pic>
      <p:pic>
        <p:nvPicPr>
          <p:cNvPr id="5" name="object 5"/>
          <p:cNvPicPr/>
          <p:nvPr/>
        </p:nvPicPr>
        <p:blipFill>
          <a:blip r:embed="rId5" cstate="print"/>
          <a:stretch>
            <a:fillRect/>
          </a:stretch>
        </p:blipFill>
        <p:spPr>
          <a:xfrm>
            <a:off x="1003300" y="977900"/>
            <a:ext cx="1511300" cy="533400"/>
          </a:xfrm>
          <a:prstGeom prst="rect">
            <a:avLst/>
          </a:prstGeom>
        </p:spPr>
      </p:pic>
      <p:sp>
        <p:nvSpPr>
          <p:cNvPr id="6" name="object 6"/>
          <p:cNvSpPr/>
          <p:nvPr/>
        </p:nvSpPr>
        <p:spPr>
          <a:xfrm>
            <a:off x="13057716" y="5532966"/>
            <a:ext cx="0" cy="2823845"/>
          </a:xfrm>
          <a:custGeom>
            <a:avLst/>
            <a:gdLst/>
            <a:ahLst/>
            <a:cxnLst/>
            <a:rect l="l" t="t" r="r" b="b"/>
            <a:pathLst>
              <a:path h="2823845">
                <a:moveTo>
                  <a:pt x="0" y="2823633"/>
                </a:moveTo>
                <a:lnTo>
                  <a:pt x="0" y="0"/>
                </a:lnTo>
              </a:path>
            </a:pathLst>
          </a:custGeom>
          <a:ln w="4233">
            <a:solidFill>
              <a:srgbClr val="547487"/>
            </a:solidFill>
          </a:ln>
        </p:spPr>
        <p:txBody>
          <a:bodyPr wrap="square" lIns="0" tIns="0" rIns="0" bIns="0" rtlCol="0"/>
          <a:lstStyle/>
          <a:p>
            <a:endParaRPr/>
          </a:p>
        </p:txBody>
      </p:sp>
      <p:sp>
        <p:nvSpPr>
          <p:cNvPr id="7" name="object 7"/>
          <p:cNvSpPr/>
          <p:nvPr/>
        </p:nvSpPr>
        <p:spPr>
          <a:xfrm>
            <a:off x="13146616" y="5545666"/>
            <a:ext cx="0" cy="2798445"/>
          </a:xfrm>
          <a:custGeom>
            <a:avLst/>
            <a:gdLst/>
            <a:ahLst/>
            <a:cxnLst/>
            <a:rect l="l" t="t" r="r" b="b"/>
            <a:pathLst>
              <a:path h="2798445">
                <a:moveTo>
                  <a:pt x="0" y="2798233"/>
                </a:moveTo>
                <a:lnTo>
                  <a:pt x="0" y="0"/>
                </a:lnTo>
              </a:path>
            </a:pathLst>
          </a:custGeom>
          <a:ln w="4233">
            <a:solidFill>
              <a:srgbClr val="547487"/>
            </a:solidFill>
          </a:ln>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318770" rIns="0" bIns="0" rtlCol="0">
            <a:spAutoFit/>
          </a:bodyPr>
          <a:lstStyle/>
          <a:p>
            <a:pPr marL="1757680">
              <a:lnSpc>
                <a:spcPct val="100000"/>
              </a:lnSpc>
              <a:spcBef>
                <a:spcPts val="135"/>
              </a:spcBef>
            </a:pPr>
            <a:r>
              <a:rPr spc="125" dirty="0">
                <a:solidFill>
                  <a:srgbClr val="1D6EAE"/>
                </a:solidFill>
              </a:rPr>
              <a:t>Médical</a:t>
            </a:r>
            <a:r>
              <a:rPr spc="254" dirty="0">
                <a:solidFill>
                  <a:srgbClr val="1D6EAE"/>
                </a:solidFill>
              </a:rPr>
              <a:t> </a:t>
            </a:r>
            <a:r>
              <a:rPr spc="130" dirty="0">
                <a:solidFill>
                  <a:srgbClr val="2370A8"/>
                </a:solidFill>
              </a:rPr>
              <a:t>et</a:t>
            </a:r>
            <a:r>
              <a:rPr spc="80" dirty="0">
                <a:solidFill>
                  <a:srgbClr val="2370A8"/>
                </a:solidFill>
              </a:rPr>
              <a:t> </a:t>
            </a:r>
            <a:r>
              <a:rPr spc="110" dirty="0">
                <a:solidFill>
                  <a:srgbClr val="2170A8"/>
                </a:solidFill>
              </a:rPr>
              <a:t>Communication</a:t>
            </a:r>
            <a:r>
              <a:rPr spc="765" dirty="0">
                <a:solidFill>
                  <a:srgbClr val="2170A8"/>
                </a:solidFill>
              </a:rPr>
              <a:t> </a:t>
            </a:r>
            <a:r>
              <a:rPr spc="120" dirty="0">
                <a:solidFill>
                  <a:srgbClr val="2374AF"/>
                </a:solidFill>
              </a:rPr>
              <a:t>Automatisée</a:t>
            </a:r>
          </a:p>
        </p:txBody>
      </p:sp>
      <p:sp>
        <p:nvSpPr>
          <p:cNvPr id="12" name="object 12"/>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9" name="object 9"/>
          <p:cNvSpPr txBox="1">
            <a:spLocks noGrp="1"/>
          </p:cNvSpPr>
          <p:nvPr>
            <p:ph type="body" idx="1"/>
          </p:nvPr>
        </p:nvSpPr>
        <p:spPr>
          <a:prstGeom prst="rect">
            <a:avLst/>
          </a:prstGeom>
        </p:spPr>
        <p:txBody>
          <a:bodyPr vert="horz" wrap="square" lIns="0" tIns="236220" rIns="0" bIns="0" rtlCol="0">
            <a:spAutoFit/>
          </a:bodyPr>
          <a:lstStyle/>
          <a:p>
            <a:pPr marL="13335">
              <a:lnSpc>
                <a:spcPct val="100000"/>
              </a:lnSpc>
              <a:spcBef>
                <a:spcPts val="1860"/>
              </a:spcBef>
            </a:pPr>
            <a:r>
              <a:rPr spc="-10" dirty="0"/>
              <a:t>Dossier</a:t>
            </a:r>
            <a:r>
              <a:rPr spc="-40" dirty="0"/>
              <a:t> </a:t>
            </a:r>
            <a:r>
              <a:rPr dirty="0"/>
              <a:t>Médical</a:t>
            </a:r>
            <a:r>
              <a:rPr spc="-40" dirty="0"/>
              <a:t> </a:t>
            </a:r>
            <a:r>
              <a:rPr spc="-10" dirty="0"/>
              <a:t>Numérique</a:t>
            </a:r>
          </a:p>
          <a:p>
            <a:pPr marL="22225">
              <a:lnSpc>
                <a:spcPct val="100000"/>
              </a:lnSpc>
              <a:spcBef>
                <a:spcPts val="1390"/>
              </a:spcBef>
              <a:tabLst>
                <a:tab pos="2384425" algn="l"/>
              </a:tabLst>
            </a:pPr>
            <a:r>
              <a:rPr sz="3400" spc="-10" dirty="0">
                <a:latin typeface="Calibri"/>
                <a:cs typeface="Calibri"/>
              </a:rPr>
              <a:t>Consultation</a:t>
            </a:r>
            <a:r>
              <a:rPr sz="3400" dirty="0">
                <a:latin typeface="Calibri"/>
                <a:cs typeface="Calibri"/>
              </a:rPr>
              <a:t>	de</a:t>
            </a:r>
            <a:r>
              <a:rPr sz="3400" spc="-85" dirty="0">
                <a:latin typeface="Calibri"/>
                <a:cs typeface="Calibri"/>
              </a:rPr>
              <a:t> </a:t>
            </a:r>
            <a:r>
              <a:rPr sz="3400" spc="-20" dirty="0">
                <a:latin typeface="Calibri"/>
                <a:cs typeface="Calibri"/>
              </a:rPr>
              <a:t>l'historique</a:t>
            </a:r>
            <a:r>
              <a:rPr sz="3400" spc="265" dirty="0">
                <a:latin typeface="Calibri"/>
                <a:cs typeface="Calibri"/>
              </a:rPr>
              <a:t> </a:t>
            </a:r>
            <a:r>
              <a:rPr sz="3400" dirty="0">
                <a:latin typeface="Calibri"/>
                <a:cs typeface="Calibri"/>
              </a:rPr>
              <a:t>complet,</a:t>
            </a:r>
            <a:r>
              <a:rPr sz="3400" spc="245" dirty="0">
                <a:latin typeface="Calibri"/>
                <a:cs typeface="Calibri"/>
              </a:rPr>
              <a:t> </a:t>
            </a:r>
            <a:r>
              <a:rPr sz="3400" dirty="0">
                <a:latin typeface="Calibri"/>
                <a:cs typeface="Calibri"/>
              </a:rPr>
              <a:t>saisie</a:t>
            </a:r>
            <a:r>
              <a:rPr sz="3400" spc="120" dirty="0">
                <a:latin typeface="Calibri"/>
                <a:cs typeface="Calibri"/>
              </a:rPr>
              <a:t> </a:t>
            </a:r>
            <a:r>
              <a:rPr sz="3400" spc="30" dirty="0">
                <a:latin typeface="Calibri"/>
                <a:cs typeface="Calibri"/>
              </a:rPr>
              <a:t>des</a:t>
            </a:r>
            <a:endParaRPr sz="3400">
              <a:latin typeface="Calibri"/>
              <a:cs typeface="Calibri"/>
            </a:endParaRPr>
          </a:p>
          <a:p>
            <a:pPr marL="12700">
              <a:lnSpc>
                <a:spcPct val="100000"/>
              </a:lnSpc>
              <a:spcBef>
                <a:spcPts val="120"/>
              </a:spcBef>
            </a:pPr>
            <a:r>
              <a:rPr sz="3200" spc="60" dirty="0">
                <a:latin typeface="Calibri"/>
                <a:cs typeface="Calibri"/>
              </a:rPr>
              <a:t>motifs</a:t>
            </a:r>
            <a:r>
              <a:rPr sz="3200" spc="235" dirty="0">
                <a:latin typeface="Calibri"/>
                <a:cs typeface="Calibri"/>
              </a:rPr>
              <a:t> </a:t>
            </a:r>
            <a:r>
              <a:rPr sz="3200" dirty="0">
                <a:latin typeface="Calibri"/>
                <a:cs typeface="Calibri"/>
              </a:rPr>
              <a:t>et</a:t>
            </a:r>
            <a:r>
              <a:rPr sz="3200" spc="195" dirty="0">
                <a:latin typeface="Calibri"/>
                <a:cs typeface="Calibri"/>
              </a:rPr>
              <a:t> </a:t>
            </a:r>
            <a:r>
              <a:rPr sz="3200" spc="55" dirty="0">
                <a:latin typeface="Calibri"/>
                <a:cs typeface="Calibri"/>
              </a:rPr>
              <a:t>résultats.</a:t>
            </a:r>
            <a:endParaRPr sz="3200">
              <a:latin typeface="Calibri"/>
              <a:cs typeface="Calibri"/>
            </a:endParaRPr>
          </a:p>
        </p:txBody>
      </p:sp>
      <p:sp>
        <p:nvSpPr>
          <p:cNvPr id="10" name="object 10"/>
          <p:cNvSpPr txBox="1"/>
          <p:nvPr/>
        </p:nvSpPr>
        <p:spPr>
          <a:xfrm>
            <a:off x="978736" y="6142075"/>
            <a:ext cx="9594850" cy="2131060"/>
          </a:xfrm>
          <a:prstGeom prst="rect">
            <a:avLst/>
          </a:prstGeom>
        </p:spPr>
        <p:txBody>
          <a:bodyPr vert="horz" wrap="square" lIns="0" tIns="277495" rIns="0" bIns="0" rtlCol="0">
            <a:spAutoFit/>
          </a:bodyPr>
          <a:lstStyle/>
          <a:p>
            <a:pPr marL="12700">
              <a:lnSpc>
                <a:spcPct val="100000"/>
              </a:lnSpc>
              <a:spcBef>
                <a:spcPts val="2185"/>
              </a:spcBef>
            </a:pPr>
            <a:r>
              <a:rPr sz="4300" spc="-10" dirty="0">
                <a:latin typeface="Arial MT"/>
                <a:cs typeface="Arial MT"/>
              </a:rPr>
              <a:t>Service</a:t>
            </a:r>
            <a:r>
              <a:rPr sz="4300" spc="-110" dirty="0">
                <a:latin typeface="Arial MT"/>
                <a:cs typeface="Arial MT"/>
              </a:rPr>
              <a:t> </a:t>
            </a:r>
            <a:r>
              <a:rPr sz="4300" dirty="0">
                <a:latin typeface="Arial MT"/>
                <a:cs typeface="Arial MT"/>
              </a:rPr>
              <a:t>de</a:t>
            </a:r>
            <a:r>
              <a:rPr sz="4300" spc="-229" dirty="0">
                <a:latin typeface="Arial MT"/>
                <a:cs typeface="Arial MT"/>
              </a:rPr>
              <a:t> </a:t>
            </a:r>
            <a:r>
              <a:rPr sz="4300" spc="-10" dirty="0">
                <a:latin typeface="Arial MT"/>
                <a:cs typeface="Arial MT"/>
              </a:rPr>
              <a:t>Notification</a:t>
            </a:r>
            <a:endParaRPr sz="4300">
              <a:latin typeface="Arial MT"/>
              <a:cs typeface="Arial MT"/>
            </a:endParaRPr>
          </a:p>
          <a:p>
            <a:pPr marL="589280" indent="-320040">
              <a:lnSpc>
                <a:spcPct val="100000"/>
              </a:lnSpc>
              <a:spcBef>
                <a:spcPts val="1540"/>
              </a:spcBef>
              <a:buChar char="•"/>
              <a:tabLst>
                <a:tab pos="589280" algn="l"/>
              </a:tabLst>
            </a:pPr>
            <a:r>
              <a:rPr sz="3200" spc="-110" dirty="0">
                <a:latin typeface="Arial MT"/>
                <a:cs typeface="Arial MT"/>
              </a:rPr>
              <a:t>Envoi</a:t>
            </a:r>
            <a:r>
              <a:rPr sz="3200" spc="-95" dirty="0">
                <a:latin typeface="Arial MT"/>
                <a:cs typeface="Arial MT"/>
              </a:rPr>
              <a:t> </a:t>
            </a:r>
            <a:r>
              <a:rPr sz="3200" spc="-25" dirty="0">
                <a:latin typeface="Arial MT"/>
                <a:cs typeface="Arial MT"/>
              </a:rPr>
              <a:t>automatique </a:t>
            </a:r>
            <a:r>
              <a:rPr sz="3200" dirty="0">
                <a:latin typeface="Arial MT"/>
                <a:cs typeface="Arial MT"/>
              </a:rPr>
              <a:t>de</a:t>
            </a:r>
            <a:r>
              <a:rPr sz="3200" spc="-225" dirty="0">
                <a:latin typeface="Arial MT"/>
                <a:cs typeface="Arial MT"/>
              </a:rPr>
              <a:t> </a:t>
            </a:r>
            <a:r>
              <a:rPr sz="3200" spc="-20" dirty="0">
                <a:latin typeface="Arial MT"/>
                <a:cs typeface="Arial MT"/>
              </a:rPr>
              <a:t>confirmations</a:t>
            </a:r>
            <a:r>
              <a:rPr sz="3200" spc="5" dirty="0">
                <a:latin typeface="Arial MT"/>
                <a:cs typeface="Arial MT"/>
              </a:rPr>
              <a:t> </a:t>
            </a:r>
            <a:r>
              <a:rPr sz="3200" dirty="0">
                <a:latin typeface="Arial MT"/>
                <a:cs typeface="Arial MT"/>
              </a:rPr>
              <a:t>et</a:t>
            </a:r>
            <a:r>
              <a:rPr sz="3200" spc="-135" dirty="0">
                <a:latin typeface="Arial MT"/>
                <a:cs typeface="Arial MT"/>
              </a:rPr>
              <a:t> </a:t>
            </a:r>
            <a:r>
              <a:rPr sz="3200" dirty="0">
                <a:latin typeface="Arial MT"/>
                <a:cs typeface="Arial MT"/>
              </a:rPr>
              <a:t>de</a:t>
            </a:r>
            <a:r>
              <a:rPr sz="3200" spc="-130" dirty="0">
                <a:latin typeface="Arial MT"/>
                <a:cs typeface="Arial MT"/>
              </a:rPr>
              <a:t> </a:t>
            </a:r>
            <a:r>
              <a:rPr sz="3200" spc="-10" dirty="0">
                <a:latin typeface="Arial MT"/>
                <a:cs typeface="Arial MT"/>
              </a:rPr>
              <a:t>rappels.</a:t>
            </a:r>
            <a:endParaRPr sz="3200">
              <a:latin typeface="Arial MT"/>
              <a:cs typeface="Arial MT"/>
            </a:endParaRPr>
          </a:p>
          <a:p>
            <a:pPr marL="588645" indent="-319405">
              <a:lnSpc>
                <a:spcPct val="100000"/>
              </a:lnSpc>
              <a:spcBef>
                <a:spcPts val="110"/>
              </a:spcBef>
              <a:buChar char="•"/>
              <a:tabLst>
                <a:tab pos="588645" algn="l"/>
              </a:tabLst>
            </a:pPr>
            <a:r>
              <a:rPr sz="3200" spc="-10" dirty="0">
                <a:latin typeface="Arial MT"/>
                <a:cs typeface="Arial MT"/>
              </a:rPr>
              <a:t>Objectif</a:t>
            </a:r>
            <a:r>
              <a:rPr sz="3200" spc="-30" dirty="0">
                <a:latin typeface="Arial MT"/>
                <a:cs typeface="Arial MT"/>
              </a:rPr>
              <a:t> </a:t>
            </a:r>
            <a:r>
              <a:rPr sz="3200" dirty="0">
                <a:latin typeface="Arial MT"/>
                <a:cs typeface="Arial MT"/>
              </a:rPr>
              <a:t>:</a:t>
            </a:r>
            <a:r>
              <a:rPr sz="3200" spc="-225" dirty="0">
                <a:latin typeface="Arial MT"/>
                <a:cs typeface="Arial MT"/>
              </a:rPr>
              <a:t> </a:t>
            </a:r>
            <a:r>
              <a:rPr sz="3200" spc="-114" dirty="0">
                <a:latin typeface="Arial MT"/>
                <a:cs typeface="Arial MT"/>
              </a:rPr>
              <a:t>Réduire</a:t>
            </a:r>
            <a:r>
              <a:rPr sz="3200" spc="-65" dirty="0">
                <a:latin typeface="Arial MT"/>
                <a:cs typeface="Arial MT"/>
              </a:rPr>
              <a:t> </a:t>
            </a:r>
            <a:r>
              <a:rPr sz="3200" dirty="0">
                <a:latin typeface="Arial MT"/>
                <a:cs typeface="Arial MT"/>
              </a:rPr>
              <a:t>le</a:t>
            </a:r>
            <a:r>
              <a:rPr sz="3200" spc="-215" dirty="0">
                <a:latin typeface="Arial MT"/>
                <a:cs typeface="Arial MT"/>
              </a:rPr>
              <a:t> </a:t>
            </a:r>
            <a:r>
              <a:rPr sz="3200" dirty="0">
                <a:latin typeface="Arial MT"/>
                <a:cs typeface="Arial MT"/>
              </a:rPr>
              <a:t>taux</a:t>
            </a:r>
            <a:r>
              <a:rPr sz="3200" spc="-25" dirty="0">
                <a:latin typeface="Arial MT"/>
                <a:cs typeface="Arial MT"/>
              </a:rPr>
              <a:t> </a:t>
            </a:r>
            <a:r>
              <a:rPr sz="3200" spc="-60" dirty="0">
                <a:latin typeface="Arial MT"/>
                <a:cs typeface="Arial MT"/>
              </a:rPr>
              <a:t>d'absentéisme</a:t>
            </a:r>
            <a:r>
              <a:rPr sz="3200" spc="80" dirty="0">
                <a:latin typeface="Arial MT"/>
                <a:cs typeface="Arial MT"/>
              </a:rPr>
              <a:t> </a:t>
            </a:r>
            <a:r>
              <a:rPr sz="3200" spc="-70" dirty="0">
                <a:latin typeface="Arial MT"/>
                <a:cs typeface="Arial MT"/>
              </a:rPr>
              <a:t>(No-</a:t>
            </a:r>
            <a:r>
              <a:rPr sz="3200" spc="-10" dirty="0">
                <a:latin typeface="Arial MT"/>
                <a:cs typeface="Arial MT"/>
              </a:rPr>
              <a:t>show).</a:t>
            </a:r>
            <a:endParaRPr sz="3200">
              <a:latin typeface="Arial MT"/>
              <a:cs typeface="Arial MT"/>
            </a:endParaRPr>
          </a:p>
        </p:txBody>
      </p:sp>
      <p:sp>
        <p:nvSpPr>
          <p:cNvPr id="11" name="object 11"/>
          <p:cNvSpPr txBox="1"/>
          <p:nvPr/>
        </p:nvSpPr>
        <p:spPr>
          <a:xfrm>
            <a:off x="13762862" y="6144683"/>
            <a:ext cx="1469390" cy="533400"/>
          </a:xfrm>
          <a:prstGeom prst="rect">
            <a:avLst/>
          </a:prstGeom>
        </p:spPr>
        <p:txBody>
          <a:bodyPr vert="horz" wrap="square" lIns="0" tIns="12065" rIns="0" bIns="0" rtlCol="0">
            <a:spAutoFit/>
          </a:bodyPr>
          <a:lstStyle/>
          <a:p>
            <a:pPr marL="12700" marR="5080" indent="-635">
              <a:lnSpc>
                <a:spcPct val="101000"/>
              </a:lnSpc>
              <a:spcBef>
                <a:spcPts val="95"/>
              </a:spcBef>
            </a:pPr>
            <a:r>
              <a:rPr sz="1650" spc="-50" dirty="0">
                <a:solidFill>
                  <a:srgbClr val="597C8E"/>
                </a:solidFill>
                <a:latin typeface="Arial MT"/>
                <a:cs typeface="Arial MT"/>
              </a:rPr>
              <a:t>Rappel</a:t>
            </a:r>
            <a:r>
              <a:rPr sz="1650" spc="-5" dirty="0">
                <a:solidFill>
                  <a:srgbClr val="597C8E"/>
                </a:solidFill>
                <a:latin typeface="Arial MT"/>
                <a:cs typeface="Arial MT"/>
              </a:rPr>
              <a:t> </a:t>
            </a:r>
            <a:r>
              <a:rPr sz="1650" spc="-60" dirty="0">
                <a:solidFill>
                  <a:srgbClr val="6490AA"/>
                </a:solidFill>
                <a:latin typeface="Arial MT"/>
                <a:cs typeface="Arial MT"/>
              </a:rPr>
              <a:t>de</a:t>
            </a:r>
            <a:r>
              <a:rPr sz="1650" spc="-55" dirty="0">
                <a:solidFill>
                  <a:srgbClr val="6490AA"/>
                </a:solidFill>
                <a:latin typeface="Arial MT"/>
                <a:cs typeface="Arial MT"/>
              </a:rPr>
              <a:t> </a:t>
            </a:r>
            <a:r>
              <a:rPr sz="1650" spc="-185" dirty="0">
                <a:solidFill>
                  <a:srgbClr val="608CA8"/>
                </a:solidFill>
                <a:latin typeface="Arial MT"/>
                <a:cs typeface="Arial MT"/>
              </a:rPr>
              <a:t>RDV</a:t>
            </a:r>
            <a:r>
              <a:rPr sz="1650" spc="65" dirty="0">
                <a:solidFill>
                  <a:srgbClr val="608CA8"/>
                </a:solidFill>
                <a:latin typeface="Arial MT"/>
                <a:cs typeface="Arial MT"/>
              </a:rPr>
              <a:t> </a:t>
            </a:r>
            <a:r>
              <a:rPr sz="1650" spc="-50" dirty="0">
                <a:solidFill>
                  <a:srgbClr val="6B7E85"/>
                </a:solidFill>
                <a:latin typeface="Arial MT"/>
                <a:cs typeface="Arial MT"/>
              </a:rPr>
              <a:t>: </a:t>
            </a:r>
            <a:r>
              <a:rPr sz="1650" spc="-65" dirty="0">
                <a:latin typeface="Arial MT"/>
                <a:cs typeface="Arial MT"/>
              </a:rPr>
              <a:t>Demain</a:t>
            </a:r>
            <a:r>
              <a:rPr sz="1650" dirty="0">
                <a:latin typeface="Arial MT"/>
                <a:cs typeface="Arial MT"/>
              </a:rPr>
              <a:t> </a:t>
            </a:r>
            <a:r>
              <a:rPr sz="1650" spc="-245" dirty="0">
                <a:latin typeface="Arial MT"/>
                <a:cs typeface="Arial MT"/>
              </a:rPr>
              <a:t>ä</a:t>
            </a:r>
            <a:r>
              <a:rPr sz="1650" spc="-60" dirty="0">
                <a:latin typeface="Arial MT"/>
                <a:cs typeface="Arial MT"/>
              </a:rPr>
              <a:t> </a:t>
            </a:r>
            <a:r>
              <a:rPr sz="1650" spc="-10" dirty="0">
                <a:latin typeface="Arial MT"/>
                <a:cs typeface="Arial MT"/>
              </a:rPr>
              <a:t>14h00</a:t>
            </a:r>
            <a:endParaRPr sz="1650">
              <a:latin typeface="Arial MT"/>
              <a:cs typeface="Arial MT"/>
            </a:endParaRPr>
          </a:p>
        </p:txBody>
      </p:sp>
      <p:grpSp>
        <p:nvGrpSpPr>
          <p:cNvPr id="13" name="Group 2">
            <a:extLst>
              <a:ext uri="{FF2B5EF4-FFF2-40B4-BE49-F238E27FC236}">
                <a16:creationId xmlns:a16="http://schemas.microsoft.com/office/drawing/2014/main" id="{E884F0C0-C429-4AA2-B97C-EF9CE96EF019}"/>
              </a:ext>
            </a:extLst>
          </p:cNvPr>
          <p:cNvGrpSpPr/>
          <p:nvPr/>
        </p:nvGrpSpPr>
        <p:grpSpPr>
          <a:xfrm>
            <a:off x="0" y="9051073"/>
            <a:ext cx="17475200" cy="686135"/>
            <a:chOff x="0" y="0"/>
            <a:chExt cx="4816593" cy="348089"/>
          </a:xfrm>
        </p:grpSpPr>
        <p:sp>
          <p:nvSpPr>
            <p:cNvPr id="14" name="Freeform 3">
              <a:extLst>
                <a:ext uri="{FF2B5EF4-FFF2-40B4-BE49-F238E27FC236}">
                  <a16:creationId xmlns:a16="http://schemas.microsoft.com/office/drawing/2014/main" id="{D5A2DD70-E32A-40A6-BF35-B82C5CB993F1}"/>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5" name="TextBox 4">
              <a:extLst>
                <a:ext uri="{FF2B5EF4-FFF2-40B4-BE49-F238E27FC236}">
                  <a16:creationId xmlns:a16="http://schemas.microsoft.com/office/drawing/2014/main" id="{DC3D9CCE-6BD4-41D6-93BF-EB9584DC8182}"/>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08200" y="2857500"/>
            <a:ext cx="2286000" cy="1955800"/>
          </a:xfrm>
          <a:prstGeom prst="rect">
            <a:avLst/>
          </a:prstGeom>
        </p:spPr>
      </p:pic>
      <p:pic>
        <p:nvPicPr>
          <p:cNvPr id="4" name="object 4"/>
          <p:cNvPicPr/>
          <p:nvPr/>
        </p:nvPicPr>
        <p:blipFill>
          <a:blip r:embed="rId3" cstate="print"/>
          <a:stretch>
            <a:fillRect/>
          </a:stretch>
        </p:blipFill>
        <p:spPr>
          <a:xfrm>
            <a:off x="7772400" y="2857500"/>
            <a:ext cx="1930400" cy="1943100"/>
          </a:xfrm>
          <a:prstGeom prst="rect">
            <a:avLst/>
          </a:prstGeom>
        </p:spPr>
      </p:pic>
      <p:pic>
        <p:nvPicPr>
          <p:cNvPr id="5" name="object 5"/>
          <p:cNvPicPr/>
          <p:nvPr/>
        </p:nvPicPr>
        <p:blipFill>
          <a:blip r:embed="rId4" cstate="print"/>
          <a:stretch>
            <a:fillRect/>
          </a:stretch>
        </p:blipFill>
        <p:spPr>
          <a:xfrm>
            <a:off x="13309600" y="2857500"/>
            <a:ext cx="1879600" cy="1955800"/>
          </a:xfrm>
          <a:prstGeom prst="rect">
            <a:avLst/>
          </a:prstGeom>
        </p:spPr>
      </p:pic>
      <p:sp>
        <p:nvSpPr>
          <p:cNvPr id="6" name="object 6"/>
          <p:cNvSpPr txBox="1">
            <a:spLocks noGrp="1"/>
          </p:cNvSpPr>
          <p:nvPr>
            <p:ph type="title"/>
          </p:nvPr>
        </p:nvSpPr>
        <p:spPr>
          <a:prstGeom prst="rect">
            <a:avLst/>
          </a:prstGeom>
        </p:spPr>
        <p:txBody>
          <a:bodyPr vert="horz" wrap="square" lIns="0" tIns="306140" rIns="0" bIns="0" rtlCol="0">
            <a:spAutoFit/>
          </a:bodyPr>
          <a:lstStyle/>
          <a:p>
            <a:pPr marL="12700">
              <a:lnSpc>
                <a:spcPct val="100000"/>
              </a:lnSpc>
              <a:spcBef>
                <a:spcPts val="105"/>
              </a:spcBef>
            </a:pPr>
            <a:r>
              <a:rPr sz="5550" spc="114" dirty="0">
                <a:solidFill>
                  <a:srgbClr val="2B709A"/>
                </a:solidFill>
              </a:rPr>
              <a:t>Stratégie</a:t>
            </a:r>
            <a:r>
              <a:rPr sz="5550" spc="180" dirty="0">
                <a:solidFill>
                  <a:srgbClr val="2B709A"/>
                </a:solidFill>
              </a:rPr>
              <a:t> </a:t>
            </a:r>
            <a:r>
              <a:rPr sz="5550" spc="120" dirty="0">
                <a:solidFill>
                  <a:srgbClr val="246B9A"/>
                </a:solidFill>
              </a:rPr>
              <a:t>de</a:t>
            </a:r>
            <a:r>
              <a:rPr sz="5550" spc="-105" dirty="0">
                <a:solidFill>
                  <a:srgbClr val="246B9A"/>
                </a:solidFill>
              </a:rPr>
              <a:t> </a:t>
            </a:r>
            <a:r>
              <a:rPr sz="5550" dirty="0">
                <a:solidFill>
                  <a:srgbClr val="347CA8"/>
                </a:solidFill>
              </a:rPr>
              <a:t>Test</a:t>
            </a:r>
            <a:r>
              <a:rPr sz="5550" spc="105" dirty="0">
                <a:solidFill>
                  <a:srgbClr val="347CA8"/>
                </a:solidFill>
              </a:rPr>
              <a:t> </a:t>
            </a:r>
            <a:r>
              <a:rPr sz="5550" spc="110" dirty="0">
                <a:solidFill>
                  <a:srgbClr val="2A749C"/>
                </a:solidFill>
              </a:rPr>
              <a:t>et</a:t>
            </a:r>
            <a:r>
              <a:rPr sz="5550" spc="220" dirty="0">
                <a:solidFill>
                  <a:srgbClr val="2A749C"/>
                </a:solidFill>
              </a:rPr>
              <a:t> </a:t>
            </a:r>
            <a:r>
              <a:rPr sz="5550" spc="50" dirty="0">
                <a:solidFill>
                  <a:srgbClr val="2D77A3"/>
                </a:solidFill>
              </a:rPr>
              <a:t>Assurance</a:t>
            </a:r>
            <a:r>
              <a:rPr sz="5550" spc="360" dirty="0">
                <a:solidFill>
                  <a:srgbClr val="2D77A3"/>
                </a:solidFill>
              </a:rPr>
              <a:t> </a:t>
            </a:r>
            <a:r>
              <a:rPr sz="5550" spc="-10" dirty="0">
                <a:solidFill>
                  <a:srgbClr val="2877A5"/>
                </a:solidFill>
              </a:rPr>
              <a:t>Qualité</a:t>
            </a:r>
            <a:endParaRPr sz="5550"/>
          </a:p>
        </p:txBody>
      </p:sp>
      <p:sp>
        <p:nvSpPr>
          <p:cNvPr id="11" name="object 11"/>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7" name="object 7"/>
          <p:cNvSpPr txBox="1"/>
          <p:nvPr/>
        </p:nvSpPr>
        <p:spPr>
          <a:xfrm>
            <a:off x="1255557" y="5112949"/>
            <a:ext cx="3966210" cy="2294890"/>
          </a:xfrm>
          <a:prstGeom prst="rect">
            <a:avLst/>
          </a:prstGeom>
        </p:spPr>
        <p:txBody>
          <a:bodyPr vert="horz" wrap="square" lIns="0" tIns="208279" rIns="0" bIns="0" rtlCol="0">
            <a:spAutoFit/>
          </a:bodyPr>
          <a:lstStyle/>
          <a:p>
            <a:pPr marR="5080" algn="ctr">
              <a:lnSpc>
                <a:spcPct val="100000"/>
              </a:lnSpc>
              <a:spcBef>
                <a:spcPts val="1639"/>
              </a:spcBef>
            </a:pPr>
            <a:r>
              <a:rPr sz="3550" spc="-25" dirty="0">
                <a:solidFill>
                  <a:srgbClr val="346782"/>
                </a:solidFill>
                <a:latin typeface="Arial MT"/>
                <a:cs typeface="Arial MT"/>
              </a:rPr>
              <a:t>Tests</a:t>
            </a:r>
            <a:r>
              <a:rPr sz="3550" spc="-220" dirty="0">
                <a:solidFill>
                  <a:srgbClr val="346782"/>
                </a:solidFill>
                <a:latin typeface="Arial MT"/>
                <a:cs typeface="Arial MT"/>
              </a:rPr>
              <a:t> </a:t>
            </a:r>
            <a:r>
              <a:rPr sz="3550" spc="-10" dirty="0">
                <a:solidFill>
                  <a:srgbClr val="3A6980"/>
                </a:solidFill>
                <a:latin typeface="Arial MT"/>
                <a:cs typeface="Arial MT"/>
              </a:rPr>
              <a:t>Fonctionnels</a:t>
            </a:r>
            <a:endParaRPr sz="3550">
              <a:latin typeface="Arial MT"/>
              <a:cs typeface="Arial MT"/>
            </a:endParaRPr>
          </a:p>
          <a:p>
            <a:pPr marL="12700" marR="5080" algn="ctr">
              <a:lnSpc>
                <a:spcPct val="93400"/>
              </a:lnSpc>
              <a:spcBef>
                <a:spcPts val="1635"/>
              </a:spcBef>
            </a:pPr>
            <a:r>
              <a:rPr sz="3100" spc="-95" dirty="0">
                <a:latin typeface="Arial MT"/>
                <a:cs typeface="Arial MT"/>
              </a:rPr>
              <a:t>Vérification</a:t>
            </a:r>
            <a:r>
              <a:rPr sz="3100" spc="-85" dirty="0">
                <a:latin typeface="Arial MT"/>
                <a:cs typeface="Arial MT"/>
              </a:rPr>
              <a:t> </a:t>
            </a:r>
            <a:r>
              <a:rPr sz="3100" spc="-215" dirty="0">
                <a:latin typeface="Arial MT"/>
                <a:cs typeface="Arial MT"/>
              </a:rPr>
              <a:t>de</a:t>
            </a:r>
            <a:r>
              <a:rPr sz="3100" spc="-270" dirty="0">
                <a:latin typeface="Arial MT"/>
                <a:cs typeface="Arial MT"/>
              </a:rPr>
              <a:t> </a:t>
            </a:r>
            <a:r>
              <a:rPr sz="3100" spc="-85" dirty="0">
                <a:latin typeface="Arial MT"/>
                <a:cs typeface="Arial MT"/>
              </a:rPr>
              <a:t>toutes</a:t>
            </a:r>
            <a:r>
              <a:rPr sz="3100" spc="-130" dirty="0">
                <a:latin typeface="Arial MT"/>
                <a:cs typeface="Arial MT"/>
              </a:rPr>
              <a:t> </a:t>
            </a:r>
            <a:r>
              <a:rPr sz="3100" spc="-85" dirty="0">
                <a:latin typeface="Arial MT"/>
                <a:cs typeface="Arial MT"/>
              </a:rPr>
              <a:t>les </a:t>
            </a:r>
            <a:r>
              <a:rPr sz="3100" spc="-105" dirty="0">
                <a:latin typeface="Arial MT"/>
                <a:cs typeface="Arial MT"/>
              </a:rPr>
              <a:t>interfaces</a:t>
            </a:r>
            <a:r>
              <a:rPr sz="3100" spc="-40" dirty="0">
                <a:latin typeface="Arial MT"/>
                <a:cs typeface="Arial MT"/>
              </a:rPr>
              <a:t> </a:t>
            </a:r>
            <a:r>
              <a:rPr sz="3100" spc="-10" dirty="0">
                <a:latin typeface="Arial MT"/>
                <a:cs typeface="Arial MT"/>
              </a:rPr>
              <a:t>(Login, </a:t>
            </a:r>
            <a:r>
              <a:rPr sz="3100" spc="-210" dirty="0">
                <a:latin typeface="Arial MT"/>
                <a:cs typeface="Arial MT"/>
              </a:rPr>
              <a:t>Dashboard,</a:t>
            </a:r>
            <a:r>
              <a:rPr sz="3100" spc="55" dirty="0">
                <a:latin typeface="Arial MT"/>
                <a:cs typeface="Arial MT"/>
              </a:rPr>
              <a:t> </a:t>
            </a:r>
            <a:r>
              <a:rPr sz="3100" spc="-375" dirty="0">
                <a:latin typeface="Arial MT"/>
                <a:cs typeface="Arial MT"/>
              </a:rPr>
              <a:t>CRUD).</a:t>
            </a:r>
            <a:endParaRPr sz="3100">
              <a:latin typeface="Arial MT"/>
              <a:cs typeface="Arial MT"/>
            </a:endParaRPr>
          </a:p>
        </p:txBody>
      </p:sp>
      <p:sp>
        <p:nvSpPr>
          <p:cNvPr id="8" name="object 8"/>
          <p:cNvSpPr txBox="1"/>
          <p:nvPr/>
        </p:nvSpPr>
        <p:spPr>
          <a:xfrm>
            <a:off x="6780095" y="5098256"/>
            <a:ext cx="3890010" cy="2307590"/>
          </a:xfrm>
          <a:prstGeom prst="rect">
            <a:avLst/>
          </a:prstGeom>
        </p:spPr>
        <p:txBody>
          <a:bodyPr vert="horz" wrap="square" lIns="0" tIns="222885" rIns="0" bIns="0" rtlCol="0">
            <a:spAutoFit/>
          </a:bodyPr>
          <a:lstStyle/>
          <a:p>
            <a:pPr algn="ctr">
              <a:lnSpc>
                <a:spcPct val="100000"/>
              </a:lnSpc>
              <a:spcBef>
                <a:spcPts val="1755"/>
              </a:spcBef>
            </a:pPr>
            <a:r>
              <a:rPr sz="3550" spc="-35" dirty="0">
                <a:solidFill>
                  <a:srgbClr val="2B6077"/>
                </a:solidFill>
                <a:latin typeface="Arial MT"/>
                <a:cs typeface="Arial MT"/>
              </a:rPr>
              <a:t>Tests</a:t>
            </a:r>
            <a:r>
              <a:rPr sz="3550" spc="-200" dirty="0">
                <a:solidFill>
                  <a:srgbClr val="2B6077"/>
                </a:solidFill>
                <a:latin typeface="Arial MT"/>
                <a:cs typeface="Arial MT"/>
              </a:rPr>
              <a:t> </a:t>
            </a:r>
            <a:r>
              <a:rPr sz="3550" spc="-10" dirty="0">
                <a:solidFill>
                  <a:srgbClr val="2F6789"/>
                </a:solidFill>
                <a:latin typeface="Arial MT"/>
                <a:cs typeface="Arial MT"/>
              </a:rPr>
              <a:t>d’API</a:t>
            </a:r>
            <a:endParaRPr sz="3550">
              <a:latin typeface="Arial MT"/>
              <a:cs typeface="Arial MT"/>
            </a:endParaRPr>
          </a:p>
          <a:p>
            <a:pPr marL="12065" marR="5080" algn="ctr">
              <a:lnSpc>
                <a:spcPct val="94200"/>
              </a:lnSpc>
              <a:spcBef>
                <a:spcPts val="1650"/>
              </a:spcBef>
            </a:pPr>
            <a:r>
              <a:rPr sz="3050" spc="-100" dirty="0">
                <a:latin typeface="Arial MT"/>
                <a:cs typeface="Arial MT"/>
              </a:rPr>
              <a:t>Validation</a:t>
            </a:r>
            <a:r>
              <a:rPr sz="3050" spc="-105" dirty="0">
                <a:latin typeface="Arial MT"/>
                <a:cs typeface="Arial MT"/>
              </a:rPr>
              <a:t> </a:t>
            </a:r>
            <a:r>
              <a:rPr sz="3050" spc="-135" dirty="0">
                <a:latin typeface="Arial MT"/>
                <a:cs typeface="Arial MT"/>
              </a:rPr>
              <a:t>des</a:t>
            </a:r>
            <a:r>
              <a:rPr sz="3050" spc="-75" dirty="0">
                <a:latin typeface="Arial MT"/>
                <a:cs typeface="Arial MT"/>
              </a:rPr>
              <a:t> </a:t>
            </a:r>
            <a:r>
              <a:rPr sz="3050" spc="-170" dirty="0">
                <a:latin typeface="Arial MT"/>
                <a:cs typeface="Arial MT"/>
              </a:rPr>
              <a:t>échanges </a:t>
            </a:r>
            <a:r>
              <a:rPr sz="3100" spc="-175" dirty="0">
                <a:latin typeface="Arial MT"/>
                <a:cs typeface="Arial MT"/>
              </a:rPr>
              <a:t>Angular-</a:t>
            </a:r>
            <a:r>
              <a:rPr sz="3100" spc="-190" dirty="0">
                <a:latin typeface="Arial MT"/>
                <a:cs typeface="Arial MT"/>
              </a:rPr>
              <a:t>Django</a:t>
            </a:r>
            <a:r>
              <a:rPr sz="3100" spc="-30" dirty="0">
                <a:latin typeface="Arial MT"/>
                <a:cs typeface="Arial MT"/>
              </a:rPr>
              <a:t> </a:t>
            </a:r>
            <a:r>
              <a:rPr sz="3100" spc="-25" dirty="0">
                <a:latin typeface="Arial MT"/>
                <a:cs typeface="Arial MT"/>
              </a:rPr>
              <a:t>via </a:t>
            </a:r>
            <a:r>
              <a:rPr sz="3050" spc="-20" dirty="0">
                <a:latin typeface="Arial MT"/>
                <a:cs typeface="Arial MT"/>
              </a:rPr>
              <a:t>Postman.</a:t>
            </a:r>
            <a:endParaRPr sz="3050">
              <a:latin typeface="Arial MT"/>
              <a:cs typeface="Arial MT"/>
            </a:endParaRPr>
          </a:p>
        </p:txBody>
      </p:sp>
      <p:sp>
        <p:nvSpPr>
          <p:cNvPr id="9" name="object 9"/>
          <p:cNvSpPr txBox="1"/>
          <p:nvPr/>
        </p:nvSpPr>
        <p:spPr>
          <a:xfrm>
            <a:off x="12025234" y="5082879"/>
            <a:ext cx="4422775" cy="2320925"/>
          </a:xfrm>
          <a:prstGeom prst="rect">
            <a:avLst/>
          </a:prstGeom>
        </p:spPr>
        <p:txBody>
          <a:bodyPr vert="horz" wrap="square" lIns="0" tIns="238125" rIns="0" bIns="0" rtlCol="0">
            <a:spAutoFit/>
          </a:bodyPr>
          <a:lstStyle/>
          <a:p>
            <a:pPr marR="5080" algn="ctr">
              <a:lnSpc>
                <a:spcPct val="100000"/>
              </a:lnSpc>
              <a:spcBef>
                <a:spcPts val="1875"/>
              </a:spcBef>
            </a:pPr>
            <a:r>
              <a:rPr sz="3550" dirty="0">
                <a:solidFill>
                  <a:srgbClr val="3D6D83"/>
                </a:solidFill>
                <a:latin typeface="Arial MT"/>
                <a:cs typeface="Arial MT"/>
              </a:rPr>
              <a:t>Intégrité</a:t>
            </a:r>
            <a:r>
              <a:rPr sz="3550" spc="95" dirty="0">
                <a:solidFill>
                  <a:srgbClr val="3D6D83"/>
                </a:solidFill>
                <a:latin typeface="Arial MT"/>
                <a:cs typeface="Arial MT"/>
              </a:rPr>
              <a:t> </a:t>
            </a:r>
            <a:r>
              <a:rPr sz="3550" dirty="0">
                <a:solidFill>
                  <a:srgbClr val="2D6D90"/>
                </a:solidFill>
                <a:latin typeface="Arial MT"/>
                <a:cs typeface="Arial MT"/>
              </a:rPr>
              <a:t>des</a:t>
            </a:r>
            <a:r>
              <a:rPr sz="3550" spc="-50" dirty="0">
                <a:solidFill>
                  <a:srgbClr val="2D6D90"/>
                </a:solidFill>
                <a:latin typeface="Arial MT"/>
                <a:cs typeface="Arial MT"/>
              </a:rPr>
              <a:t> </a:t>
            </a:r>
            <a:r>
              <a:rPr sz="3550" spc="-10" dirty="0">
                <a:solidFill>
                  <a:srgbClr val="2F6987"/>
                </a:solidFill>
                <a:latin typeface="Arial MT"/>
                <a:cs typeface="Arial MT"/>
              </a:rPr>
              <a:t>Données</a:t>
            </a:r>
            <a:endParaRPr sz="3550">
              <a:latin typeface="Arial MT"/>
              <a:cs typeface="Arial MT"/>
            </a:endParaRPr>
          </a:p>
          <a:p>
            <a:pPr marL="12065" marR="5080" algn="ctr">
              <a:lnSpc>
                <a:spcPct val="98200"/>
              </a:lnSpc>
              <a:spcBef>
                <a:spcPts val="1605"/>
              </a:spcBef>
            </a:pPr>
            <a:r>
              <a:rPr sz="2950" spc="-30" dirty="0">
                <a:latin typeface="Arial MT"/>
                <a:cs typeface="Arial MT"/>
              </a:rPr>
              <a:t>Vérification</a:t>
            </a:r>
            <a:r>
              <a:rPr sz="2950" spc="-114" dirty="0">
                <a:latin typeface="Arial MT"/>
                <a:cs typeface="Arial MT"/>
              </a:rPr>
              <a:t> </a:t>
            </a:r>
            <a:r>
              <a:rPr sz="2950" spc="-95" dirty="0">
                <a:latin typeface="Arial MT"/>
                <a:cs typeface="Arial MT"/>
              </a:rPr>
              <a:t>de</a:t>
            </a:r>
            <a:r>
              <a:rPr sz="2950" spc="-110" dirty="0">
                <a:latin typeface="Arial MT"/>
                <a:cs typeface="Arial MT"/>
              </a:rPr>
              <a:t> </a:t>
            </a:r>
            <a:r>
              <a:rPr sz="2950" dirty="0">
                <a:latin typeface="Arial MT"/>
                <a:cs typeface="Arial MT"/>
              </a:rPr>
              <a:t>la</a:t>
            </a:r>
            <a:r>
              <a:rPr sz="2950" spc="-155" dirty="0">
                <a:latin typeface="Arial MT"/>
                <a:cs typeface="Arial MT"/>
              </a:rPr>
              <a:t> </a:t>
            </a:r>
            <a:r>
              <a:rPr sz="2950" spc="-105" dirty="0">
                <a:latin typeface="Arial MT"/>
                <a:cs typeface="Arial MT"/>
              </a:rPr>
              <a:t>cohérence </a:t>
            </a:r>
            <a:r>
              <a:rPr sz="2950" dirty="0">
                <a:latin typeface="Arial MT"/>
                <a:cs typeface="Arial MT"/>
              </a:rPr>
              <a:t>et</a:t>
            </a:r>
            <a:r>
              <a:rPr sz="2950" spc="-210" dirty="0">
                <a:latin typeface="Arial MT"/>
                <a:cs typeface="Arial MT"/>
              </a:rPr>
              <a:t> </a:t>
            </a:r>
            <a:r>
              <a:rPr sz="2950" spc="-95" dirty="0">
                <a:latin typeface="Arial MT"/>
                <a:cs typeface="Arial MT"/>
              </a:rPr>
              <a:t>de</a:t>
            </a:r>
            <a:r>
              <a:rPr sz="2950" spc="-110" dirty="0">
                <a:latin typeface="Arial MT"/>
                <a:cs typeface="Arial MT"/>
              </a:rPr>
              <a:t> </a:t>
            </a:r>
            <a:r>
              <a:rPr sz="2950" spc="-30" dirty="0">
                <a:latin typeface="Arial MT"/>
                <a:cs typeface="Arial MT"/>
              </a:rPr>
              <a:t>la</a:t>
            </a:r>
            <a:r>
              <a:rPr sz="2950" spc="-175" dirty="0">
                <a:latin typeface="Arial MT"/>
                <a:cs typeface="Arial MT"/>
              </a:rPr>
              <a:t> </a:t>
            </a:r>
            <a:r>
              <a:rPr sz="2950" spc="-45" dirty="0">
                <a:latin typeface="Arial MT"/>
                <a:cs typeface="Arial MT"/>
              </a:rPr>
              <a:t>persistance</a:t>
            </a:r>
            <a:r>
              <a:rPr sz="2950" spc="-55" dirty="0">
                <a:latin typeface="Arial MT"/>
                <a:cs typeface="Arial MT"/>
              </a:rPr>
              <a:t> </a:t>
            </a:r>
            <a:r>
              <a:rPr sz="2950" spc="-20" dirty="0">
                <a:latin typeface="Arial MT"/>
                <a:cs typeface="Arial MT"/>
              </a:rPr>
              <a:t>dans </a:t>
            </a:r>
            <a:r>
              <a:rPr sz="2950" spc="-65" dirty="0">
                <a:latin typeface="Arial MT"/>
                <a:cs typeface="Arial MT"/>
              </a:rPr>
              <a:t>PostgreSOL.</a:t>
            </a:r>
            <a:endParaRPr sz="2950">
              <a:latin typeface="Arial MT"/>
              <a:cs typeface="Arial MT"/>
            </a:endParaRPr>
          </a:p>
        </p:txBody>
      </p:sp>
      <p:grpSp>
        <p:nvGrpSpPr>
          <p:cNvPr id="12" name="Group 2">
            <a:extLst>
              <a:ext uri="{FF2B5EF4-FFF2-40B4-BE49-F238E27FC236}">
                <a16:creationId xmlns:a16="http://schemas.microsoft.com/office/drawing/2014/main" id="{ACFB89E8-3AEF-4D70-A749-A7711477F8AD}"/>
              </a:ext>
            </a:extLst>
          </p:cNvPr>
          <p:cNvGrpSpPr/>
          <p:nvPr/>
        </p:nvGrpSpPr>
        <p:grpSpPr>
          <a:xfrm>
            <a:off x="0" y="9051073"/>
            <a:ext cx="17475200" cy="686135"/>
            <a:chOff x="0" y="0"/>
            <a:chExt cx="4816593" cy="348089"/>
          </a:xfrm>
        </p:grpSpPr>
        <p:sp>
          <p:nvSpPr>
            <p:cNvPr id="13" name="Freeform 3">
              <a:extLst>
                <a:ext uri="{FF2B5EF4-FFF2-40B4-BE49-F238E27FC236}">
                  <a16:creationId xmlns:a16="http://schemas.microsoft.com/office/drawing/2014/main" id="{2271A9C2-3EB7-44B0-957E-526F2004FEDB}"/>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4" name="TextBox 4">
              <a:extLst>
                <a:ext uri="{FF2B5EF4-FFF2-40B4-BE49-F238E27FC236}">
                  <a16:creationId xmlns:a16="http://schemas.microsoft.com/office/drawing/2014/main" id="{3615815A-68DC-409D-9D1A-41AEC21584D3}"/>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67949" rIns="0" bIns="0" rtlCol="0">
            <a:spAutoFit/>
          </a:bodyPr>
          <a:lstStyle/>
          <a:p>
            <a:pPr marL="361950">
              <a:lnSpc>
                <a:spcPct val="100000"/>
              </a:lnSpc>
              <a:spcBef>
                <a:spcPts val="114"/>
              </a:spcBef>
            </a:pPr>
            <a:r>
              <a:rPr sz="5400" spc="90" dirty="0">
                <a:solidFill>
                  <a:srgbClr val="166999"/>
                </a:solidFill>
              </a:rPr>
              <a:t>Bilan</a:t>
            </a:r>
            <a:r>
              <a:rPr sz="5400" spc="-135" dirty="0">
                <a:solidFill>
                  <a:srgbClr val="166999"/>
                </a:solidFill>
              </a:rPr>
              <a:t> </a:t>
            </a:r>
            <a:r>
              <a:rPr sz="5400" spc="75" dirty="0">
                <a:solidFill>
                  <a:srgbClr val="1A699A"/>
                </a:solidFill>
              </a:rPr>
              <a:t>Technique</a:t>
            </a:r>
            <a:r>
              <a:rPr sz="5400" spc="15" dirty="0">
                <a:solidFill>
                  <a:srgbClr val="1A699A"/>
                </a:solidFill>
              </a:rPr>
              <a:t> </a:t>
            </a:r>
            <a:r>
              <a:rPr sz="5400" dirty="0">
                <a:solidFill>
                  <a:srgbClr val="186EA1"/>
                </a:solidFill>
              </a:rPr>
              <a:t>:</a:t>
            </a:r>
            <a:r>
              <a:rPr sz="5400" spc="-100" dirty="0">
                <a:solidFill>
                  <a:srgbClr val="186EA1"/>
                </a:solidFill>
              </a:rPr>
              <a:t> </a:t>
            </a:r>
            <a:r>
              <a:rPr sz="5400" spc="185" dirty="0">
                <a:solidFill>
                  <a:srgbClr val="186DA3"/>
                </a:solidFill>
              </a:rPr>
              <a:t>Objectifs</a:t>
            </a:r>
            <a:r>
              <a:rPr sz="5400" spc="345" dirty="0">
                <a:solidFill>
                  <a:srgbClr val="186DA3"/>
                </a:solidFill>
              </a:rPr>
              <a:t> </a:t>
            </a:r>
            <a:r>
              <a:rPr sz="5400" spc="215" dirty="0">
                <a:solidFill>
                  <a:srgbClr val="16699A"/>
                </a:solidFill>
              </a:rPr>
              <a:t>Atteints</a:t>
            </a:r>
            <a:endParaRPr sz="5400"/>
          </a:p>
        </p:txBody>
      </p:sp>
      <p:sp>
        <p:nvSpPr>
          <p:cNvPr id="7" name="object 7"/>
          <p:cNvSpPr txBox="1"/>
          <p:nvPr/>
        </p:nvSpPr>
        <p:spPr>
          <a:xfrm>
            <a:off x="16114255" y="9455853"/>
            <a:ext cx="1228725" cy="212725"/>
          </a:xfrm>
          <a:prstGeom prst="rect">
            <a:avLst/>
          </a:prstGeom>
        </p:spPr>
        <p:txBody>
          <a:bodyPr vert="horz" wrap="square" lIns="0" tIns="0" rIns="0" bIns="0" rtlCol="0">
            <a:spAutoFit/>
          </a:bodyPr>
          <a:lstStyle/>
          <a:p>
            <a:pPr marL="12700">
              <a:lnSpc>
                <a:spcPts val="1555"/>
              </a:lnSpc>
            </a:pPr>
            <a:r>
              <a:rPr sz="1300" dirty="0">
                <a:latin typeface="Arial MT"/>
                <a:cs typeface="Arial MT"/>
              </a:rPr>
              <a:t>W</a:t>
            </a:r>
            <a:r>
              <a:rPr sz="1300" spc="320" dirty="0">
                <a:latin typeface="Arial MT"/>
                <a:cs typeface="Arial MT"/>
              </a:rPr>
              <a:t> </a:t>
            </a:r>
            <a:r>
              <a:rPr sz="1300" spc="-10" dirty="0">
                <a:latin typeface="Arial MT"/>
                <a:cs typeface="Arial MT"/>
              </a:rPr>
              <a:t>NotebaokLM</a:t>
            </a:r>
            <a:endParaRPr sz="1300">
              <a:latin typeface="Arial MT"/>
              <a:cs typeface="Arial MT"/>
            </a:endParaRPr>
          </a:p>
        </p:txBody>
      </p:sp>
      <p:sp>
        <p:nvSpPr>
          <p:cNvPr id="3" name="object 3"/>
          <p:cNvSpPr txBox="1"/>
          <p:nvPr/>
        </p:nvSpPr>
        <p:spPr>
          <a:xfrm>
            <a:off x="3118402" y="2815793"/>
            <a:ext cx="3999229" cy="2070735"/>
          </a:xfrm>
          <a:prstGeom prst="rect">
            <a:avLst/>
          </a:prstGeom>
        </p:spPr>
        <p:txBody>
          <a:bodyPr vert="horz" wrap="square" lIns="0" tIns="301625" rIns="0" bIns="0" rtlCol="0">
            <a:spAutoFit/>
          </a:bodyPr>
          <a:lstStyle/>
          <a:p>
            <a:pPr marL="22225">
              <a:lnSpc>
                <a:spcPct val="100000"/>
              </a:lnSpc>
              <a:spcBef>
                <a:spcPts val="2375"/>
              </a:spcBef>
            </a:pPr>
            <a:r>
              <a:rPr sz="3450" spc="70" dirty="0">
                <a:solidFill>
                  <a:srgbClr val="186089"/>
                </a:solidFill>
                <a:latin typeface="Arial MT"/>
                <a:cs typeface="Arial MT"/>
              </a:rPr>
              <a:t>Performance</a:t>
            </a:r>
            <a:endParaRPr sz="3450">
              <a:latin typeface="Arial MT"/>
              <a:cs typeface="Arial MT"/>
            </a:endParaRPr>
          </a:p>
          <a:p>
            <a:pPr marL="27305" marR="5080" indent="-15240">
              <a:lnSpc>
                <a:spcPct val="104800"/>
              </a:lnSpc>
              <a:spcBef>
                <a:spcPts val="1885"/>
              </a:spcBef>
            </a:pPr>
            <a:r>
              <a:rPr sz="3100" spc="-114" dirty="0">
                <a:latin typeface="Arial MT"/>
                <a:cs typeface="Arial MT"/>
              </a:rPr>
              <a:t>Réactivité</a:t>
            </a:r>
            <a:r>
              <a:rPr sz="3100" spc="-70" dirty="0">
                <a:latin typeface="Arial MT"/>
                <a:cs typeface="Arial MT"/>
              </a:rPr>
              <a:t> </a:t>
            </a:r>
            <a:r>
              <a:rPr sz="3100" spc="-165" dirty="0">
                <a:latin typeface="Arial MT"/>
                <a:cs typeface="Arial MT"/>
              </a:rPr>
              <a:t>assurée</a:t>
            </a:r>
            <a:r>
              <a:rPr sz="3100" spc="-5" dirty="0">
                <a:latin typeface="Arial MT"/>
                <a:cs typeface="Arial MT"/>
              </a:rPr>
              <a:t> </a:t>
            </a:r>
            <a:r>
              <a:rPr sz="3100" spc="-130" dirty="0">
                <a:latin typeface="Arial MT"/>
                <a:cs typeface="Arial MT"/>
              </a:rPr>
              <a:t>par</a:t>
            </a:r>
            <a:r>
              <a:rPr sz="3100" spc="-80" dirty="0">
                <a:latin typeface="Arial MT"/>
                <a:cs typeface="Arial MT"/>
              </a:rPr>
              <a:t> </a:t>
            </a:r>
            <a:r>
              <a:rPr sz="3100" spc="-25" dirty="0">
                <a:latin typeface="Arial MT"/>
                <a:cs typeface="Arial MT"/>
              </a:rPr>
              <a:t>le </a:t>
            </a:r>
            <a:r>
              <a:rPr sz="3100" spc="-105" dirty="0">
                <a:latin typeface="Arial MT"/>
                <a:cs typeface="Arial MT"/>
              </a:rPr>
              <a:t>framework</a:t>
            </a:r>
            <a:r>
              <a:rPr sz="3100" spc="-65" dirty="0">
                <a:latin typeface="Arial MT"/>
                <a:cs typeface="Arial MT"/>
              </a:rPr>
              <a:t> </a:t>
            </a:r>
            <a:r>
              <a:rPr sz="3100" spc="-60" dirty="0">
                <a:latin typeface="Arial MT"/>
                <a:cs typeface="Arial MT"/>
              </a:rPr>
              <a:t>Angular.</a:t>
            </a:r>
            <a:endParaRPr sz="3100">
              <a:latin typeface="Arial MT"/>
              <a:cs typeface="Arial MT"/>
            </a:endParaRPr>
          </a:p>
        </p:txBody>
      </p:sp>
      <p:sp>
        <p:nvSpPr>
          <p:cNvPr id="4" name="object 4"/>
          <p:cNvSpPr txBox="1"/>
          <p:nvPr/>
        </p:nvSpPr>
        <p:spPr>
          <a:xfrm>
            <a:off x="3118008" y="6109897"/>
            <a:ext cx="4685030" cy="2113280"/>
          </a:xfrm>
          <a:prstGeom prst="rect">
            <a:avLst/>
          </a:prstGeom>
        </p:spPr>
        <p:txBody>
          <a:bodyPr vert="horz" wrap="square" lIns="0" tIns="335280" rIns="0" bIns="0" rtlCol="0">
            <a:spAutoFit/>
          </a:bodyPr>
          <a:lstStyle/>
          <a:p>
            <a:pPr marL="22860">
              <a:lnSpc>
                <a:spcPct val="100000"/>
              </a:lnSpc>
              <a:spcBef>
                <a:spcPts val="2640"/>
              </a:spcBef>
            </a:pPr>
            <a:r>
              <a:rPr sz="3600" spc="-10" dirty="0">
                <a:solidFill>
                  <a:srgbClr val="1C72A3"/>
                </a:solidFill>
                <a:latin typeface="Arial MT"/>
                <a:cs typeface="Arial MT"/>
              </a:rPr>
              <a:t>Modularité</a:t>
            </a:r>
            <a:endParaRPr sz="3600">
              <a:latin typeface="Arial MT"/>
              <a:cs typeface="Arial MT"/>
            </a:endParaRPr>
          </a:p>
          <a:p>
            <a:pPr marL="19050" marR="5080" indent="-6985">
              <a:lnSpc>
                <a:spcPct val="110200"/>
              </a:lnSpc>
              <a:spcBef>
                <a:spcPts val="1770"/>
              </a:spcBef>
            </a:pPr>
            <a:r>
              <a:rPr sz="2950" spc="-85" dirty="0">
                <a:latin typeface="Arial MT"/>
                <a:cs typeface="Arial MT"/>
              </a:rPr>
              <a:t>Code</a:t>
            </a:r>
            <a:r>
              <a:rPr sz="2950" spc="-125" dirty="0">
                <a:latin typeface="Arial MT"/>
                <a:cs typeface="Arial MT"/>
              </a:rPr>
              <a:t> </a:t>
            </a:r>
            <a:r>
              <a:rPr sz="2950" spc="-55" dirty="0">
                <a:latin typeface="Arial MT"/>
                <a:cs typeface="Arial MT"/>
              </a:rPr>
              <a:t>documenté</a:t>
            </a:r>
            <a:r>
              <a:rPr sz="2950" spc="-5" dirty="0">
                <a:latin typeface="Arial MT"/>
                <a:cs typeface="Arial MT"/>
              </a:rPr>
              <a:t> </a:t>
            </a:r>
            <a:r>
              <a:rPr sz="2950" dirty="0">
                <a:latin typeface="Arial MT"/>
                <a:cs typeface="Arial MT"/>
              </a:rPr>
              <a:t>et</a:t>
            </a:r>
            <a:r>
              <a:rPr sz="2950" spc="-50" dirty="0">
                <a:latin typeface="Arial MT"/>
                <a:cs typeface="Arial MT"/>
              </a:rPr>
              <a:t> structuré pour</a:t>
            </a:r>
            <a:r>
              <a:rPr sz="2950" spc="-160" dirty="0">
                <a:latin typeface="Arial MT"/>
                <a:cs typeface="Arial MT"/>
              </a:rPr>
              <a:t> </a:t>
            </a:r>
            <a:r>
              <a:rPr sz="2950" spc="-30" dirty="0">
                <a:latin typeface="Arial MT"/>
                <a:cs typeface="Arial MT"/>
              </a:rPr>
              <a:t>la</a:t>
            </a:r>
            <a:r>
              <a:rPr sz="2950" spc="-175" dirty="0">
                <a:latin typeface="Arial MT"/>
                <a:cs typeface="Arial MT"/>
              </a:rPr>
              <a:t> </a:t>
            </a:r>
            <a:r>
              <a:rPr sz="2950" spc="-70" dirty="0">
                <a:latin typeface="Arial MT"/>
                <a:cs typeface="Arial MT"/>
              </a:rPr>
              <a:t>maintenance</a:t>
            </a:r>
            <a:r>
              <a:rPr sz="2950" spc="-10" dirty="0">
                <a:latin typeface="Arial MT"/>
                <a:cs typeface="Arial MT"/>
              </a:rPr>
              <a:t> future.</a:t>
            </a:r>
            <a:endParaRPr sz="2950">
              <a:latin typeface="Arial MT"/>
              <a:cs typeface="Arial MT"/>
            </a:endParaRPr>
          </a:p>
        </p:txBody>
      </p:sp>
      <p:sp>
        <p:nvSpPr>
          <p:cNvPr id="5" name="object 5"/>
          <p:cNvSpPr txBox="1"/>
          <p:nvPr/>
        </p:nvSpPr>
        <p:spPr>
          <a:xfrm>
            <a:off x="10861241" y="2800133"/>
            <a:ext cx="4157345" cy="2088514"/>
          </a:xfrm>
          <a:prstGeom prst="rect">
            <a:avLst/>
          </a:prstGeom>
        </p:spPr>
        <p:txBody>
          <a:bodyPr vert="horz" wrap="square" lIns="0" tIns="311150" rIns="0" bIns="0" rtlCol="0">
            <a:spAutoFit/>
          </a:bodyPr>
          <a:lstStyle/>
          <a:p>
            <a:pPr marL="12700">
              <a:lnSpc>
                <a:spcPct val="100000"/>
              </a:lnSpc>
              <a:spcBef>
                <a:spcPts val="2450"/>
              </a:spcBef>
            </a:pPr>
            <a:r>
              <a:rPr sz="3550" spc="-10" dirty="0">
                <a:solidFill>
                  <a:srgbClr val="18648E"/>
                </a:solidFill>
                <a:latin typeface="Arial MT"/>
                <a:cs typeface="Arial MT"/>
              </a:rPr>
              <a:t>Robustesse</a:t>
            </a:r>
            <a:endParaRPr sz="3550">
              <a:latin typeface="Arial MT"/>
              <a:cs typeface="Arial MT"/>
            </a:endParaRPr>
          </a:p>
          <a:p>
            <a:pPr marL="19050">
              <a:lnSpc>
                <a:spcPct val="100000"/>
              </a:lnSpc>
              <a:spcBef>
                <a:spcPts val="2039"/>
              </a:spcBef>
            </a:pPr>
            <a:r>
              <a:rPr sz="3050" spc="-130" dirty="0">
                <a:latin typeface="Arial MT"/>
                <a:cs typeface="Arial MT"/>
              </a:rPr>
              <a:t>Backend</a:t>
            </a:r>
            <a:r>
              <a:rPr sz="3050" spc="-80" dirty="0">
                <a:latin typeface="Arial MT"/>
                <a:cs typeface="Arial MT"/>
              </a:rPr>
              <a:t> </a:t>
            </a:r>
            <a:r>
              <a:rPr sz="3050" spc="-125" dirty="0">
                <a:latin typeface="Arial MT"/>
                <a:cs typeface="Arial MT"/>
              </a:rPr>
              <a:t>Django</a:t>
            </a:r>
            <a:r>
              <a:rPr sz="3050" spc="-40" dirty="0">
                <a:latin typeface="Arial MT"/>
                <a:cs typeface="Arial MT"/>
              </a:rPr>
              <a:t> </a:t>
            </a:r>
            <a:r>
              <a:rPr sz="3050" spc="-55" dirty="0">
                <a:latin typeface="Arial MT"/>
                <a:cs typeface="Arial MT"/>
              </a:rPr>
              <a:t>stable</a:t>
            </a:r>
            <a:r>
              <a:rPr sz="3050" spc="-130" dirty="0">
                <a:latin typeface="Arial MT"/>
                <a:cs typeface="Arial MT"/>
              </a:rPr>
              <a:t> </a:t>
            </a:r>
            <a:r>
              <a:rPr sz="3050" spc="-25" dirty="0">
                <a:latin typeface="Arial MT"/>
                <a:cs typeface="Arial MT"/>
              </a:rPr>
              <a:t>et</a:t>
            </a:r>
            <a:endParaRPr sz="3050">
              <a:latin typeface="Arial MT"/>
              <a:cs typeface="Arial MT"/>
            </a:endParaRPr>
          </a:p>
          <a:p>
            <a:pPr marL="22860">
              <a:lnSpc>
                <a:spcPct val="100000"/>
              </a:lnSpc>
              <a:spcBef>
                <a:spcPts val="90"/>
              </a:spcBef>
            </a:pPr>
            <a:r>
              <a:rPr sz="3200" spc="-90" dirty="0">
                <a:latin typeface="Arial MT"/>
                <a:cs typeface="Arial MT"/>
              </a:rPr>
              <a:t>sécurisé.</a:t>
            </a:r>
            <a:endParaRPr sz="3200">
              <a:latin typeface="Arial MT"/>
              <a:cs typeface="Arial MT"/>
            </a:endParaRPr>
          </a:p>
        </p:txBody>
      </p:sp>
      <p:sp>
        <p:nvSpPr>
          <p:cNvPr id="6" name="object 6"/>
          <p:cNvSpPr txBox="1"/>
          <p:nvPr/>
        </p:nvSpPr>
        <p:spPr>
          <a:xfrm>
            <a:off x="10859888" y="6439958"/>
            <a:ext cx="4660900" cy="1779905"/>
          </a:xfrm>
          <a:prstGeom prst="rect">
            <a:avLst/>
          </a:prstGeom>
        </p:spPr>
        <p:txBody>
          <a:bodyPr vert="horz" wrap="square" lIns="0" tIns="11430" rIns="0" bIns="0" rtlCol="0">
            <a:spAutoFit/>
          </a:bodyPr>
          <a:lstStyle/>
          <a:p>
            <a:pPr marL="13335">
              <a:lnSpc>
                <a:spcPct val="100000"/>
              </a:lnSpc>
              <a:spcBef>
                <a:spcPts val="90"/>
              </a:spcBef>
            </a:pPr>
            <a:r>
              <a:rPr sz="3550" dirty="0">
                <a:solidFill>
                  <a:srgbClr val="1C6D97"/>
                </a:solidFill>
                <a:latin typeface="Arial MT"/>
                <a:cs typeface="Arial MT"/>
              </a:rPr>
              <a:t>Expérience</a:t>
            </a:r>
            <a:r>
              <a:rPr sz="3550" spc="380" dirty="0">
                <a:solidFill>
                  <a:srgbClr val="1C6D97"/>
                </a:solidFill>
                <a:latin typeface="Arial MT"/>
                <a:cs typeface="Arial MT"/>
              </a:rPr>
              <a:t> </a:t>
            </a:r>
            <a:r>
              <a:rPr sz="3550" spc="60" dirty="0">
                <a:solidFill>
                  <a:srgbClr val="236991"/>
                </a:solidFill>
                <a:latin typeface="Arial MT"/>
                <a:cs typeface="Arial MT"/>
              </a:rPr>
              <a:t>Utilisateur</a:t>
            </a:r>
            <a:endParaRPr sz="3550">
              <a:latin typeface="Arial MT"/>
              <a:cs typeface="Arial MT"/>
            </a:endParaRPr>
          </a:p>
          <a:p>
            <a:pPr marL="12700" marR="5080" indent="2540">
              <a:lnSpc>
                <a:spcPct val="113999"/>
              </a:lnSpc>
              <a:spcBef>
                <a:spcPts val="1760"/>
              </a:spcBef>
            </a:pPr>
            <a:r>
              <a:rPr sz="2850" dirty="0">
                <a:latin typeface="Arial MT"/>
                <a:cs typeface="Arial MT"/>
              </a:rPr>
              <a:t>Interface</a:t>
            </a:r>
            <a:r>
              <a:rPr sz="2850" spc="-90" dirty="0">
                <a:latin typeface="Arial MT"/>
                <a:cs typeface="Arial MT"/>
              </a:rPr>
              <a:t> </a:t>
            </a:r>
            <a:r>
              <a:rPr sz="2850" spc="-35" dirty="0">
                <a:latin typeface="Arial MT"/>
                <a:cs typeface="Arial MT"/>
              </a:rPr>
              <a:t>ergonomique</a:t>
            </a:r>
            <a:r>
              <a:rPr sz="2850" spc="180" dirty="0">
                <a:latin typeface="Arial MT"/>
                <a:cs typeface="Arial MT"/>
              </a:rPr>
              <a:t> </a:t>
            </a:r>
            <a:r>
              <a:rPr sz="2850" spc="-25" dirty="0">
                <a:latin typeface="Arial MT"/>
                <a:cs typeface="Arial MT"/>
              </a:rPr>
              <a:t>et </a:t>
            </a:r>
            <a:r>
              <a:rPr sz="2850" dirty="0">
                <a:latin typeface="Arial MT"/>
                <a:cs typeface="Arial MT"/>
              </a:rPr>
              <a:t>intuitive </a:t>
            </a:r>
            <a:r>
              <a:rPr sz="2850" spc="-20" dirty="0">
                <a:latin typeface="Arial MT"/>
                <a:cs typeface="Arial MT"/>
              </a:rPr>
              <a:t>validée</a:t>
            </a:r>
            <a:r>
              <a:rPr sz="2850" spc="-15" dirty="0">
                <a:latin typeface="Arial MT"/>
                <a:cs typeface="Arial MT"/>
              </a:rPr>
              <a:t> </a:t>
            </a:r>
            <a:r>
              <a:rPr sz="2850" dirty="0">
                <a:latin typeface="Arial MT"/>
                <a:cs typeface="Arial MT"/>
              </a:rPr>
              <a:t>par</a:t>
            </a:r>
            <a:r>
              <a:rPr sz="2850" spc="-50" dirty="0">
                <a:latin typeface="Arial MT"/>
                <a:cs typeface="Arial MT"/>
              </a:rPr>
              <a:t> </a:t>
            </a:r>
            <a:r>
              <a:rPr sz="2850" dirty="0">
                <a:latin typeface="Arial MT"/>
                <a:cs typeface="Arial MT"/>
              </a:rPr>
              <a:t>les</a:t>
            </a:r>
            <a:r>
              <a:rPr sz="2850" spc="-100" dirty="0">
                <a:latin typeface="Arial MT"/>
                <a:cs typeface="Arial MT"/>
              </a:rPr>
              <a:t> </a:t>
            </a:r>
            <a:r>
              <a:rPr sz="2850" spc="-10" dirty="0">
                <a:latin typeface="Arial MT"/>
                <a:cs typeface="Arial MT"/>
              </a:rPr>
              <a:t>tests.</a:t>
            </a:r>
            <a:endParaRPr sz="2850">
              <a:latin typeface="Arial MT"/>
              <a:cs typeface="Arial MT"/>
            </a:endParaRPr>
          </a:p>
        </p:txBody>
      </p:sp>
      <p:grpSp>
        <p:nvGrpSpPr>
          <p:cNvPr id="8" name="Group 2">
            <a:extLst>
              <a:ext uri="{FF2B5EF4-FFF2-40B4-BE49-F238E27FC236}">
                <a16:creationId xmlns:a16="http://schemas.microsoft.com/office/drawing/2014/main" id="{2AD81331-6DD3-4578-B089-3C13EB54820C}"/>
              </a:ext>
            </a:extLst>
          </p:cNvPr>
          <p:cNvGrpSpPr/>
          <p:nvPr/>
        </p:nvGrpSpPr>
        <p:grpSpPr>
          <a:xfrm>
            <a:off x="0" y="9051073"/>
            <a:ext cx="17475200" cy="686135"/>
            <a:chOff x="0" y="0"/>
            <a:chExt cx="4816593" cy="348089"/>
          </a:xfrm>
        </p:grpSpPr>
        <p:sp>
          <p:nvSpPr>
            <p:cNvPr id="9" name="Freeform 3">
              <a:extLst>
                <a:ext uri="{FF2B5EF4-FFF2-40B4-BE49-F238E27FC236}">
                  <a16:creationId xmlns:a16="http://schemas.microsoft.com/office/drawing/2014/main" id="{A7C833E9-10D6-4CEC-94D3-8618C5C0CCB4}"/>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10" name="TextBox 4">
              <a:extLst>
                <a:ext uri="{FF2B5EF4-FFF2-40B4-BE49-F238E27FC236}">
                  <a16:creationId xmlns:a16="http://schemas.microsoft.com/office/drawing/2014/main" id="{1A6A84AB-87F5-4C98-96D9-877CDF6CA801}"/>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17700" y="4798131"/>
            <a:ext cx="1866900" cy="330200"/>
          </a:xfrm>
          <a:prstGeom prst="rect">
            <a:avLst/>
          </a:prstGeom>
        </p:spPr>
      </p:pic>
      <p:pic>
        <p:nvPicPr>
          <p:cNvPr id="3" name="object 3"/>
          <p:cNvPicPr/>
          <p:nvPr/>
        </p:nvPicPr>
        <p:blipFill>
          <a:blip r:embed="rId3" cstate="print"/>
          <a:stretch>
            <a:fillRect/>
          </a:stretch>
        </p:blipFill>
        <p:spPr>
          <a:xfrm>
            <a:off x="4838700" y="3159831"/>
            <a:ext cx="1384300" cy="1384300"/>
          </a:xfrm>
          <a:prstGeom prst="rect">
            <a:avLst/>
          </a:prstGeom>
        </p:spPr>
      </p:pic>
      <p:pic>
        <p:nvPicPr>
          <p:cNvPr id="4" name="object 4"/>
          <p:cNvPicPr/>
          <p:nvPr/>
        </p:nvPicPr>
        <p:blipFill>
          <a:blip r:embed="rId4" cstate="print"/>
          <a:stretch>
            <a:fillRect/>
          </a:stretch>
        </p:blipFill>
        <p:spPr>
          <a:xfrm>
            <a:off x="9715500" y="3451931"/>
            <a:ext cx="495300" cy="241300"/>
          </a:xfrm>
          <a:prstGeom prst="rect">
            <a:avLst/>
          </a:prstGeom>
        </p:spPr>
      </p:pic>
      <p:pic>
        <p:nvPicPr>
          <p:cNvPr id="5" name="object 5"/>
          <p:cNvPicPr/>
          <p:nvPr/>
        </p:nvPicPr>
        <p:blipFill>
          <a:blip r:embed="rId5" cstate="print"/>
          <a:stretch>
            <a:fillRect/>
          </a:stretch>
        </p:blipFill>
        <p:spPr>
          <a:xfrm>
            <a:off x="11760200" y="2766131"/>
            <a:ext cx="850900" cy="5410200"/>
          </a:xfrm>
          <a:prstGeom prst="rect">
            <a:avLst/>
          </a:prstGeom>
        </p:spPr>
      </p:pic>
      <p:pic>
        <p:nvPicPr>
          <p:cNvPr id="6" name="object 6"/>
          <p:cNvPicPr/>
          <p:nvPr/>
        </p:nvPicPr>
        <p:blipFill>
          <a:blip r:embed="rId6" cstate="print"/>
          <a:stretch>
            <a:fillRect/>
          </a:stretch>
        </p:blipFill>
        <p:spPr>
          <a:xfrm>
            <a:off x="13601700" y="3147131"/>
            <a:ext cx="1371600" cy="1409700"/>
          </a:xfrm>
          <a:prstGeom prst="rect">
            <a:avLst/>
          </a:prstGeom>
        </p:spPr>
      </p:pic>
      <p:sp>
        <p:nvSpPr>
          <p:cNvPr id="7" name="object 7"/>
          <p:cNvSpPr/>
          <p:nvPr/>
        </p:nvSpPr>
        <p:spPr>
          <a:xfrm>
            <a:off x="3782483" y="2325863"/>
            <a:ext cx="0" cy="5892800"/>
          </a:xfrm>
          <a:custGeom>
            <a:avLst/>
            <a:gdLst/>
            <a:ahLst/>
            <a:cxnLst/>
            <a:rect l="l" t="t" r="r" b="b"/>
            <a:pathLst>
              <a:path h="5892800">
                <a:moveTo>
                  <a:pt x="0" y="5892800"/>
                </a:moveTo>
                <a:lnTo>
                  <a:pt x="0" y="0"/>
                </a:lnTo>
              </a:path>
            </a:pathLst>
          </a:custGeom>
          <a:ln w="12700">
            <a:solidFill>
              <a:srgbClr val="446470"/>
            </a:solidFill>
          </a:ln>
        </p:spPr>
        <p:txBody>
          <a:bodyPr wrap="square" lIns="0" tIns="0" rIns="0" bIns="0" rtlCol="0"/>
          <a:lstStyle/>
          <a:p>
            <a:endParaRPr/>
          </a:p>
        </p:txBody>
      </p:sp>
      <p:grpSp>
        <p:nvGrpSpPr>
          <p:cNvPr id="8" name="object 8"/>
          <p:cNvGrpSpPr/>
          <p:nvPr/>
        </p:nvGrpSpPr>
        <p:grpSpPr>
          <a:xfrm>
            <a:off x="3776133" y="2325863"/>
            <a:ext cx="12310745" cy="5892800"/>
            <a:chOff x="3776133" y="2937932"/>
            <a:chExt cx="12310745" cy="5892800"/>
          </a:xfrm>
        </p:grpSpPr>
        <p:sp>
          <p:nvSpPr>
            <p:cNvPr id="9" name="object 9"/>
            <p:cNvSpPr/>
            <p:nvPr/>
          </p:nvSpPr>
          <p:spPr>
            <a:xfrm>
              <a:off x="16080320" y="2937932"/>
              <a:ext cx="0" cy="5892800"/>
            </a:xfrm>
            <a:custGeom>
              <a:avLst/>
              <a:gdLst/>
              <a:ahLst/>
              <a:cxnLst/>
              <a:rect l="l" t="t" r="r" b="b"/>
              <a:pathLst>
                <a:path h="5892800">
                  <a:moveTo>
                    <a:pt x="0" y="5892800"/>
                  </a:moveTo>
                  <a:lnTo>
                    <a:pt x="0" y="0"/>
                  </a:lnTo>
                </a:path>
              </a:pathLst>
            </a:custGeom>
            <a:ln w="12700">
              <a:solidFill>
                <a:srgbClr val="446470"/>
              </a:solidFill>
            </a:ln>
          </p:spPr>
          <p:txBody>
            <a:bodyPr wrap="square" lIns="0" tIns="0" rIns="0" bIns="0" rtlCol="0"/>
            <a:lstStyle/>
            <a:p>
              <a:endParaRPr/>
            </a:p>
          </p:txBody>
        </p:sp>
        <p:sp>
          <p:nvSpPr>
            <p:cNvPr id="10" name="object 10"/>
            <p:cNvSpPr/>
            <p:nvPr/>
          </p:nvSpPr>
          <p:spPr>
            <a:xfrm>
              <a:off x="3776133" y="2944282"/>
              <a:ext cx="12310745" cy="0"/>
            </a:xfrm>
            <a:custGeom>
              <a:avLst/>
              <a:gdLst/>
              <a:ahLst/>
              <a:cxnLst/>
              <a:rect l="l" t="t" r="r" b="b"/>
              <a:pathLst>
                <a:path w="12310744">
                  <a:moveTo>
                    <a:pt x="0" y="0"/>
                  </a:moveTo>
                  <a:lnTo>
                    <a:pt x="12310533" y="0"/>
                  </a:lnTo>
                </a:path>
              </a:pathLst>
            </a:custGeom>
            <a:ln w="12700">
              <a:solidFill>
                <a:srgbClr val="446470"/>
              </a:solidFill>
            </a:ln>
          </p:spPr>
          <p:txBody>
            <a:bodyPr wrap="square" lIns="0" tIns="0" rIns="0" bIns="0" rtlCol="0"/>
            <a:lstStyle/>
            <a:p>
              <a:endParaRPr/>
            </a:p>
          </p:txBody>
        </p:sp>
        <p:sp>
          <p:nvSpPr>
            <p:cNvPr id="11" name="object 11"/>
            <p:cNvSpPr/>
            <p:nvPr/>
          </p:nvSpPr>
          <p:spPr>
            <a:xfrm>
              <a:off x="12492566" y="8824383"/>
              <a:ext cx="3594100" cy="0"/>
            </a:xfrm>
            <a:custGeom>
              <a:avLst/>
              <a:gdLst/>
              <a:ahLst/>
              <a:cxnLst/>
              <a:rect l="l" t="t" r="r" b="b"/>
              <a:pathLst>
                <a:path w="3594100">
                  <a:moveTo>
                    <a:pt x="0" y="0"/>
                  </a:moveTo>
                  <a:lnTo>
                    <a:pt x="3594100" y="0"/>
                  </a:lnTo>
                </a:path>
              </a:pathLst>
            </a:custGeom>
            <a:ln w="12700">
              <a:solidFill>
                <a:srgbClr val="446470"/>
              </a:solidFill>
            </a:ln>
          </p:spPr>
          <p:txBody>
            <a:bodyPr wrap="square" lIns="0" tIns="0" rIns="0" bIns="0" rtlCol="0"/>
            <a:lstStyle/>
            <a:p>
              <a:endParaRPr/>
            </a:p>
          </p:txBody>
        </p:sp>
        <p:sp>
          <p:nvSpPr>
            <p:cNvPr id="12" name="object 12"/>
            <p:cNvSpPr/>
            <p:nvPr/>
          </p:nvSpPr>
          <p:spPr>
            <a:xfrm>
              <a:off x="7414683" y="2937932"/>
              <a:ext cx="0" cy="5892800"/>
            </a:xfrm>
            <a:custGeom>
              <a:avLst/>
              <a:gdLst/>
              <a:ahLst/>
              <a:cxnLst/>
              <a:rect l="l" t="t" r="r" b="b"/>
              <a:pathLst>
                <a:path h="5892800">
                  <a:moveTo>
                    <a:pt x="0" y="5892800"/>
                  </a:moveTo>
                  <a:lnTo>
                    <a:pt x="0" y="0"/>
                  </a:lnTo>
                </a:path>
              </a:pathLst>
            </a:custGeom>
            <a:ln w="12700">
              <a:solidFill>
                <a:srgbClr val="446470"/>
              </a:solidFill>
            </a:ln>
          </p:spPr>
          <p:txBody>
            <a:bodyPr wrap="square" lIns="0" tIns="0" rIns="0" bIns="0" rtlCol="0"/>
            <a:lstStyle/>
            <a:p>
              <a:endParaRPr/>
            </a:p>
          </p:txBody>
        </p:sp>
        <p:sp>
          <p:nvSpPr>
            <p:cNvPr id="13" name="object 13"/>
            <p:cNvSpPr/>
            <p:nvPr/>
          </p:nvSpPr>
          <p:spPr>
            <a:xfrm>
              <a:off x="11770783" y="2937932"/>
              <a:ext cx="0" cy="5892800"/>
            </a:xfrm>
            <a:custGeom>
              <a:avLst/>
              <a:gdLst/>
              <a:ahLst/>
              <a:cxnLst/>
              <a:rect l="l" t="t" r="r" b="b"/>
              <a:pathLst>
                <a:path h="5892800">
                  <a:moveTo>
                    <a:pt x="0" y="5892800"/>
                  </a:moveTo>
                  <a:lnTo>
                    <a:pt x="0" y="0"/>
                  </a:lnTo>
                </a:path>
              </a:pathLst>
            </a:custGeom>
            <a:ln w="12700">
              <a:solidFill>
                <a:srgbClr val="446470"/>
              </a:solidFill>
            </a:ln>
          </p:spPr>
          <p:txBody>
            <a:bodyPr wrap="square" lIns="0" tIns="0" rIns="0" bIns="0" rtlCol="0"/>
            <a:lstStyle/>
            <a:p>
              <a:endParaRPr/>
            </a:p>
          </p:txBody>
        </p:sp>
        <p:sp>
          <p:nvSpPr>
            <p:cNvPr id="14" name="object 14"/>
            <p:cNvSpPr/>
            <p:nvPr/>
          </p:nvSpPr>
          <p:spPr>
            <a:xfrm>
              <a:off x="3776133" y="3380317"/>
              <a:ext cx="12310745" cy="0"/>
            </a:xfrm>
            <a:custGeom>
              <a:avLst/>
              <a:gdLst/>
              <a:ahLst/>
              <a:cxnLst/>
              <a:rect l="l" t="t" r="r" b="b"/>
              <a:pathLst>
                <a:path w="12310744">
                  <a:moveTo>
                    <a:pt x="0" y="0"/>
                  </a:moveTo>
                  <a:lnTo>
                    <a:pt x="12310533" y="0"/>
                  </a:lnTo>
                </a:path>
              </a:pathLst>
            </a:custGeom>
            <a:ln w="12700">
              <a:solidFill>
                <a:srgbClr val="446470"/>
              </a:solidFill>
            </a:ln>
          </p:spPr>
          <p:txBody>
            <a:bodyPr wrap="square" lIns="0" tIns="0" rIns="0" bIns="0" rtlCol="0"/>
            <a:lstStyle/>
            <a:p>
              <a:endParaRPr/>
            </a:p>
          </p:txBody>
        </p:sp>
        <p:sp>
          <p:nvSpPr>
            <p:cNvPr id="15" name="object 15"/>
            <p:cNvSpPr/>
            <p:nvPr/>
          </p:nvSpPr>
          <p:spPr>
            <a:xfrm>
              <a:off x="3860800" y="8786283"/>
              <a:ext cx="3560445" cy="0"/>
            </a:xfrm>
            <a:custGeom>
              <a:avLst/>
              <a:gdLst/>
              <a:ahLst/>
              <a:cxnLst/>
              <a:rect l="l" t="t" r="r" b="b"/>
              <a:pathLst>
                <a:path w="3560445">
                  <a:moveTo>
                    <a:pt x="0" y="0"/>
                  </a:moveTo>
                  <a:lnTo>
                    <a:pt x="3560233" y="0"/>
                  </a:lnTo>
                </a:path>
              </a:pathLst>
            </a:custGeom>
            <a:ln w="29633">
              <a:solidFill>
                <a:srgbClr val="38576B"/>
              </a:solidFill>
            </a:ln>
          </p:spPr>
          <p:txBody>
            <a:bodyPr wrap="square" lIns="0" tIns="0" rIns="0" bIns="0" rtlCol="0"/>
            <a:lstStyle/>
            <a:p>
              <a:endParaRPr/>
            </a:p>
          </p:txBody>
        </p:sp>
        <p:sp>
          <p:nvSpPr>
            <p:cNvPr id="16" name="object 16"/>
            <p:cNvSpPr/>
            <p:nvPr/>
          </p:nvSpPr>
          <p:spPr>
            <a:xfrm>
              <a:off x="9539816" y="3797300"/>
              <a:ext cx="0" cy="1380490"/>
            </a:xfrm>
            <a:custGeom>
              <a:avLst/>
              <a:gdLst/>
              <a:ahLst/>
              <a:cxnLst/>
              <a:rect l="l" t="t" r="r" b="b"/>
              <a:pathLst>
                <a:path h="1380489">
                  <a:moveTo>
                    <a:pt x="0" y="1380066"/>
                  </a:moveTo>
                  <a:lnTo>
                    <a:pt x="0" y="0"/>
                  </a:lnTo>
                </a:path>
              </a:pathLst>
            </a:custGeom>
            <a:ln w="21166">
              <a:solidFill>
                <a:srgbClr val="385B70"/>
              </a:solidFill>
            </a:ln>
          </p:spPr>
          <p:txBody>
            <a:bodyPr wrap="square" lIns="0" tIns="0" rIns="0" bIns="0" rtlCol="0"/>
            <a:lstStyle/>
            <a:p>
              <a:endParaRPr/>
            </a:p>
          </p:txBody>
        </p:sp>
        <p:sp>
          <p:nvSpPr>
            <p:cNvPr id="17" name="object 17"/>
            <p:cNvSpPr/>
            <p:nvPr/>
          </p:nvSpPr>
          <p:spPr>
            <a:xfrm>
              <a:off x="10344150" y="3797300"/>
              <a:ext cx="0" cy="1380490"/>
            </a:xfrm>
            <a:custGeom>
              <a:avLst/>
              <a:gdLst/>
              <a:ahLst/>
              <a:cxnLst/>
              <a:rect l="l" t="t" r="r" b="b"/>
              <a:pathLst>
                <a:path h="1380489">
                  <a:moveTo>
                    <a:pt x="0" y="1380066"/>
                  </a:moveTo>
                  <a:lnTo>
                    <a:pt x="0" y="0"/>
                  </a:lnTo>
                </a:path>
              </a:pathLst>
            </a:custGeom>
            <a:ln w="21166">
              <a:solidFill>
                <a:srgbClr val="385B70"/>
              </a:solidFill>
            </a:ln>
          </p:spPr>
          <p:txBody>
            <a:bodyPr wrap="square" lIns="0" tIns="0" rIns="0" bIns="0" rtlCol="0"/>
            <a:lstStyle/>
            <a:p>
              <a:endParaRPr/>
            </a:p>
          </p:txBody>
        </p:sp>
        <p:sp>
          <p:nvSpPr>
            <p:cNvPr id="18" name="object 18"/>
            <p:cNvSpPr/>
            <p:nvPr/>
          </p:nvSpPr>
          <p:spPr>
            <a:xfrm>
              <a:off x="9529233" y="3807883"/>
              <a:ext cx="825500" cy="0"/>
            </a:xfrm>
            <a:custGeom>
              <a:avLst/>
              <a:gdLst/>
              <a:ahLst/>
              <a:cxnLst/>
              <a:rect l="l" t="t" r="r" b="b"/>
              <a:pathLst>
                <a:path w="825500">
                  <a:moveTo>
                    <a:pt x="0" y="0"/>
                  </a:moveTo>
                  <a:lnTo>
                    <a:pt x="825500" y="0"/>
                  </a:lnTo>
                </a:path>
              </a:pathLst>
            </a:custGeom>
            <a:ln w="21166">
              <a:solidFill>
                <a:srgbClr val="385B70"/>
              </a:solidFill>
            </a:ln>
          </p:spPr>
          <p:txBody>
            <a:bodyPr wrap="square" lIns="0" tIns="0" rIns="0" bIns="0" rtlCol="0"/>
            <a:lstStyle/>
            <a:p>
              <a:endParaRPr/>
            </a:p>
          </p:txBody>
        </p:sp>
        <p:sp>
          <p:nvSpPr>
            <p:cNvPr id="19" name="object 19"/>
            <p:cNvSpPr/>
            <p:nvPr/>
          </p:nvSpPr>
          <p:spPr>
            <a:xfrm>
              <a:off x="9529233" y="5166783"/>
              <a:ext cx="825500" cy="0"/>
            </a:xfrm>
            <a:custGeom>
              <a:avLst/>
              <a:gdLst/>
              <a:ahLst/>
              <a:cxnLst/>
              <a:rect l="l" t="t" r="r" b="b"/>
              <a:pathLst>
                <a:path w="825500">
                  <a:moveTo>
                    <a:pt x="0" y="0"/>
                  </a:moveTo>
                  <a:lnTo>
                    <a:pt x="825500" y="0"/>
                  </a:lnTo>
                </a:path>
              </a:pathLst>
            </a:custGeom>
            <a:ln w="21166">
              <a:solidFill>
                <a:srgbClr val="385B70"/>
              </a:solidFill>
            </a:ln>
          </p:spPr>
          <p:txBody>
            <a:bodyPr wrap="square" lIns="0" tIns="0" rIns="0" bIns="0" rtlCol="0"/>
            <a:lstStyle/>
            <a:p>
              <a:endParaRPr/>
            </a:p>
          </p:txBody>
        </p:sp>
        <p:sp>
          <p:nvSpPr>
            <p:cNvPr id="20" name="object 20"/>
            <p:cNvSpPr/>
            <p:nvPr/>
          </p:nvSpPr>
          <p:spPr>
            <a:xfrm>
              <a:off x="9590616" y="3949700"/>
              <a:ext cx="0" cy="1012190"/>
            </a:xfrm>
            <a:custGeom>
              <a:avLst/>
              <a:gdLst/>
              <a:ahLst/>
              <a:cxnLst/>
              <a:rect l="l" t="t" r="r" b="b"/>
              <a:pathLst>
                <a:path h="1012189">
                  <a:moveTo>
                    <a:pt x="0" y="1011766"/>
                  </a:moveTo>
                  <a:lnTo>
                    <a:pt x="0" y="0"/>
                  </a:lnTo>
                </a:path>
              </a:pathLst>
            </a:custGeom>
            <a:ln w="21166">
              <a:solidFill>
                <a:srgbClr val="38606B"/>
              </a:solidFill>
            </a:ln>
          </p:spPr>
          <p:txBody>
            <a:bodyPr wrap="square" lIns="0" tIns="0" rIns="0" bIns="0" rtlCol="0"/>
            <a:lstStyle/>
            <a:p>
              <a:endParaRPr/>
            </a:p>
          </p:txBody>
        </p:sp>
        <p:sp>
          <p:nvSpPr>
            <p:cNvPr id="21" name="object 21"/>
            <p:cNvSpPr/>
            <p:nvPr/>
          </p:nvSpPr>
          <p:spPr>
            <a:xfrm>
              <a:off x="10263716" y="3949700"/>
              <a:ext cx="0" cy="1012190"/>
            </a:xfrm>
            <a:custGeom>
              <a:avLst/>
              <a:gdLst/>
              <a:ahLst/>
              <a:cxnLst/>
              <a:rect l="l" t="t" r="r" b="b"/>
              <a:pathLst>
                <a:path h="1012189">
                  <a:moveTo>
                    <a:pt x="0" y="1011766"/>
                  </a:moveTo>
                  <a:lnTo>
                    <a:pt x="0" y="0"/>
                  </a:lnTo>
                </a:path>
              </a:pathLst>
            </a:custGeom>
            <a:ln w="21166">
              <a:solidFill>
                <a:srgbClr val="38606B"/>
              </a:solidFill>
            </a:ln>
          </p:spPr>
          <p:txBody>
            <a:bodyPr wrap="square" lIns="0" tIns="0" rIns="0" bIns="0" rtlCol="0"/>
            <a:lstStyle/>
            <a:p>
              <a:endParaRPr/>
            </a:p>
          </p:txBody>
        </p:sp>
        <p:sp>
          <p:nvSpPr>
            <p:cNvPr id="22" name="object 22"/>
            <p:cNvSpPr/>
            <p:nvPr/>
          </p:nvSpPr>
          <p:spPr>
            <a:xfrm>
              <a:off x="9580033" y="3960283"/>
              <a:ext cx="694690" cy="0"/>
            </a:xfrm>
            <a:custGeom>
              <a:avLst/>
              <a:gdLst/>
              <a:ahLst/>
              <a:cxnLst/>
              <a:rect l="l" t="t" r="r" b="b"/>
              <a:pathLst>
                <a:path w="694690">
                  <a:moveTo>
                    <a:pt x="0" y="0"/>
                  </a:moveTo>
                  <a:lnTo>
                    <a:pt x="694266" y="0"/>
                  </a:lnTo>
                </a:path>
              </a:pathLst>
            </a:custGeom>
            <a:ln w="21166">
              <a:solidFill>
                <a:srgbClr val="38606B"/>
              </a:solidFill>
            </a:ln>
          </p:spPr>
          <p:txBody>
            <a:bodyPr wrap="square" lIns="0" tIns="0" rIns="0" bIns="0" rtlCol="0"/>
            <a:lstStyle/>
            <a:p>
              <a:endParaRPr/>
            </a:p>
          </p:txBody>
        </p:sp>
        <p:sp>
          <p:nvSpPr>
            <p:cNvPr id="23" name="object 23"/>
            <p:cNvSpPr/>
            <p:nvPr/>
          </p:nvSpPr>
          <p:spPr>
            <a:xfrm>
              <a:off x="9580033" y="4950883"/>
              <a:ext cx="694690" cy="0"/>
            </a:xfrm>
            <a:custGeom>
              <a:avLst/>
              <a:gdLst/>
              <a:ahLst/>
              <a:cxnLst/>
              <a:rect l="l" t="t" r="r" b="b"/>
              <a:pathLst>
                <a:path w="694690">
                  <a:moveTo>
                    <a:pt x="0" y="0"/>
                  </a:moveTo>
                  <a:lnTo>
                    <a:pt x="694266" y="0"/>
                  </a:lnTo>
                </a:path>
              </a:pathLst>
            </a:custGeom>
            <a:ln w="21166">
              <a:solidFill>
                <a:srgbClr val="38606B"/>
              </a:solidFill>
            </a:ln>
          </p:spPr>
          <p:txBody>
            <a:bodyPr wrap="square" lIns="0" tIns="0" rIns="0" bIns="0" rtlCol="0"/>
            <a:lstStyle/>
            <a:p>
              <a:endParaRPr/>
            </a:p>
          </p:txBody>
        </p:sp>
        <p:sp>
          <p:nvSpPr>
            <p:cNvPr id="24" name="object 24"/>
            <p:cNvSpPr/>
            <p:nvPr/>
          </p:nvSpPr>
          <p:spPr>
            <a:xfrm>
              <a:off x="7495116" y="3373967"/>
              <a:ext cx="0" cy="5325745"/>
            </a:xfrm>
            <a:custGeom>
              <a:avLst/>
              <a:gdLst/>
              <a:ahLst/>
              <a:cxnLst/>
              <a:rect l="l" t="t" r="r" b="b"/>
              <a:pathLst>
                <a:path h="5325745">
                  <a:moveTo>
                    <a:pt x="0" y="5325533"/>
                  </a:moveTo>
                  <a:lnTo>
                    <a:pt x="0" y="0"/>
                  </a:lnTo>
                </a:path>
              </a:pathLst>
            </a:custGeom>
            <a:ln w="4233">
              <a:solidFill>
                <a:srgbClr val="3B5B67"/>
              </a:solidFill>
            </a:ln>
          </p:spPr>
          <p:txBody>
            <a:bodyPr wrap="square" lIns="0" tIns="0" rIns="0" bIns="0" rtlCol="0"/>
            <a:lstStyle/>
            <a:p>
              <a:endParaRPr/>
            </a:p>
          </p:txBody>
        </p:sp>
        <p:sp>
          <p:nvSpPr>
            <p:cNvPr id="25" name="object 25"/>
            <p:cNvSpPr/>
            <p:nvPr/>
          </p:nvSpPr>
          <p:spPr>
            <a:xfrm>
              <a:off x="8104716" y="3373967"/>
              <a:ext cx="0" cy="5338445"/>
            </a:xfrm>
            <a:custGeom>
              <a:avLst/>
              <a:gdLst/>
              <a:ahLst/>
              <a:cxnLst/>
              <a:rect l="l" t="t" r="r" b="b"/>
              <a:pathLst>
                <a:path h="5338445">
                  <a:moveTo>
                    <a:pt x="0" y="5338233"/>
                  </a:moveTo>
                  <a:lnTo>
                    <a:pt x="0" y="0"/>
                  </a:lnTo>
                </a:path>
              </a:pathLst>
            </a:custGeom>
            <a:ln w="4233">
              <a:solidFill>
                <a:srgbClr val="3B5B67"/>
              </a:solidFill>
            </a:ln>
          </p:spPr>
          <p:txBody>
            <a:bodyPr wrap="square" lIns="0" tIns="0" rIns="0" bIns="0" rtlCol="0"/>
            <a:lstStyle/>
            <a:p>
              <a:endParaRPr/>
            </a:p>
          </p:txBody>
        </p:sp>
        <p:sp>
          <p:nvSpPr>
            <p:cNvPr id="26" name="object 26"/>
            <p:cNvSpPr/>
            <p:nvPr/>
          </p:nvSpPr>
          <p:spPr>
            <a:xfrm>
              <a:off x="8293100" y="8786283"/>
              <a:ext cx="3484245" cy="0"/>
            </a:xfrm>
            <a:custGeom>
              <a:avLst/>
              <a:gdLst/>
              <a:ahLst/>
              <a:cxnLst/>
              <a:rect l="l" t="t" r="r" b="b"/>
              <a:pathLst>
                <a:path w="3484245">
                  <a:moveTo>
                    <a:pt x="0" y="0"/>
                  </a:moveTo>
                  <a:lnTo>
                    <a:pt x="3484033" y="0"/>
                  </a:lnTo>
                </a:path>
              </a:pathLst>
            </a:custGeom>
            <a:ln w="29633">
              <a:solidFill>
                <a:srgbClr val="38576B"/>
              </a:solidFill>
            </a:ln>
          </p:spPr>
          <p:txBody>
            <a:bodyPr wrap="square" lIns="0" tIns="0" rIns="0" bIns="0" rtlCol="0"/>
            <a:lstStyle/>
            <a:p>
              <a:endParaRPr/>
            </a:p>
          </p:txBody>
        </p:sp>
      </p:grpSp>
      <p:sp>
        <p:nvSpPr>
          <p:cNvPr id="27" name="object 27"/>
          <p:cNvSpPr txBox="1">
            <a:spLocks noGrp="1"/>
          </p:cNvSpPr>
          <p:nvPr>
            <p:ph type="title"/>
          </p:nvPr>
        </p:nvSpPr>
        <p:spPr>
          <a:prstGeom prst="rect">
            <a:avLst/>
          </a:prstGeom>
        </p:spPr>
        <p:txBody>
          <a:bodyPr vert="horz" wrap="square" lIns="0" tIns="668020" rIns="0" bIns="0" rtlCol="0">
            <a:spAutoFit/>
          </a:bodyPr>
          <a:lstStyle/>
          <a:p>
            <a:pPr marL="358775">
              <a:lnSpc>
                <a:spcPct val="100000"/>
              </a:lnSpc>
              <a:spcBef>
                <a:spcPts val="135"/>
              </a:spcBef>
            </a:pPr>
            <a:r>
              <a:rPr spc="125" dirty="0"/>
              <a:t>Perspectives</a:t>
            </a:r>
            <a:r>
              <a:rPr spc="295" dirty="0"/>
              <a:t> </a:t>
            </a:r>
            <a:r>
              <a:rPr i="1" dirty="0">
                <a:solidFill>
                  <a:srgbClr val="266D8E"/>
                </a:solidFill>
                <a:latin typeface="Arial"/>
                <a:cs typeface="Arial"/>
              </a:rPr>
              <a:t>:</a:t>
            </a:r>
            <a:r>
              <a:rPr i="1" spc="40" dirty="0">
                <a:solidFill>
                  <a:srgbClr val="266D8E"/>
                </a:solidFill>
                <a:latin typeface="Arial"/>
                <a:cs typeface="Arial"/>
              </a:rPr>
              <a:t> </a:t>
            </a:r>
            <a:r>
              <a:rPr spc="55" dirty="0">
                <a:solidFill>
                  <a:srgbClr val="1F6E93"/>
                </a:solidFill>
              </a:rPr>
              <a:t>Vers</a:t>
            </a:r>
            <a:r>
              <a:rPr spc="-165" dirty="0">
                <a:solidFill>
                  <a:srgbClr val="1F6E93"/>
                </a:solidFill>
              </a:rPr>
              <a:t> </a:t>
            </a:r>
            <a:r>
              <a:rPr dirty="0">
                <a:solidFill>
                  <a:srgbClr val="216282"/>
                </a:solidFill>
              </a:rPr>
              <a:t>la</a:t>
            </a:r>
            <a:r>
              <a:rPr spc="-165" dirty="0">
                <a:solidFill>
                  <a:srgbClr val="216282"/>
                </a:solidFill>
              </a:rPr>
              <a:t> </a:t>
            </a:r>
            <a:r>
              <a:rPr spc="114" dirty="0">
                <a:solidFill>
                  <a:srgbClr val="236E90"/>
                </a:solidFill>
              </a:rPr>
              <a:t>Clinique</a:t>
            </a:r>
            <a:r>
              <a:rPr spc="-30" dirty="0">
                <a:solidFill>
                  <a:srgbClr val="236E90"/>
                </a:solidFill>
              </a:rPr>
              <a:t> </a:t>
            </a:r>
            <a:r>
              <a:rPr spc="-295" dirty="0">
                <a:solidFill>
                  <a:srgbClr val="1F6B90"/>
                </a:solidFill>
              </a:rPr>
              <a:t>2.O</a:t>
            </a:r>
          </a:p>
        </p:txBody>
      </p:sp>
      <p:sp>
        <p:nvSpPr>
          <p:cNvPr id="28" name="object 28"/>
          <p:cNvSpPr txBox="1"/>
          <p:nvPr/>
        </p:nvSpPr>
        <p:spPr>
          <a:xfrm>
            <a:off x="1283373" y="5265208"/>
            <a:ext cx="1591310" cy="1586865"/>
          </a:xfrm>
          <a:prstGeom prst="rect">
            <a:avLst/>
          </a:prstGeom>
        </p:spPr>
        <p:txBody>
          <a:bodyPr vert="horz" wrap="square" lIns="0" tIns="46355" rIns="0" bIns="0" rtlCol="0">
            <a:spAutoFit/>
          </a:bodyPr>
          <a:lstStyle/>
          <a:p>
            <a:pPr marL="12700" marR="5080" indent="-19685" algn="ctr">
              <a:lnSpc>
                <a:spcPct val="94100"/>
              </a:lnSpc>
              <a:spcBef>
                <a:spcPts val="365"/>
              </a:spcBef>
            </a:pPr>
            <a:r>
              <a:rPr sz="3450" spc="-10" dirty="0">
                <a:solidFill>
                  <a:srgbClr val="3A6B7C"/>
                </a:solidFill>
                <a:latin typeface="Arial MT"/>
                <a:cs typeface="Arial MT"/>
              </a:rPr>
              <a:t>Version </a:t>
            </a:r>
            <a:r>
              <a:rPr sz="3600" spc="-70" dirty="0">
                <a:solidFill>
                  <a:srgbClr val="21566B"/>
                </a:solidFill>
                <a:latin typeface="Arial MT"/>
                <a:cs typeface="Arial MT"/>
              </a:rPr>
              <a:t>Actuelle </a:t>
            </a:r>
            <a:r>
              <a:rPr sz="3600" spc="-30" dirty="0">
                <a:solidFill>
                  <a:srgbClr val="345E6E"/>
                </a:solidFill>
                <a:latin typeface="Arial MT"/>
                <a:cs typeface="Arial MT"/>
              </a:rPr>
              <a:t>(v1.0)</a:t>
            </a:r>
            <a:endParaRPr sz="3600">
              <a:latin typeface="Arial MT"/>
              <a:cs typeface="Arial MT"/>
            </a:endParaRPr>
          </a:p>
        </p:txBody>
      </p:sp>
      <p:sp>
        <p:nvSpPr>
          <p:cNvPr id="29" name="object 29"/>
          <p:cNvSpPr txBox="1"/>
          <p:nvPr/>
        </p:nvSpPr>
        <p:spPr>
          <a:xfrm>
            <a:off x="3937078" y="2286000"/>
            <a:ext cx="681355" cy="396240"/>
          </a:xfrm>
          <a:prstGeom prst="rect">
            <a:avLst/>
          </a:prstGeom>
        </p:spPr>
        <p:txBody>
          <a:bodyPr vert="horz" wrap="square" lIns="0" tIns="16510" rIns="0" bIns="0" rtlCol="0">
            <a:spAutoFit/>
          </a:bodyPr>
          <a:lstStyle/>
          <a:p>
            <a:pPr marL="12700">
              <a:lnSpc>
                <a:spcPct val="100000"/>
              </a:lnSpc>
              <a:spcBef>
                <a:spcPts val="130"/>
              </a:spcBef>
            </a:pPr>
            <a:r>
              <a:rPr sz="2400" spc="-85" dirty="0">
                <a:solidFill>
                  <a:srgbClr val="3D5660"/>
                </a:solidFill>
                <a:latin typeface="Arial MT"/>
                <a:cs typeface="Arial MT"/>
              </a:rPr>
              <a:t>Futur</a:t>
            </a:r>
            <a:endParaRPr sz="2400">
              <a:latin typeface="Arial MT"/>
              <a:cs typeface="Arial MT"/>
            </a:endParaRPr>
          </a:p>
        </p:txBody>
      </p:sp>
      <p:sp>
        <p:nvSpPr>
          <p:cNvPr id="30" name="object 30"/>
          <p:cNvSpPr txBox="1"/>
          <p:nvPr/>
        </p:nvSpPr>
        <p:spPr>
          <a:xfrm>
            <a:off x="4153520" y="4913489"/>
            <a:ext cx="2929890" cy="2706370"/>
          </a:xfrm>
          <a:prstGeom prst="rect">
            <a:avLst/>
          </a:prstGeom>
        </p:spPr>
        <p:txBody>
          <a:bodyPr vert="horz" wrap="square" lIns="0" tIns="55880" rIns="0" bIns="0" rtlCol="0">
            <a:spAutoFit/>
          </a:bodyPr>
          <a:lstStyle/>
          <a:p>
            <a:pPr marL="502920" marR="515620" indent="8255" algn="ctr">
              <a:lnSpc>
                <a:spcPts val="4000"/>
              </a:lnSpc>
              <a:spcBef>
                <a:spcPts val="440"/>
              </a:spcBef>
            </a:pPr>
            <a:r>
              <a:rPr sz="3550" spc="-10" dirty="0">
                <a:solidFill>
                  <a:srgbClr val="315E72"/>
                </a:solidFill>
                <a:latin typeface="Arial MT"/>
                <a:cs typeface="Arial MT"/>
              </a:rPr>
              <a:t>Chatbot </a:t>
            </a:r>
            <a:r>
              <a:rPr sz="3550" spc="-30" dirty="0">
                <a:solidFill>
                  <a:srgbClr val="316070"/>
                </a:solidFill>
                <a:latin typeface="Arial MT"/>
                <a:cs typeface="Arial MT"/>
              </a:rPr>
              <a:t>Intelligent</a:t>
            </a:r>
            <a:endParaRPr sz="3550">
              <a:latin typeface="Arial MT"/>
              <a:cs typeface="Arial MT"/>
            </a:endParaRPr>
          </a:p>
          <a:p>
            <a:pPr marL="12700" marR="5080" algn="ctr">
              <a:lnSpc>
                <a:spcPct val="87100"/>
              </a:lnSpc>
              <a:spcBef>
                <a:spcPts val="2410"/>
              </a:spcBef>
            </a:pPr>
            <a:r>
              <a:rPr sz="3300" spc="-260" dirty="0">
                <a:latin typeface="Arial MT"/>
                <a:cs typeface="Arial MT"/>
              </a:rPr>
              <a:t>Assistance</a:t>
            </a:r>
            <a:r>
              <a:rPr sz="3300" spc="-80" dirty="0">
                <a:latin typeface="Arial MT"/>
                <a:cs typeface="Arial MT"/>
              </a:rPr>
              <a:t> </a:t>
            </a:r>
            <a:r>
              <a:rPr sz="3300" spc="-190" dirty="0">
                <a:latin typeface="Arial MT"/>
                <a:cs typeface="Arial MT"/>
              </a:rPr>
              <a:t>patient </a:t>
            </a:r>
            <a:r>
              <a:rPr sz="3300" spc="-185" dirty="0">
                <a:latin typeface="Arial MT"/>
                <a:cs typeface="Arial MT"/>
              </a:rPr>
              <a:t>24/7</a:t>
            </a:r>
            <a:r>
              <a:rPr sz="3300" spc="-204" dirty="0">
                <a:latin typeface="Arial MT"/>
                <a:cs typeface="Arial MT"/>
              </a:rPr>
              <a:t> </a:t>
            </a:r>
            <a:r>
              <a:rPr sz="3300" spc="-215" dirty="0">
                <a:latin typeface="Arial MT"/>
                <a:cs typeface="Arial MT"/>
              </a:rPr>
              <a:t>et</a:t>
            </a:r>
            <a:r>
              <a:rPr sz="3300" spc="-155" dirty="0">
                <a:latin typeface="Arial MT"/>
                <a:cs typeface="Arial MT"/>
              </a:rPr>
              <a:t> </a:t>
            </a:r>
            <a:r>
              <a:rPr sz="3300" spc="-300" dirty="0">
                <a:latin typeface="Arial MT"/>
                <a:cs typeface="Arial MT"/>
              </a:rPr>
              <a:t>réponses </a:t>
            </a:r>
            <a:r>
              <a:rPr sz="3300" spc="-270" dirty="0">
                <a:latin typeface="Arial MT"/>
                <a:cs typeface="Arial MT"/>
              </a:rPr>
              <a:t>automatisées.</a:t>
            </a:r>
            <a:endParaRPr sz="3300">
              <a:latin typeface="Arial MT"/>
              <a:cs typeface="Arial MT"/>
            </a:endParaRPr>
          </a:p>
        </p:txBody>
      </p:sp>
      <p:sp>
        <p:nvSpPr>
          <p:cNvPr id="31" name="object 31"/>
          <p:cNvSpPr txBox="1"/>
          <p:nvPr/>
        </p:nvSpPr>
        <p:spPr>
          <a:xfrm>
            <a:off x="8243102" y="2294819"/>
            <a:ext cx="676275" cy="385445"/>
          </a:xfrm>
          <a:prstGeom prst="rect">
            <a:avLst/>
          </a:prstGeom>
        </p:spPr>
        <p:txBody>
          <a:bodyPr vert="horz" wrap="square" lIns="0" tIns="13970" rIns="0" bIns="0" rtlCol="0">
            <a:spAutoFit/>
          </a:bodyPr>
          <a:lstStyle/>
          <a:p>
            <a:pPr marL="12700">
              <a:lnSpc>
                <a:spcPct val="100000"/>
              </a:lnSpc>
              <a:spcBef>
                <a:spcPts val="110"/>
              </a:spcBef>
            </a:pPr>
            <a:r>
              <a:rPr sz="2350" spc="-65" dirty="0">
                <a:solidFill>
                  <a:srgbClr val="3A6275"/>
                </a:solidFill>
                <a:latin typeface="Arial MT"/>
                <a:cs typeface="Arial MT"/>
              </a:rPr>
              <a:t>Futur</a:t>
            </a:r>
            <a:endParaRPr sz="2350">
              <a:latin typeface="Arial MT"/>
              <a:cs typeface="Arial MT"/>
            </a:endParaRPr>
          </a:p>
        </p:txBody>
      </p:sp>
      <p:sp>
        <p:nvSpPr>
          <p:cNvPr id="32" name="object 32"/>
          <p:cNvSpPr txBox="1"/>
          <p:nvPr/>
        </p:nvSpPr>
        <p:spPr>
          <a:xfrm>
            <a:off x="9816024" y="4294011"/>
            <a:ext cx="104775" cy="226695"/>
          </a:xfrm>
          <a:prstGeom prst="rect">
            <a:avLst/>
          </a:prstGeom>
        </p:spPr>
        <p:txBody>
          <a:bodyPr vert="horz" wrap="square" lIns="0" tIns="15240" rIns="0" bIns="0" rtlCol="0">
            <a:spAutoFit/>
          </a:bodyPr>
          <a:lstStyle/>
          <a:p>
            <a:pPr marL="12700">
              <a:lnSpc>
                <a:spcPct val="100000"/>
              </a:lnSpc>
              <a:spcBef>
                <a:spcPts val="120"/>
              </a:spcBef>
            </a:pPr>
            <a:r>
              <a:rPr sz="1300" spc="-50" dirty="0">
                <a:solidFill>
                  <a:srgbClr val="336070"/>
                </a:solidFill>
                <a:latin typeface="Calibri"/>
                <a:cs typeface="Calibri"/>
              </a:rPr>
              <a:t>0</a:t>
            </a:r>
            <a:endParaRPr sz="1300">
              <a:latin typeface="Calibri"/>
              <a:cs typeface="Calibri"/>
            </a:endParaRPr>
          </a:p>
        </p:txBody>
      </p:sp>
      <p:sp>
        <p:nvSpPr>
          <p:cNvPr id="33" name="object 33"/>
          <p:cNvSpPr txBox="1"/>
          <p:nvPr/>
        </p:nvSpPr>
        <p:spPr>
          <a:xfrm>
            <a:off x="8290593" y="4878211"/>
            <a:ext cx="3300095" cy="2741930"/>
          </a:xfrm>
          <a:prstGeom prst="rect">
            <a:avLst/>
          </a:prstGeom>
        </p:spPr>
        <p:txBody>
          <a:bodyPr vert="horz" wrap="square" lIns="0" tIns="15240" rIns="0" bIns="0" rtlCol="0">
            <a:spAutoFit/>
          </a:bodyPr>
          <a:lstStyle/>
          <a:p>
            <a:pPr marL="7620" algn="ctr">
              <a:lnSpc>
                <a:spcPts val="4380"/>
              </a:lnSpc>
              <a:spcBef>
                <a:spcPts val="120"/>
              </a:spcBef>
            </a:pPr>
            <a:r>
              <a:rPr sz="3800" spc="-70" dirty="0">
                <a:solidFill>
                  <a:srgbClr val="387089"/>
                </a:solidFill>
                <a:latin typeface="Arial MT"/>
                <a:cs typeface="Arial MT"/>
              </a:rPr>
              <a:t>Application</a:t>
            </a:r>
            <a:endParaRPr sz="3800">
              <a:latin typeface="Arial MT"/>
              <a:cs typeface="Arial MT"/>
            </a:endParaRPr>
          </a:p>
          <a:p>
            <a:pPr marL="15875" algn="ctr">
              <a:lnSpc>
                <a:spcPts val="4140"/>
              </a:lnSpc>
            </a:pPr>
            <a:r>
              <a:rPr sz="3600" spc="-10" dirty="0">
                <a:solidFill>
                  <a:srgbClr val="26607B"/>
                </a:solidFill>
                <a:latin typeface="Arial MT"/>
                <a:cs typeface="Arial MT"/>
              </a:rPr>
              <a:t>Mobile</a:t>
            </a:r>
            <a:endParaRPr sz="3600">
              <a:latin typeface="Arial MT"/>
              <a:cs typeface="Arial MT"/>
            </a:endParaRPr>
          </a:p>
          <a:p>
            <a:pPr marL="12700" marR="5080" indent="22225" algn="ctr">
              <a:lnSpc>
                <a:spcPct val="87100"/>
              </a:lnSpc>
              <a:spcBef>
                <a:spcPts val="2490"/>
              </a:spcBef>
            </a:pPr>
            <a:r>
              <a:rPr sz="3300" spc="-325" dirty="0">
                <a:latin typeface="Arial MT"/>
                <a:cs typeface="Arial MT"/>
              </a:rPr>
              <a:t>Accès</a:t>
            </a:r>
            <a:r>
              <a:rPr sz="3300" spc="-60" dirty="0">
                <a:latin typeface="Arial MT"/>
                <a:cs typeface="Arial MT"/>
              </a:rPr>
              <a:t> </a:t>
            </a:r>
            <a:r>
              <a:rPr sz="3300" spc="-175" dirty="0">
                <a:latin typeface="Arial MT"/>
                <a:cs typeface="Arial MT"/>
              </a:rPr>
              <a:t>natif</a:t>
            </a:r>
            <a:r>
              <a:rPr sz="3300" spc="-65" dirty="0">
                <a:latin typeface="Arial MT"/>
                <a:cs typeface="Arial MT"/>
              </a:rPr>
              <a:t> </a:t>
            </a:r>
            <a:r>
              <a:rPr sz="3300" spc="-305" dirty="0">
                <a:latin typeface="Arial MT"/>
                <a:cs typeface="Arial MT"/>
              </a:rPr>
              <a:t>pour </a:t>
            </a:r>
            <a:r>
              <a:rPr sz="3300" spc="-225" dirty="0">
                <a:latin typeface="Arial MT"/>
                <a:cs typeface="Arial MT"/>
              </a:rPr>
              <a:t>patients</a:t>
            </a:r>
            <a:r>
              <a:rPr sz="3300" spc="-10" dirty="0">
                <a:latin typeface="Arial MT"/>
                <a:cs typeface="Arial MT"/>
              </a:rPr>
              <a:t> </a:t>
            </a:r>
            <a:r>
              <a:rPr sz="3300" spc="-250" dirty="0">
                <a:latin typeface="Arial MT"/>
                <a:cs typeface="Arial MT"/>
              </a:rPr>
              <a:t>et</a:t>
            </a:r>
            <a:r>
              <a:rPr sz="3300" spc="-165" dirty="0">
                <a:latin typeface="Arial MT"/>
                <a:cs typeface="Arial MT"/>
              </a:rPr>
              <a:t> </a:t>
            </a:r>
            <a:r>
              <a:rPr sz="3300" spc="-295" dirty="0">
                <a:latin typeface="Arial MT"/>
                <a:cs typeface="Arial MT"/>
              </a:rPr>
              <a:t>médecins </a:t>
            </a:r>
            <a:r>
              <a:rPr sz="3300" spc="-155" dirty="0">
                <a:latin typeface="Arial MT"/>
                <a:cs typeface="Arial MT"/>
              </a:rPr>
              <a:t>(iOS/Android).</a:t>
            </a:r>
            <a:endParaRPr sz="3300">
              <a:latin typeface="Arial MT"/>
              <a:cs typeface="Arial MT"/>
            </a:endParaRPr>
          </a:p>
        </p:txBody>
      </p:sp>
      <p:sp>
        <p:nvSpPr>
          <p:cNvPr id="34" name="object 34"/>
          <p:cNvSpPr txBox="1"/>
          <p:nvPr/>
        </p:nvSpPr>
        <p:spPr>
          <a:xfrm>
            <a:off x="12402978" y="2303639"/>
            <a:ext cx="862330" cy="374650"/>
          </a:xfrm>
          <a:prstGeom prst="rect">
            <a:avLst/>
          </a:prstGeom>
        </p:spPr>
        <p:txBody>
          <a:bodyPr vert="horz" wrap="square" lIns="0" tIns="11430" rIns="0" bIns="0" rtlCol="0">
            <a:spAutoFit/>
          </a:bodyPr>
          <a:lstStyle/>
          <a:p>
            <a:pPr marL="12700">
              <a:lnSpc>
                <a:spcPct val="100000"/>
              </a:lnSpc>
              <a:spcBef>
                <a:spcPts val="90"/>
              </a:spcBef>
            </a:pPr>
            <a:r>
              <a:rPr sz="2300" dirty="0">
                <a:solidFill>
                  <a:srgbClr val="385964"/>
                </a:solidFill>
                <a:latin typeface="Arial MT"/>
                <a:cs typeface="Arial MT"/>
              </a:rPr>
              <a:t>(</a:t>
            </a:r>
            <a:r>
              <a:rPr sz="2300" spc="45" dirty="0">
                <a:solidFill>
                  <a:srgbClr val="385964"/>
                </a:solidFill>
                <a:latin typeface="Arial MT"/>
                <a:cs typeface="Arial MT"/>
              </a:rPr>
              <a:t> </a:t>
            </a:r>
            <a:r>
              <a:rPr sz="2300" spc="-40" dirty="0">
                <a:solidFill>
                  <a:srgbClr val="34525D"/>
                </a:solidFill>
                <a:latin typeface="Arial MT"/>
                <a:cs typeface="Arial MT"/>
              </a:rPr>
              <a:t>Futur</a:t>
            </a:r>
            <a:endParaRPr sz="2300">
              <a:latin typeface="Arial MT"/>
              <a:cs typeface="Arial MT"/>
            </a:endParaRPr>
          </a:p>
        </p:txBody>
      </p:sp>
      <p:sp>
        <p:nvSpPr>
          <p:cNvPr id="35" name="object 35"/>
          <p:cNvSpPr txBox="1"/>
          <p:nvPr/>
        </p:nvSpPr>
        <p:spPr>
          <a:xfrm>
            <a:off x="12840322" y="4913489"/>
            <a:ext cx="2864485" cy="2706370"/>
          </a:xfrm>
          <a:prstGeom prst="rect">
            <a:avLst/>
          </a:prstGeom>
        </p:spPr>
        <p:txBody>
          <a:bodyPr vert="horz" wrap="square" lIns="0" tIns="55880" rIns="0" bIns="0" rtlCol="0">
            <a:spAutoFit/>
          </a:bodyPr>
          <a:lstStyle/>
          <a:p>
            <a:pPr marL="299720" marR="327025" algn="ctr">
              <a:lnSpc>
                <a:spcPts val="4000"/>
              </a:lnSpc>
              <a:spcBef>
                <a:spcPts val="440"/>
              </a:spcBef>
            </a:pPr>
            <a:r>
              <a:rPr sz="3550" spc="-45" dirty="0">
                <a:solidFill>
                  <a:srgbClr val="386679"/>
                </a:solidFill>
                <a:latin typeface="Arial MT"/>
                <a:cs typeface="Arial MT"/>
              </a:rPr>
              <a:t>Intelligence </a:t>
            </a:r>
            <a:r>
              <a:rPr sz="3550" spc="-10" dirty="0">
                <a:solidFill>
                  <a:srgbClr val="3F7790"/>
                </a:solidFill>
                <a:latin typeface="Arial MT"/>
                <a:cs typeface="Arial MT"/>
              </a:rPr>
              <a:t>Artificielle</a:t>
            </a:r>
            <a:endParaRPr sz="3550">
              <a:latin typeface="Arial MT"/>
              <a:cs typeface="Arial MT"/>
            </a:endParaRPr>
          </a:p>
          <a:p>
            <a:pPr marL="12700" marR="5080" algn="ctr">
              <a:lnSpc>
                <a:spcPct val="87100"/>
              </a:lnSpc>
              <a:spcBef>
                <a:spcPts val="2410"/>
              </a:spcBef>
            </a:pPr>
            <a:r>
              <a:rPr sz="3300" spc="-325" dirty="0">
                <a:latin typeface="Arial MT"/>
                <a:cs typeface="Arial MT"/>
              </a:rPr>
              <a:t>Analyse</a:t>
            </a:r>
            <a:r>
              <a:rPr sz="3300" spc="-135" dirty="0">
                <a:latin typeface="Arial MT"/>
                <a:cs typeface="Arial MT"/>
              </a:rPr>
              <a:t> </a:t>
            </a:r>
            <a:r>
              <a:rPr sz="3300" spc="-215" dirty="0">
                <a:latin typeface="Arial MT"/>
                <a:cs typeface="Arial MT"/>
              </a:rPr>
              <a:t>prédictive </a:t>
            </a:r>
            <a:r>
              <a:rPr sz="3300" spc="-320" dirty="0">
                <a:latin typeface="Arial MT"/>
                <a:cs typeface="Arial MT"/>
              </a:rPr>
              <a:t>des</a:t>
            </a:r>
            <a:r>
              <a:rPr sz="3300" spc="-125" dirty="0">
                <a:latin typeface="Arial MT"/>
                <a:cs typeface="Arial MT"/>
              </a:rPr>
              <a:t> </a:t>
            </a:r>
            <a:r>
              <a:rPr sz="3300" spc="-340" dirty="0">
                <a:latin typeface="Arial MT"/>
                <a:cs typeface="Arial MT"/>
              </a:rPr>
              <a:t>données </a:t>
            </a:r>
            <a:r>
              <a:rPr sz="3300" spc="-270" dirty="0">
                <a:latin typeface="Arial MT"/>
                <a:cs typeface="Arial MT"/>
              </a:rPr>
              <a:t>médicales.</a:t>
            </a:r>
            <a:endParaRPr sz="3300">
              <a:latin typeface="Arial MT"/>
              <a:cs typeface="Arial MT"/>
            </a:endParaRPr>
          </a:p>
        </p:txBody>
      </p:sp>
      <p:grpSp>
        <p:nvGrpSpPr>
          <p:cNvPr id="36" name="Group 2">
            <a:extLst>
              <a:ext uri="{FF2B5EF4-FFF2-40B4-BE49-F238E27FC236}">
                <a16:creationId xmlns:a16="http://schemas.microsoft.com/office/drawing/2014/main" id="{5544AE02-D210-4612-A36A-1E42AA5852DF}"/>
              </a:ext>
            </a:extLst>
          </p:cNvPr>
          <p:cNvGrpSpPr/>
          <p:nvPr/>
        </p:nvGrpSpPr>
        <p:grpSpPr>
          <a:xfrm>
            <a:off x="0" y="9051073"/>
            <a:ext cx="17475200" cy="686135"/>
            <a:chOff x="0" y="0"/>
            <a:chExt cx="4816593" cy="348089"/>
          </a:xfrm>
        </p:grpSpPr>
        <p:sp>
          <p:nvSpPr>
            <p:cNvPr id="37" name="Freeform 3">
              <a:extLst>
                <a:ext uri="{FF2B5EF4-FFF2-40B4-BE49-F238E27FC236}">
                  <a16:creationId xmlns:a16="http://schemas.microsoft.com/office/drawing/2014/main" id="{3312E91F-9919-4F26-977A-E8F3466611D9}"/>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38" name="TextBox 4">
              <a:extLst>
                <a:ext uri="{FF2B5EF4-FFF2-40B4-BE49-F238E27FC236}">
                  <a16:creationId xmlns:a16="http://schemas.microsoft.com/office/drawing/2014/main" id="{3667D7AE-8D73-4CAD-A181-1274B07F2D14}"/>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E245C0F3-A69C-4354-B3D3-9B7C0AFB1A74}"/>
              </a:ext>
            </a:extLst>
          </p:cNvPr>
          <p:cNvGrpSpPr/>
          <p:nvPr/>
        </p:nvGrpSpPr>
        <p:grpSpPr>
          <a:xfrm>
            <a:off x="0" y="9051073"/>
            <a:ext cx="17475200" cy="686135"/>
            <a:chOff x="0" y="0"/>
            <a:chExt cx="4816593" cy="348089"/>
          </a:xfrm>
        </p:grpSpPr>
        <p:sp>
          <p:nvSpPr>
            <p:cNvPr id="7" name="Freeform 3">
              <a:extLst>
                <a:ext uri="{FF2B5EF4-FFF2-40B4-BE49-F238E27FC236}">
                  <a16:creationId xmlns:a16="http://schemas.microsoft.com/office/drawing/2014/main" id="{BF1D3B10-06F2-423E-976B-FF52B7CD5CA9}"/>
                </a:ext>
              </a:extLst>
            </p:cNvPr>
            <p:cNvSpPr/>
            <p:nvPr/>
          </p:nvSpPr>
          <p:spPr>
            <a:xfrm>
              <a:off x="0" y="0"/>
              <a:ext cx="4816592" cy="348089"/>
            </a:xfrm>
            <a:custGeom>
              <a:avLst/>
              <a:gdLst/>
              <a:ahLst/>
              <a:cxnLst/>
              <a:rect l="l" t="t" r="r" b="b"/>
              <a:pathLst>
                <a:path w="4816592" h="348089">
                  <a:moveTo>
                    <a:pt x="0" y="0"/>
                  </a:moveTo>
                  <a:lnTo>
                    <a:pt x="4816592" y="0"/>
                  </a:lnTo>
                  <a:lnTo>
                    <a:pt x="4816592" y="348089"/>
                  </a:lnTo>
                  <a:lnTo>
                    <a:pt x="0" y="348089"/>
                  </a:lnTo>
                  <a:close/>
                </a:path>
              </a:pathLst>
            </a:custGeom>
            <a:solidFill>
              <a:srgbClr val="265A76"/>
            </a:solidFill>
          </p:spPr>
        </p:sp>
        <p:sp>
          <p:nvSpPr>
            <p:cNvPr id="8" name="TextBox 4">
              <a:extLst>
                <a:ext uri="{FF2B5EF4-FFF2-40B4-BE49-F238E27FC236}">
                  <a16:creationId xmlns:a16="http://schemas.microsoft.com/office/drawing/2014/main" id="{D8C2696D-1498-4F1F-A6C3-66DF73EBE128}"/>
                </a:ext>
              </a:extLst>
            </p:cNvPr>
            <p:cNvSpPr txBox="1"/>
            <p:nvPr/>
          </p:nvSpPr>
          <p:spPr>
            <a:xfrm>
              <a:off x="0" y="-38100"/>
              <a:ext cx="4816593" cy="386189"/>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1">
            <a:extLst>
              <a:ext uri="{FF2B5EF4-FFF2-40B4-BE49-F238E27FC236}">
                <a16:creationId xmlns:a16="http://schemas.microsoft.com/office/drawing/2014/main" id="{2F2F6DD1-22F1-4A8B-BA60-AF2FAF27A8FB}"/>
              </a:ext>
            </a:extLst>
          </p:cNvPr>
          <p:cNvSpPr txBox="1"/>
          <p:nvPr/>
        </p:nvSpPr>
        <p:spPr>
          <a:xfrm>
            <a:off x="2184400" y="1371600"/>
            <a:ext cx="13411200" cy="1508105"/>
          </a:xfrm>
          <a:prstGeom prst="rect">
            <a:avLst/>
          </a:prstGeom>
          <a:noFill/>
        </p:spPr>
        <p:txBody>
          <a:bodyPr wrap="square">
            <a:spAutoFit/>
          </a:bodyPr>
          <a:lstStyle/>
          <a:p>
            <a:r>
              <a:rPr lang="fr-FR" sz="9200" b="1" dirty="0">
                <a:solidFill>
                  <a:srgbClr val="265A76"/>
                </a:solidFill>
                <a:latin typeface="Poppins Ultra-Bold"/>
                <a:cs typeface="Poppins Ultra-Bold"/>
              </a:rPr>
              <a:t>CONCLUSION </a:t>
            </a:r>
          </a:p>
        </p:txBody>
      </p:sp>
      <p:sp>
        <p:nvSpPr>
          <p:cNvPr id="14" name="TextBox 13">
            <a:extLst>
              <a:ext uri="{FF2B5EF4-FFF2-40B4-BE49-F238E27FC236}">
                <a16:creationId xmlns:a16="http://schemas.microsoft.com/office/drawing/2014/main" id="{77C09979-F05A-4DFE-BB22-67CBF7AD4722}"/>
              </a:ext>
            </a:extLst>
          </p:cNvPr>
          <p:cNvSpPr txBox="1"/>
          <p:nvPr/>
        </p:nvSpPr>
        <p:spPr>
          <a:xfrm>
            <a:off x="2413000" y="3124200"/>
            <a:ext cx="13182600" cy="2306081"/>
          </a:xfrm>
          <a:prstGeom prst="rect">
            <a:avLst/>
          </a:prstGeom>
          <a:noFill/>
        </p:spPr>
        <p:txBody>
          <a:bodyPr wrap="square">
            <a:spAutoFit/>
          </a:bodyPr>
          <a:lstStyle/>
          <a:p>
            <a:pPr algn="just">
              <a:lnSpc>
                <a:spcPts val="3532"/>
              </a:lnSpc>
            </a:pPr>
            <a:r>
              <a:rPr lang="fr-FR" sz="2800" dirty="0">
                <a:solidFill>
                  <a:schemeClr val="tx2"/>
                </a:solidFill>
              </a:rPr>
              <a:t>Notre système de gestion clinique numérique représente une solution moderne, complète et évolutive pour transformer radicalement la gestion des établissements de santé. En combinant des technologies éprouvées avec une conception centrée sur les besoins réels des utilisateurs, ce système apporte une réponse concrète aux défis auxquels font face les cliniques aujourd'hui</a:t>
            </a:r>
            <a:r>
              <a:rPr lang="fr-FR" sz="2800"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TotalTime>
  <Words>860</Words>
  <Application>Microsoft Office PowerPoint</Application>
  <PresentationFormat>Custom</PresentationFormat>
  <Paragraphs>152</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Arial MT</vt:lpstr>
      <vt:lpstr>Calibri</vt:lpstr>
      <vt:lpstr>Cambria</vt:lpstr>
      <vt:lpstr>Consolas</vt:lpstr>
      <vt:lpstr>Inter</vt:lpstr>
      <vt:lpstr>Inter Bold</vt:lpstr>
      <vt:lpstr>Inter Light</vt:lpstr>
      <vt:lpstr>Poppins Light</vt:lpstr>
      <vt:lpstr>Poppins Ultra-Bold</vt:lpstr>
      <vt:lpstr>Office Theme</vt:lpstr>
      <vt:lpstr>PowerPoint Presentation</vt:lpstr>
      <vt:lpstr>PowerPoint Presentation</vt:lpstr>
      <vt:lpstr>PowerPoint Presentation</vt:lpstr>
      <vt:lpstr>Le Défi de la Santé Moderne : Surmonter la Gestion Manuelle</vt:lpstr>
      <vt:lpstr>Une Plateforme Centralisée pour une Clinique </vt:lpstr>
      <vt:lpstr>L'Arsenal Technologique : Performance et Sécurité</vt:lpstr>
      <vt:lpstr>Architecture MVC : Une Séparation Claire des Responsabilités</vt:lpstr>
      <vt:lpstr>Modélisation des Données Relationnelles</vt:lpstr>
      <vt:lpstr>Sécurité et Gestion des Rôles</vt:lpstr>
      <vt:lpstr>Digitalisation</vt:lpstr>
      <vt:lpstr>Planification Intelligente et Sans Conflit</vt:lpstr>
      <vt:lpstr>Le Tableau de Bord : La Clinique en Temps Réel</vt:lpstr>
      <vt:lpstr>Médical et Communication Automatisée</vt:lpstr>
      <vt:lpstr>Stratégie de Test et Assurance Qualité</vt:lpstr>
      <vt:lpstr>Bilan Technique : Objectifs Atteints</vt:lpstr>
      <vt:lpstr>Perspectives : Vers la Clinique 2.O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Ala  AYDI</cp:lastModifiedBy>
  <cp:revision>7</cp:revision>
  <dcterms:created xsi:type="dcterms:W3CDTF">2026-01-22T11:01:53Z</dcterms:created>
  <dcterms:modified xsi:type="dcterms:W3CDTF">2026-01-22T11:44:57Z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2026-01-22T00:00:00Z</vt:filetime>
  </property>
  <property fmtid="{D5CDD505-2E9C-101B-9397-08002B2CF9AE}" pid="3" name="LastSaved">
    <vt:filetime>2026-01-22T00:00:00Z</vt:filetime>
  </property>
</Properties>
</file>